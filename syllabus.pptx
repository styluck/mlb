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B01AD-64C0-48AA-C3C1-F36DAC683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E87AA7-2E12-D160-65C8-927F80582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A4D3A-22CE-961B-361A-D364AE66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A1118-94D5-11BB-EF58-22BB70AA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E5AC99-5813-C2DC-C037-7B5315F8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83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19DC8-D18D-5C20-2FB1-A45F70FA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E650B-BFB7-FE95-DB72-A57C108EC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F5EDA-62D0-B863-39D4-73F3FA2E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775E8-502D-7E06-B9AC-9C1AB20D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6BD900-A47F-5C84-D5BC-4C81E2F7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875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06EB0-25E6-C11A-17DC-FBE08EA5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507CE-BFC8-BC2C-C70C-B9E2DB5D2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BDA31-4B4C-414F-834C-7A5DB7A6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5C9F9-03CB-17FA-4CBA-D4E35714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681A6E-41E8-FACB-93AF-0CA343E5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7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8975A-FBB3-4566-FEFD-354B543C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1DB3C-BD78-A132-8E64-91850D733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4117F-3B53-048B-236C-F30C41D47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654691-2A1C-AE9A-6E90-60D86767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FB2E58-D109-3AD4-DEF2-350F6185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CEEAB-286C-6D86-300F-69E017BA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4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86B0B-27D8-B187-37E7-64380244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6B1F94-22B1-17F4-9974-6FF581ED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AAA5B6-4487-5648-B675-AC3719CF2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CF6EE2-21F6-E9C0-3F84-DCBFBD904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456EB2-F423-D7E5-C67F-310A29DCD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12A96D-D39F-4FBE-3F8E-2E5CD378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FCD657-DF68-D10F-46E1-AB1747A5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BC94B-5A44-7478-3E00-A879CCA6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88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9C3B-B335-60A1-89E6-3747C6EC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AEF46E-021E-7375-0C75-BCEA6882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AEC2FA-1412-B14E-A0D3-C22AADDCB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1A382F-B434-C730-8AA1-74CDAC5C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20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8429AA-B7DF-1CCA-E021-CB33B08B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1683DE-88D1-7339-DDD8-06296D95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1416CF-617F-FD17-C074-1EBC27EF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32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AA444-E137-50D4-6941-961C893F8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7D529E-7D0B-F675-9734-324F795B5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678320-B4F2-1977-DC84-F629D30F7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9206C-3EDC-7FC2-D6AF-334DDE97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B2244-736A-2932-D371-05135995C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7F0D67-6EFA-E1EA-878C-38E8E887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956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9CEA0-9B73-EC5E-3EDB-F87FF684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6F9FB2-3D56-80F5-4724-9A110BAC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3D8D2D-9BB6-DA10-A0B4-E2CB25FED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49BD71-9711-0C06-CE4F-431D4CD5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2E5D74-0CE1-8EED-E08D-6236D7B1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24550B-2913-FFFE-B993-3F47CE0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03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C3500-6306-986B-84C6-C1B0E36E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BDB879-6C33-6DA3-CBEB-7602B6098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B0A365-CEA1-A7A2-DCC1-CA1E7AC4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25674-B3E7-B5B1-091E-93DB4C39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04CA8-9576-F21F-08B3-54AC8BCA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127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D13C8E-84ED-1911-54DE-4ED1E8FEF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D7F498-7C8D-DD6A-5B2A-9C14B937D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E4248-C07C-D88C-33B5-2D320EEAE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02D854-A819-BDDA-30D4-5F114B0E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0768F2-44F7-9582-4081-09D8B07E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2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6D1912-9384-CCE1-80B3-AE3AA6EA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FF7D1-901D-47DE-D639-B86C25740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D069C-0985-6BC5-9B59-EF319617C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6E8B6-53D9-40F7-B0ED-183FBFF22D2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A5563-F398-97F5-91A9-22CAB0389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9894F-89B4-C8BD-D37C-3716CD692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CFC37-753A-4037-A6CD-1AD4F9B3F1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65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31ACB-7B4F-88E6-A50C-21DE29FD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案例实务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BE808-78BF-EA63-A4CE-7FE275A30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总体目标：</a:t>
            </a:r>
          </a:p>
          <a:p>
            <a:pPr lvl="1"/>
            <a:r>
              <a:rPr lang="zh-CN" altLang="en-US" dirty="0"/>
              <a:t>掌握运用</a:t>
            </a:r>
            <a:r>
              <a:rPr lang="en-US" altLang="zh-CN" dirty="0"/>
              <a:t>MATLAB</a:t>
            </a:r>
            <a:r>
              <a:rPr lang="zh-CN" altLang="en-US" dirty="0"/>
              <a:t>和统计方法设计处理实际应用问题的软件工具的能力，具备应用软件工具开发处理实际问题的能力。</a:t>
            </a:r>
            <a:endParaRPr lang="en-US" altLang="zh-CN" sz="2800" dirty="0"/>
          </a:p>
          <a:p>
            <a:r>
              <a:rPr lang="zh-CN" altLang="en-US" dirty="0"/>
              <a:t>教材：</a:t>
            </a:r>
            <a:endParaRPr lang="en-US" altLang="zh-CN" dirty="0"/>
          </a:p>
          <a:p>
            <a:pPr lvl="1"/>
            <a:r>
              <a:rPr lang="zh-CN" altLang="en-US" dirty="0"/>
              <a:t>谢中华，</a:t>
            </a:r>
            <a:r>
              <a:rPr lang="en-US" altLang="zh-CN" dirty="0"/>
              <a:t>MATLAB</a:t>
            </a:r>
            <a:r>
              <a:rPr lang="zh-CN" altLang="en-US" dirty="0"/>
              <a:t>统计分析与应用：</a:t>
            </a:r>
            <a:r>
              <a:rPr lang="en-US" altLang="zh-CN" dirty="0"/>
              <a:t>40</a:t>
            </a:r>
            <a:r>
              <a:rPr lang="zh-CN" altLang="en-US" dirty="0"/>
              <a:t>个案例分析（第二版），北京航空航天大学出版社，</a:t>
            </a:r>
            <a:r>
              <a:rPr lang="en-US" altLang="zh-CN" dirty="0"/>
              <a:t>2015</a:t>
            </a:r>
            <a:r>
              <a:rPr lang="zh-CN" altLang="en-US" dirty="0"/>
              <a:t>年。</a:t>
            </a:r>
            <a:endParaRPr lang="en-US" altLang="zh-CN" dirty="0"/>
          </a:p>
          <a:p>
            <a:r>
              <a:rPr lang="zh-CN" altLang="en-US" dirty="0"/>
              <a:t>课程要求：</a:t>
            </a:r>
            <a:endParaRPr lang="en-US" altLang="zh-CN" dirty="0"/>
          </a:p>
          <a:p>
            <a:pPr lvl="1"/>
            <a:r>
              <a:rPr lang="zh-CN" altLang="en-US" dirty="0"/>
              <a:t>上课、试验、作业</a:t>
            </a:r>
            <a:endParaRPr lang="en-US" altLang="zh-CN" dirty="0"/>
          </a:p>
          <a:p>
            <a:r>
              <a:rPr lang="zh-CN" altLang="en-US" dirty="0"/>
              <a:t>成绩计算方法：</a:t>
            </a:r>
          </a:p>
          <a:p>
            <a:pPr lvl="1"/>
            <a:r>
              <a:rPr lang="zh-CN" altLang="en-US" dirty="0"/>
              <a:t>上课和试验出勤</a:t>
            </a:r>
            <a:r>
              <a:rPr lang="en-US" altLang="zh-CN" dirty="0"/>
              <a:t>20%</a:t>
            </a:r>
            <a:r>
              <a:rPr lang="zh-CN" altLang="en-US" dirty="0"/>
              <a:t>、作业和实验报告</a:t>
            </a:r>
            <a:r>
              <a:rPr lang="en-US" altLang="zh-CN" dirty="0"/>
              <a:t>20%</a:t>
            </a:r>
            <a:r>
              <a:rPr lang="zh-CN" altLang="en-US" dirty="0"/>
              <a:t>、期末考试</a:t>
            </a:r>
            <a:r>
              <a:rPr lang="en-US" altLang="zh-CN" dirty="0"/>
              <a:t>60%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82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42CC-9FC9-5ED7-B65A-23E87053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统计法基础知识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DB8FE8-D004-FC10-C246-87923B312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总体目标：</a:t>
            </a:r>
            <a:endParaRPr lang="en-US" altLang="zh-CN" sz="3200" dirty="0"/>
          </a:p>
          <a:p>
            <a:pPr lvl="1"/>
            <a:r>
              <a:rPr lang="zh-CN" altLang="en-US" dirty="0"/>
              <a:t>掌握统计法条目内容</a:t>
            </a:r>
            <a:endParaRPr lang="en-US" altLang="zh-CN" dirty="0"/>
          </a:p>
          <a:p>
            <a:r>
              <a:rPr lang="zh-CN" altLang="en-US" dirty="0"/>
              <a:t>成绩计算方法：</a:t>
            </a:r>
          </a:p>
          <a:p>
            <a:pPr lvl="1"/>
            <a:r>
              <a:rPr lang="zh-CN" altLang="en-US" dirty="0"/>
              <a:t>上课出勤</a:t>
            </a:r>
            <a:r>
              <a:rPr lang="en-US" altLang="zh-CN" dirty="0"/>
              <a:t>30%</a:t>
            </a:r>
            <a:r>
              <a:rPr lang="zh-CN" altLang="en-US" dirty="0"/>
              <a:t>、期末考试</a:t>
            </a:r>
            <a:r>
              <a:rPr lang="en-US" altLang="zh-CN" dirty="0"/>
              <a:t>70%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224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9AABA-2CE2-85F4-3D9D-242BB25D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统计法基础知识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594930-11B2-7D0C-2D23-C4B4243FE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教材及参考资料</a:t>
            </a:r>
            <a:endParaRPr lang="en-US" altLang="zh-CN" dirty="0"/>
          </a:p>
          <a:p>
            <a:pPr lvl="1"/>
            <a:r>
              <a:rPr lang="zh-CN" altLang="en-US" dirty="0"/>
              <a:t>中华人民共和国统计法，中国法制出版社</a:t>
            </a:r>
            <a:endParaRPr lang="en-US" altLang="zh-CN" dirty="0"/>
          </a:p>
          <a:p>
            <a:pPr lvl="1"/>
            <a:r>
              <a:rPr lang="en-GB" altLang="zh-CN" dirty="0"/>
              <a:t>https://www.gov.cn/zhengce/content/2017-06/19/content_5203711.htm</a:t>
            </a:r>
            <a:endParaRPr lang="zh-CN" altLang="en-US" dirty="0"/>
          </a:p>
          <a:p>
            <a:pPr lvl="1"/>
            <a:r>
              <a:rPr lang="zh-CN" altLang="en-US" dirty="0"/>
              <a:t>中华人民共和国预算法、中华人民共和国统计法（中英对照），法律出版社</a:t>
            </a:r>
          </a:p>
          <a:p>
            <a:pPr lvl="1"/>
            <a:r>
              <a:rPr lang="zh-CN" altLang="en-US" dirty="0"/>
              <a:t>安建主编，中华人民共和国统计法释义，中国法制出版社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4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</Words>
  <Application>Microsoft Office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案例实务</vt:lpstr>
      <vt:lpstr>统计法基础知识</vt:lpstr>
      <vt:lpstr>统计法基础知识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案例实务</dc:title>
  <dc:creator>L Siu</dc:creator>
  <cp:lastModifiedBy>L Siu</cp:lastModifiedBy>
  <cp:revision>4</cp:revision>
  <dcterms:created xsi:type="dcterms:W3CDTF">2024-02-25T15:31:50Z</dcterms:created>
  <dcterms:modified xsi:type="dcterms:W3CDTF">2024-02-25T15:39:00Z</dcterms:modified>
</cp:coreProperties>
</file>