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73" r:id="rId3"/>
    <p:sldId id="259" r:id="rId4"/>
    <p:sldId id="257" r:id="rId5"/>
    <p:sldId id="258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4" r:id="rId19"/>
    <p:sldId id="272" r:id="rId20"/>
    <p:sldId id="275" r:id="rId21"/>
    <p:sldId id="277" r:id="rId22"/>
    <p:sldId id="276" r:id="rId23"/>
    <p:sldId id="280" r:id="rId24"/>
    <p:sldId id="278" r:id="rId25"/>
    <p:sldId id="279" r:id="rId26"/>
    <p:sldId id="281" r:id="rId27"/>
    <p:sldId id="284" r:id="rId28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1E272B-0332-90FA-74F7-2CA5931A856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57750689-29FF-202B-8E4D-84DF36D7106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3F6800E-413B-0EA2-1AD6-A6CEF0BD7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65102D-4FE6-8E75-EE1F-F9C0A6052E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D140EE6-C1D5-7F75-2066-4AEB033B03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16534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038D3A-25E2-59E9-5109-DB8D4FCB25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F4CB627-9CF2-03E2-4322-87FC0F5FB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D690303-7257-72C9-6327-1B9DE320A0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5472C2B-D620-4C9E-6261-FEED567DD6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4D6DF00-9B8F-3C33-86B2-C2D8A80052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38010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AA6883C-7341-DE9F-DB40-AC45E6BFE6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8E951D5-DBE6-D263-11E8-0312398B10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2C172A0-C991-605C-1BA7-47382107F0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2DD65EE-8273-AA83-4866-7BBF383B62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EF154D2-B60D-2C3B-7A83-8AEDAB3665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6631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9CD3FB-1390-5817-C8D1-ECC7BDA265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CB0767E-A278-5E2D-F3EC-D575189D96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921A83-B986-040F-8D78-07E6A8F90A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901C80E-91E2-51B1-F084-F5E51816E3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FBEFD10-D469-ECF6-EB44-EC2EB28FD9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73FB89A-A689-090F-FA2B-96ED6E8474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205219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13E66C-3CE8-1CD2-8D99-8F4D84EB47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46DC82A-9C11-ED72-AEED-1B971E8C99F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3A6096F7-69CA-92B8-D389-2A3A0EB5B5F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E07B60E3-D4B1-C12A-C941-F92EA64BFF1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867AFDF4-4684-0C81-82E0-F305D04FA6A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6CD5F2F-2C0C-864B-0CD3-C4A1E4C665D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62BF65A7-B2B1-484F-6B53-99E565613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05AA2BD2-9910-8B2E-7328-5209DD5C24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70159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B1B4BD-2BE4-1CA0-4F46-90339A2CA9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E29154B-6897-2911-4329-CA60322334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5C861E3F-E002-7694-6DC1-E3FD8B4428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9FC16FD-3033-F9F7-99FF-0017B8A700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6501216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1E3C395-F3B6-00D3-C24E-E04ABD97636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A96CE3AA-FA2F-B126-519B-5A163F067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E963F00-3CEB-AE53-16C4-089C8C5F55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269961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0490F0B-9AE5-293F-511A-27EF486A45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59556D1-7A8E-23AA-3041-127AAB6FD4B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3883E58-B58D-B1A0-5D1F-A690CA9C63C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27CC8FA-5135-ED03-C3F8-5150772ADF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4ECA35F-5B86-BAB9-6C95-D94E088D6A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CB61C12-57C9-4D3D-B3E4-44F5486DFA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79550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AD30750-AFDB-3192-60C1-59FBB0B41B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7F927B76-B2EA-AD28-1435-8EFF65F03B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D316DD93-93AB-BBF9-CD28-10B7C22F070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0EF5851-1924-59F2-4F69-0FDB410D880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BC17305E-0022-7797-8582-376458D1D2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B9AED93-72A9-4B6D-569B-9D8444AA21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5492626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B36CDCE-E976-A708-27F3-DB32B35448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D04A00D-B6E3-AA12-681A-EBE54817A6D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755C67-F195-1E4D-6F35-40264446BA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BB59E88-6170-B4AF-2262-E460A01676D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D44FAA3-AB86-D7F4-33BA-2C312D754B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6590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F9B4702-FEEC-A0BD-9516-FB508627548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24F4BF4-A7EA-0409-2764-06BF134385E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070CB9-2645-9742-4695-736B75D603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26824B0-C6FE-E1BF-610A-748FFC11EE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FBB9E64-807A-6F98-3611-7D63E1D72C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4888790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C5217123-EB80-4308-F7DC-87DA1F502A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F8A0D2E8-479E-D210-AE6E-B5DFEDAB2C5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5A7D618D-C5FB-7E3C-BF4A-43763F689A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B7DE6DB-04F5-4261-B06A-32E69F5B80B9}" type="datetimeFigureOut">
              <a:rPr lang="zh-CN" altLang="en-US" smtClean="0"/>
              <a:t>2024/4/8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419D658-DE5F-77A4-A94B-3256A248839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9484234-5C95-33FD-2505-2716BF4AB4A4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25D116D-E775-43F9-BBEB-0F4CE9A33362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19368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948986-1650-7B94-17B1-597E76D0F46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CN" altLang="en-US" dirty="0"/>
              <a:t>第</a:t>
            </a:r>
            <a:r>
              <a:rPr lang="en-US" altLang="zh-CN" dirty="0"/>
              <a:t>8</a:t>
            </a:r>
            <a:r>
              <a:rPr lang="zh-CN" altLang="en-US" dirty="0"/>
              <a:t>章 方差分析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09EAFD8-DB98-1568-798A-205DC86954F9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n-GB" altLang="zh-CN" dirty="0"/>
              <a:t>Lianghai Xiao</a:t>
            </a:r>
          </a:p>
          <a:p>
            <a:endParaRPr lang="en-GB" altLang="zh-CN" dirty="0"/>
          </a:p>
          <a:p>
            <a:endParaRPr lang="en-GB" altLang="zh-CN" dirty="0"/>
          </a:p>
          <a:p>
            <a:r>
              <a:rPr lang="en-GB" altLang="zh-CN" dirty="0"/>
              <a:t>https://github.com/styluck/mlb</a:t>
            </a:r>
            <a:endParaRPr lang="zh-CN" altLang="en-US" dirty="0"/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93214747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B7B7BB0-3794-41B5-9AD3-2E3E10A763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07FB8CA-C97C-0C97-4326-6D19D4452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单因素一元方差分析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双因素一元方差分析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多因素一元方差分析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非参数方差分析</a:t>
            </a:r>
          </a:p>
        </p:txBody>
      </p:sp>
    </p:spTree>
    <p:extLst>
      <p:ext uri="{BB962C8B-B14F-4D97-AF65-F5344CB8AC3E}">
        <p14:creationId xmlns:p14="http://schemas.microsoft.com/office/powerpoint/2010/main" val="5269384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3380E9D-337F-428D-59A1-1FB9AA6387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单因素一元方差分析（</a:t>
            </a:r>
            <a:r>
              <a:rPr lang="en-GB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GB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49EBBB3-7D54-4395-A7E9-F4D62A2EAA9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单因素方差分析（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）是一种统计方法，用于检验三个或更多组之间的均值是否存在显著差异。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当因素只有一个且是定量的时，可以使用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来分析数据。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这种方法基于数据的方差，通过比较组间方差（组内均值之间的差异）和组内方差（组内个体之间的差异）来确定各组均值之间是否存在统计学上的显著差异。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06237746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20447FD-CBDB-A11B-CB60-0F9AD7DF72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单因素</a:t>
            </a:r>
            <a:r>
              <a:rPr lang="en-US" altLang="zh-CN" dirty="0"/>
              <a:t>ANOVA</a:t>
            </a:r>
            <a:r>
              <a:rPr lang="zh-CN" altLang="en-US" dirty="0"/>
              <a:t>的步骤：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9FE38607-9382-1F43-7C13-545BBA6D8AF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建立假设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原假设（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H0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）：所有组的总体均值相等。</a:t>
            </a:r>
          </a:p>
          <a:p>
            <a:pPr marL="742950" lvl="1" indent="-285750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备择假设（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H1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）：至少有两组的总体均值不相等。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计算方差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计算总方差（所有观测值的方差）。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计算组间方差（组均值与总均值之差的平方和）。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计算组内方差（组内观测值与各自组均值之差的平方和）。</a:t>
            </a:r>
          </a:p>
          <a:p>
            <a:b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</a:b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1048340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8504FA6-F49B-8357-7BDF-B2A4870E4A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单因素</a:t>
            </a:r>
            <a:r>
              <a:rPr lang="en-US" altLang="zh-CN" dirty="0"/>
              <a:t>ANOVA</a:t>
            </a:r>
            <a:r>
              <a:rPr lang="zh-CN" altLang="en-US" dirty="0"/>
              <a:t>的步骤：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51B947-C095-0210-6C08-FDDEFA4669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/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</a:t>
            </a:r>
            <a:r>
              <a:rPr lang="en-US" altLang="zh-CN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>
              <a:buFont typeface="+mj-lt"/>
              <a:buAutoNum type="arabicPeriod"/>
            </a:pPr>
            <a:r>
              <a:rPr lang="en-US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值是组间方差与组内方差之比，计算公式为：</a:t>
            </a:r>
            <a:br>
              <a:rPr lang="en-US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</a:br>
            <a:r>
              <a:rPr lang="en-US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                                          </a:t>
            </a:r>
            <a:br>
              <a:rPr lang="en-US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</a:br>
            <a:r>
              <a:rPr lang="en-US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                                       </a:t>
            </a:r>
            <a:r>
              <a:rPr lang="en-US" altLang="zh-CN" sz="2800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F = </a:t>
            </a:r>
            <a:r>
              <a:rPr lang="zh-CN" altLang="en-US" sz="2800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组间均方 </a:t>
            </a:r>
            <a:r>
              <a:rPr lang="en-US" altLang="zh-CN" sz="2800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/ </a:t>
            </a:r>
            <a:r>
              <a:rPr lang="zh-CN" altLang="en-US" sz="2800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组内均方</a:t>
            </a:r>
            <a:br>
              <a:rPr lang="en-US" altLang="zh-CN" sz="2800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</a:br>
            <a:endParaRPr lang="en-US" altLang="zh-CN" dirty="0">
              <a:solidFill>
                <a:srgbClr val="060607"/>
              </a:solidFill>
              <a:highlight>
                <a:srgbClr val="FFFFFF"/>
              </a:highlight>
              <a:latin typeface="-apple-system"/>
            </a:endParaRPr>
          </a:p>
          <a:p>
            <a:pPr marL="742950" lvl="1" indent="-285750">
              <a:buFont typeface="+mj-lt"/>
              <a:buAutoNum type="arabicPeriod"/>
            </a:pPr>
            <a:r>
              <a:rPr lang="zh-CN" altLang="en-US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其中，组间均方（</a:t>
            </a:r>
            <a:r>
              <a:rPr lang="en-GB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Mean Square Between</a:t>
            </a:r>
            <a:r>
              <a:rPr lang="zh-CN" altLang="en-GB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，</a:t>
            </a:r>
            <a:r>
              <a:rPr lang="en-GB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MSB</a:t>
            </a:r>
            <a:r>
              <a:rPr lang="zh-CN" altLang="en-GB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）</a:t>
            </a:r>
            <a:r>
              <a:rPr lang="zh-CN" altLang="en-US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是组间方差除以其自由度（组数减</a:t>
            </a:r>
            <a:r>
              <a:rPr lang="en-US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1</a:t>
            </a:r>
            <a:r>
              <a:rPr lang="zh-CN" altLang="en-US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），组内均方（</a:t>
            </a:r>
            <a:r>
              <a:rPr lang="en-GB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Mean Square Within</a:t>
            </a:r>
            <a:r>
              <a:rPr lang="zh-CN" altLang="en-GB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，</a:t>
            </a:r>
            <a:r>
              <a:rPr lang="en-GB" altLang="zh-CN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MSW</a:t>
            </a:r>
            <a:r>
              <a:rPr lang="zh-CN" altLang="en-GB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）</a:t>
            </a:r>
            <a:r>
              <a:rPr lang="zh-CN" altLang="en-US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是组内方差除以其自由度（总观测数减组数）。</a:t>
            </a:r>
          </a:p>
          <a:p>
            <a:pPr lvl="1" algn="ctr"/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8258202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39B15F4-C1BB-CDB0-B457-8A1DBFFED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单因素</a:t>
            </a:r>
            <a:r>
              <a:rPr lang="en-US" altLang="zh-CN" dirty="0"/>
              <a:t>ANOVA</a:t>
            </a:r>
            <a:r>
              <a:rPr lang="zh-CN" altLang="en-US" dirty="0"/>
              <a:t>的步骤：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3FE659B-D01C-E3E3-3B8B-D1B0616BFD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确定显著性水平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分布表或统计软件来确定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统计量的显著性水平。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作出决策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值大于临界值，或者对应的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值小于显著性水平（例如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0.05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），则拒绝原假设，认为至少有两组的均值存在显著差异。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值小于临界值，或者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值大于显著性水平，则不能拒绝原假设。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1761323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DBE3E-A7CD-1226-A471-D53BE1E4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注意事项：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38FA8-95C6-2761-7EF3-97339B6B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正态性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假设数据服从正态分布。如果数据不满足正态性，可能需要进行数据转换或使用非参数方法。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方差齐性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还假设各组的方差相等。如果方差不齐，可能需要进行数据转换或使用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Welch's 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等方法。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多重比较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：当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显示存在显著差异时，通常需要进行后续的多重比较检验来确定具体的组间差异。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8049348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4F3F0A-C917-9343-8821-E0558113B8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正态性检验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4848F8F-A1C4-DDE1-E215-7E723B6CDE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卡方拟合优度检验</a:t>
            </a:r>
          </a:p>
          <a:p>
            <a:r>
              <a:rPr lang="en-GB" altLang="zh-CN" dirty="0"/>
              <a:t>Jarque-Bera</a:t>
            </a:r>
            <a:r>
              <a:rPr lang="zh-CN" altLang="en-US" dirty="0"/>
              <a:t>检验</a:t>
            </a:r>
          </a:p>
          <a:p>
            <a:r>
              <a:rPr lang="en-GB" altLang="zh-CN" dirty="0"/>
              <a:t>Kolmogorov-Smirnov</a:t>
            </a:r>
            <a:r>
              <a:rPr lang="zh-CN" altLang="en-US" dirty="0"/>
              <a:t>检验</a:t>
            </a:r>
          </a:p>
          <a:p>
            <a:r>
              <a:rPr lang="en-GB" altLang="zh-CN" dirty="0"/>
              <a:t>Lilliefors</a:t>
            </a:r>
            <a:r>
              <a:rPr lang="zh-CN" altLang="en-US" dirty="0"/>
              <a:t>检验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4920947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722D656-5F20-F10B-20CA-C388A95E95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方差齐次性检验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346DBDA-4AF8-475E-F117-9B35D194B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Bartlett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检验是一种统计检验方法，主要用于确定多个样本的方差是否相等。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这种检验通常用于单因素方差分析（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）之前，以验证其基本假设之一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——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方差齐性假设。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Bartlett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检验的原假设是所有组的方差相等，而备择假设至少有一组的方差与其他组不同。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r>
              <a:rPr lang="zh-CN" altLang="en-US" dirty="0"/>
              <a:t>如果</a:t>
            </a:r>
            <a:r>
              <a:rPr lang="en-US" altLang="zh-CN" dirty="0"/>
              <a:t>Bartlett</a:t>
            </a:r>
            <a:r>
              <a:rPr lang="zh-CN" altLang="en-US" dirty="0"/>
              <a:t>检验的</a:t>
            </a:r>
            <a:r>
              <a:rPr lang="en-US" altLang="zh-CN" dirty="0"/>
              <a:t>p</a:t>
            </a:r>
            <a:r>
              <a:rPr lang="zh-CN" altLang="en-US" dirty="0"/>
              <a:t>值小于显著性水平（例如</a:t>
            </a:r>
            <a:r>
              <a:rPr lang="en-US" altLang="zh-CN" dirty="0"/>
              <a:t>0.05</a:t>
            </a:r>
            <a:r>
              <a:rPr lang="zh-CN" altLang="en-US" dirty="0"/>
              <a:t>），则拒绝原假设，表明至少有一组的方差与其他组不同，这时可能需要考虑使用其他统计方法或者对数据进行进一步的处理。如果</a:t>
            </a:r>
            <a:r>
              <a:rPr lang="en-US" altLang="zh-CN" dirty="0"/>
              <a:t>p</a:t>
            </a:r>
            <a:r>
              <a:rPr lang="zh-CN" altLang="en-US" dirty="0"/>
              <a:t>值大于显著性水平，则接受原假设，认为所有组的方差相等，可以继续进行方差分析。</a:t>
            </a:r>
          </a:p>
        </p:txBody>
      </p:sp>
    </p:spTree>
    <p:extLst>
      <p:ext uri="{BB962C8B-B14F-4D97-AF65-F5344CB8AC3E}">
        <p14:creationId xmlns:p14="http://schemas.microsoft.com/office/powerpoint/2010/main" val="182328088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8A9B801-E9D5-8EAA-FE40-6A0C7CB5A7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Bartlett</a:t>
            </a:r>
            <a:r>
              <a:rPr lang="zh-CN" altLang="en-US" dirty="0"/>
              <a:t>检验的局限性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75C951C-C636-4A1A-2266-8FA2AFAAC89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Bartlett</a:t>
            </a:r>
            <a:r>
              <a:rPr lang="zh-CN" altLang="en-US" dirty="0"/>
              <a:t>检验对数据的正态性有较强的假设，如果数据不满足正态分布，检验的结果可能不准确。</a:t>
            </a:r>
            <a:endParaRPr lang="en-US" altLang="zh-CN" dirty="0"/>
          </a:p>
          <a:p>
            <a:r>
              <a:rPr lang="zh-CN" altLang="en-US" dirty="0"/>
              <a:t>此外，</a:t>
            </a:r>
            <a:r>
              <a:rPr lang="en-US" altLang="zh-CN" dirty="0"/>
              <a:t>Bartlett</a:t>
            </a:r>
            <a:r>
              <a:rPr lang="zh-CN" altLang="en-US" dirty="0"/>
              <a:t>检验也假设数据间存在一定的相关性，如果变量间完全独立，那么数据分布可能呈现球形，这在实际情况中较为罕见。</a:t>
            </a:r>
          </a:p>
        </p:txBody>
      </p:sp>
    </p:spTree>
    <p:extLst>
      <p:ext uri="{BB962C8B-B14F-4D97-AF65-F5344CB8AC3E}">
        <p14:creationId xmlns:p14="http://schemas.microsoft.com/office/powerpoint/2010/main" val="283730116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745BE4-E7D5-E2F2-EE4B-58265CB861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双因素一元方差分析（</a:t>
            </a:r>
            <a:r>
              <a:rPr lang="en-GB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ANOVA2</a:t>
            </a:r>
            <a:r>
              <a:rPr lang="zh-CN" altLang="en-GB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C9C160D-46C4-AF7F-02E8-2E0D702BB7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用于研究两个独立变量（因素）对一个连续因变量的影响，以及这两个因素之间是否存在交互作用。这种方法扩展了单因素</a:t>
            </a:r>
            <a:r>
              <a:rPr lang="en-US" altLang="zh-CN" dirty="0"/>
              <a:t>ANOVA</a:t>
            </a:r>
            <a:r>
              <a:rPr lang="zh-CN" altLang="en-US" dirty="0"/>
              <a:t>，允许研究者考虑多个自变量对结果的影响。</a:t>
            </a:r>
          </a:p>
        </p:txBody>
      </p:sp>
    </p:spTree>
    <p:extLst>
      <p:ext uri="{BB962C8B-B14F-4D97-AF65-F5344CB8AC3E}">
        <p14:creationId xmlns:p14="http://schemas.microsoft.com/office/powerpoint/2010/main" val="48231835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8F00C0-4F8D-6782-AD20-D975F66EC98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双因素</a:t>
            </a:r>
            <a:r>
              <a:rPr lang="en-US" altLang="zh-CN" dirty="0"/>
              <a:t>ANOVA</a:t>
            </a:r>
            <a:r>
              <a:rPr lang="zh-CN" altLang="en-US" dirty="0"/>
              <a:t>的基本步骤：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EE917FA-1D43-06CF-87FF-DA492346AAF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建立假设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原假设（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H0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）：两个因素的主效应和交互作用均不存在，或者至少一个因素的主效应不存在。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备择假设（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H1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）：至少一个因素的主效应或因素间的交互作用存在。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设计实验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vl="1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实验设计通常涉及两个因素，每个因素有多个水平，实验的每个条件是两个因素水平的组合。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469135969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F362C7C-7776-4081-B6CA-109A8D897E0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双因素</a:t>
            </a:r>
            <a:r>
              <a:rPr lang="en-US" altLang="zh-CN" dirty="0"/>
              <a:t>ANOVA</a:t>
            </a:r>
            <a:r>
              <a:rPr lang="zh-CN" altLang="en-US" dirty="0"/>
              <a:t>的基本步骤：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E072E8E6-CF03-E487-A23B-F8D4326DA7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收集数据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对于每个因素水平的组合，收集因变量的观测值。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计算方差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计算总方差（所有观测值的方差）。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计算因素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的主效应方差、因素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B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的主效应方差和因素间交互作用方差。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计算误差方差（组内方差）。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56571566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7F07285-DDA1-4E6C-3759-3DFE7AA31E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双因素</a:t>
            </a:r>
            <a:r>
              <a:rPr lang="en-US" altLang="zh-CN" dirty="0"/>
              <a:t>ANOVA</a:t>
            </a:r>
            <a:r>
              <a:rPr lang="zh-CN" altLang="en-US" dirty="0"/>
              <a:t>的基本步骤：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9A72C00-0DED-6099-120B-A6DCB301433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</a:t>
            </a:r>
            <a:r>
              <a:rPr lang="en-US" altLang="zh-CN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vl="1"/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对于每个效应（主效应和交互作用），计算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值，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值是效应均方（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Mean Square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）与误差均方的比率。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确定显著性水平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vl="1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分布表或统计软件来确定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统计量的显著性水平。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作出决策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值大于临界值，或者对应的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值小于显著性水平（例如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0.05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），则拒绝原假设，认为至少一个因素的主效应或因素间的交互作用存在。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值小于临界值，或者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值大于显著性水平，则不能拒绝原假设。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38428337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9E66BA-C5C0-CE8D-C22E-9A5E7F2FB6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多因素一元方差分析（</a:t>
            </a:r>
            <a:r>
              <a:rPr lang="en-GB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n</a:t>
            </a:r>
            <a:r>
              <a:rPr lang="zh-CN" altLang="en-GB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3112E1D-54A8-CB9F-493B-32AB7998634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建立假设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原假设（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H0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）：所有因素的主效应和交互作用均不存在，或者至少一个因素的主效应不存在。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备择假设（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H1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）：至少一个因素的主效应或因素间的交互作用存在。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设计实验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vl="1"/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实验设计涉及多个因素，每个因素有多个水平，实验的每个条件是所有因素水平的组合。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26153901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C0A1145-1064-B3FA-38FE-CB98A6A7334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多因素一元方差分析（</a:t>
            </a:r>
            <a:r>
              <a:rPr lang="en-GB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n</a:t>
            </a:r>
            <a:r>
              <a:rPr lang="zh-CN" altLang="en-GB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D813B50-CFF0-B858-00A6-7AF7E85A2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收集数据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对于每个因素水平的组合，收集因变量的观测值。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计算方差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计算总方差（所有观测值的方差）。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计算每个因素的主效应方差和所有可能的因素间交互作用方差。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计算误差方差（组内方差）。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12504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3ACBE0E-F11F-F7C8-F2F6-B02FCB27A4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多因素一元方差分析（</a:t>
            </a:r>
            <a:r>
              <a:rPr lang="en-GB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n</a:t>
            </a:r>
            <a:r>
              <a:rPr lang="zh-CN" altLang="en-GB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45B5095-EF8C-0035-5C02-665A070D4F4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计算</a:t>
            </a:r>
            <a:r>
              <a:rPr lang="en-US" altLang="zh-CN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vl="1"/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对于每个效应（主效应和交互作用），计算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值，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值是效应均方（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Mean Square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）与误差均方的比率。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确定显著性水平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</a:t>
            </a:r>
            <a:endParaRPr lang="en-US" altLang="zh-CN" b="0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lvl="1"/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分布表或统计软件来确定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统计量的显著性水平。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作出决策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值大于临界值，或者对应的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值小于显著性水平（例如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0.05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），则拒绝原假设，认为至少一个因素的主效应或因素间的交互作用存在。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F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值小于临界值，或者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值大于显著性水平，则不能拒绝原假设。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9607107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85DBE3E-A7CD-1226-A471-D53BE1E496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注意事项：</a:t>
            </a:r>
            <a:endParaRPr lang="zh-CN" altLang="en-US" dirty="0"/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14538FA8-95C6-2761-7EF3-97339B6BA66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正态性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假设数据服从正态分布。如果数据不满足正态性，可能需要进行数据转换或使用非参数方法。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方差齐性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还假设各组的方差相等。如果方差不齐，可能需要进行数据转换或使用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Welch's 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等方法。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多重比较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：当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ANOVA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显示存在显著差异时，通常需要进行后续的多重比较检验来确定具体的组间差异。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9035030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D86E1AB-5B0B-E89F-4684-B6FFCB1A50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非参数方差分析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C9D51F90-E6B4-8E98-BF04-BC80238037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当数据不满足正态性和方差齐次性假定时，参数检验可能会给出错误的结果</a:t>
            </a:r>
            <a:endParaRPr lang="en-US" altLang="zh-CN" dirty="0"/>
          </a:p>
          <a:p>
            <a:endParaRPr lang="en-US" altLang="zh-CN" dirty="0"/>
          </a:p>
          <a:p>
            <a:r>
              <a:rPr lang="zh-CN" altLang="en-US" dirty="0"/>
              <a:t>非参数方差分析检验：</a:t>
            </a:r>
            <a:endParaRPr lang="en-US" altLang="zh-CN" dirty="0"/>
          </a:p>
          <a:p>
            <a:pPr lvl="1"/>
            <a:r>
              <a:rPr lang="en-GB" altLang="zh-CN" dirty="0"/>
              <a:t>Kruskal-Wallis</a:t>
            </a:r>
            <a:r>
              <a:rPr lang="zh-CN" altLang="en-US" dirty="0"/>
              <a:t>检验</a:t>
            </a:r>
            <a:endParaRPr lang="en-US" altLang="zh-CN" dirty="0"/>
          </a:p>
          <a:p>
            <a:pPr lvl="1"/>
            <a:r>
              <a:rPr lang="en-US" altLang="zh-CN" dirty="0"/>
              <a:t>Friedman</a:t>
            </a:r>
            <a:r>
              <a:rPr lang="zh-CN" altLang="en-US" dirty="0"/>
              <a:t>检验</a:t>
            </a:r>
          </a:p>
        </p:txBody>
      </p:sp>
    </p:spTree>
    <p:extLst>
      <p:ext uri="{BB962C8B-B14F-4D97-AF65-F5344CB8AC3E}">
        <p14:creationId xmlns:p14="http://schemas.microsoft.com/office/powerpoint/2010/main" val="1138567996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2955E23-6CB0-24C5-907B-0D146166DC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Kruskal-Wallis</a:t>
            </a:r>
            <a:r>
              <a:rPr lang="zh-CN" altLang="en-US" dirty="0"/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099C1AB-2E4C-8275-A708-89E7A6AAA0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Kruskal-Wallis</a:t>
            </a:r>
            <a:r>
              <a:rPr lang="zh-CN" altLang="en-US" dirty="0"/>
              <a:t>检验是一种非参数统计方法，用于比较三个或更多独立样本的中位数是否存在显著差异。</a:t>
            </a:r>
            <a:endParaRPr lang="en-US" altLang="zh-CN" dirty="0"/>
          </a:p>
          <a:p>
            <a:r>
              <a:rPr lang="zh-CN" altLang="en-US" dirty="0"/>
              <a:t>这种方法是单因素方差分析（</a:t>
            </a:r>
            <a:r>
              <a:rPr lang="en-US" altLang="zh-CN" dirty="0"/>
              <a:t>ANOVA</a:t>
            </a:r>
            <a:r>
              <a:rPr lang="zh-CN" altLang="en-US" dirty="0"/>
              <a:t>）的非参数替代，适用于不满足正态分布假设或方差齐性假设的数据。</a:t>
            </a:r>
          </a:p>
        </p:txBody>
      </p:sp>
    </p:spTree>
    <p:extLst>
      <p:ext uri="{BB962C8B-B14F-4D97-AF65-F5344CB8AC3E}">
        <p14:creationId xmlns:p14="http://schemas.microsoft.com/office/powerpoint/2010/main" val="385255191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1846197-E4E3-2A1A-3858-0A337A48E3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Kruskal-Wallis</a:t>
            </a:r>
            <a:r>
              <a:rPr lang="zh-CN" altLang="en-US" dirty="0"/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8F4157F-967B-8A29-5173-6199B6E83D8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不满足正态分布的数据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：当数据分布不满足正态性时，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Kruskal-Wallis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检验提供了一种有效的替代方法。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小样本数据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：适用于样本量较小的情况，特别是当样本量不足以进行正态性检验时。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不同尺度的数据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：当数据来自不同的尺度或单位时，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Kruskal-Wallis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检验可以消除尺度的影响。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02398679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74F7A7-7A47-EEBC-8CB6-BD8BF6A968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Kruskal-Wallis</a:t>
            </a:r>
            <a:r>
              <a:rPr lang="zh-CN" altLang="en-US" dirty="0"/>
              <a:t>检验的基本步骤：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40B6F9-F2F3-EE36-10F8-A5F3B6DDFAA4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>
                <a:normAutofit lnSpcReduction="10000"/>
              </a:bodyPr>
              <a:lstStyle/>
              <a:p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合并数据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：将所有样本数据合并到一个数据集中。</a:t>
                </a:r>
              </a:p>
              <a:p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排序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：对合并后的数据进行排序，从最小值到最大值。</a:t>
                </a:r>
              </a:p>
              <a:p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分配秩次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：为每个观测值分配一个秩次。如果存在相同的值（即数据有并列），则分配平均秩次。</a:t>
                </a:r>
              </a:p>
              <a:p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计算检验统计量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计算每个样本的秩次和。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计算所有样本秩次的总和。</a:t>
                </a:r>
              </a:p>
              <a:p>
                <a:pPr marL="742950" lvl="1" indent="-285750" algn="l">
                  <a:buFont typeface="+mj-lt"/>
                  <a:buAutoNum type="arabicPeriod"/>
                </a:pP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计算</a:t>
                </a:r>
                <a:r>
                  <a:rPr lang="en-US" altLang="zh-CN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Kruskal-Wallis H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统计量，公式如下：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𝐻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= (</m:t>
                    </m:r>
                    <m:f>
                      <m:fPr>
                        <m:ctrlPr>
                          <a:rPr lang="pt-BR" altLang="zh-CN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  <m:r>
                          <a:rPr lang="pt-BR" altLang="zh-CN" i="1" dirty="0" smtClean="0">
                            <a:latin typeface="Cambria Math" panose="02040503050406030204" pitchFamily="18" charset="0"/>
                          </a:rPr>
                          <m:t> ∗ </m:t>
                        </m:r>
                        <m:d>
                          <m:dPr>
                            <m:ctrlP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𝑁</m:t>
                            </m:r>
                            <m:r>
                              <a:rPr lang="pt-BR" altLang="zh-CN" i="1" dirty="0" smtClean="0">
                                <a:latin typeface="Cambria Math" panose="02040503050406030204" pitchFamily="18" charset="0"/>
                              </a:rPr>
                              <m:t> + 1</m:t>
                            </m:r>
                          </m:e>
                        </m:d>
                      </m:den>
                    </m:f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) ∗</m:t>
                    </m:r>
                    <m:nary>
                      <m:naryPr>
                        <m:chr m:val="∑"/>
                        <m:supHide m:val="on"/>
                        <m:ctrlP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US" altLang="zh-CN" b="0" i="1" dirty="0" smtClean="0"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  <m:sup/>
                      <m:e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(</m:t>
                        </m:r>
                        <m:f>
                          <m:fPr>
                            <m:ctrlPr>
                              <a:rPr lang="pt-BR" altLang="zh-CN" i="1" dirty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bSup>
                              <m:sSubSup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SupPr>
                              <m:e>
                                <m:r>
                                  <a:rPr lang="pt-BR" altLang="zh-CN" i="1" dirty="0">
                                    <a:latin typeface="Cambria Math" panose="02040503050406030204" pitchFamily="18" charset="0"/>
                                  </a:rPr>
                                  <m:t>𝑅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  <m:sup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bSup>
                          </m:num>
                          <m:den>
                            <m:sSub>
                              <m:sSubPr>
                                <m:ctrlP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b>
                                <m:r>
                                  <a:rPr lang="en-US" altLang="zh-CN" i="1" dirty="0">
                                    <a:latin typeface="Cambria Math" panose="02040503050406030204" pitchFamily="18" charset="0"/>
                                  </a:rPr>
                                  <m:t>𝑗</m:t>
                                </m:r>
                              </m:sub>
                            </m:sSub>
                          </m:den>
                        </m:f>
                        <m:r>
                          <a:rPr lang="pt-BR" altLang="zh-CN" i="1" dirty="0"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nary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− 3 ∗ (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pt-BR" altLang="zh-CN" i="1" dirty="0" smtClean="0">
                        <a:latin typeface="Cambria Math" panose="02040503050406030204" pitchFamily="18" charset="0"/>
                      </a:rPr>
                      <m:t> − 1)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F540B6F9-F2F3-EE36-10F8-A5F3B6DDFAA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043" t="-32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4686578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7248242-D381-A241-2B9F-6B675EAF4B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Kruskal-Wallis</a:t>
            </a:r>
            <a:r>
              <a:rPr lang="zh-CN" altLang="en-US" dirty="0"/>
              <a:t>检验的基本步骤：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D92B2D2-59F4-33D8-1B08-0CFC18614E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确定显著性水平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使用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分布表或统计软件来确定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统计量的显著性水平，通常与卡方分布进行比较。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作出决策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统计量的值大于临界值，或者对应的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值小于显著性水平（例如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0.05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），则拒绝原假设，认为至少有两个样本的中位数存在显著差异。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H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统计量的值小于临界值，或者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值大于显著性水平，则不能拒绝原假设。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71677993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C902458-C393-840E-573A-B8BC843644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zh-CN" dirty="0"/>
              <a:t>Kruskal-Wallis</a:t>
            </a:r>
            <a:r>
              <a:rPr lang="zh-CN" altLang="en-US" dirty="0"/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FFFA7C9-BDA1-4278-0BA0-72B723AE7E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假设：</a:t>
            </a:r>
            <a:r>
              <a:rPr lang="zh-CN" altLang="en-US" dirty="0">
                <a:solidFill>
                  <a:srgbClr val="060607"/>
                </a:solidFill>
                <a:highlight>
                  <a:srgbClr val="FFFFFF"/>
                </a:highlight>
                <a:latin typeface="-apple-system"/>
              </a:rPr>
              <a:t>所有样本均来自于连续分布的总体，这些总体的分布形式相同，位置参数可能不同。且所有观测相互独立</a:t>
            </a:r>
            <a:endParaRPr lang="en-US" altLang="zh-CN" b="1" i="0" dirty="0">
              <a:solidFill>
                <a:srgbClr val="060607"/>
              </a:solidFill>
              <a:effectLst/>
              <a:highlight>
                <a:srgbClr val="FFFFFF"/>
              </a:highlight>
              <a:latin typeface="-apple-system"/>
            </a:endParaRP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秩次的分配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：在存在并列值时，平均秩次的分配可能会影响最终的检验结果。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多重比较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：如果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Kruskal-Wallis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检验显示存在显著差异，可能需要进行后续的多重比较检验来确定具体的组间差异。</a:t>
            </a:r>
          </a:p>
          <a:p>
            <a:pPr algn="l">
              <a:buFont typeface="Arial" panose="020B0604020202020204" pitchFamily="34" charset="0"/>
              <a:buChar char="•"/>
            </a:pPr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数据的独立性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Kruskal-Wallis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检验假设各组数据是相互独立的。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24115242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5EECFA0-6F4B-0284-A2CA-D0DBE020166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Friedman</a:t>
            </a:r>
            <a:r>
              <a:rPr lang="zh-CN" altLang="en-US" dirty="0"/>
              <a:t>检验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5FEF4B5-56B7-410E-F52D-C2662831B9B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dirty="0"/>
              <a:t>当各处理的重复数据存在区组之间的差异时，不同区组数据之间可能不具有可比性</a:t>
            </a:r>
            <a:endParaRPr lang="en-US" altLang="zh-CN" dirty="0"/>
          </a:p>
          <a:p>
            <a:r>
              <a:rPr lang="zh-CN" altLang="en-US" dirty="0"/>
              <a:t>因此，当各处理的重复数据存在区组之间的差异时，应分别对每个区组内部的数据进行排序，计算每个观测的秩，然后构造与</a:t>
            </a:r>
            <a:r>
              <a:rPr lang="en-US" altLang="zh-CN" dirty="0"/>
              <a:t>Kruskal-Wallis</a:t>
            </a:r>
            <a:r>
              <a:rPr lang="zh-CN" altLang="en-US" dirty="0"/>
              <a:t>检验类似的检验统计量进行检验</a:t>
            </a:r>
            <a:endParaRPr lang="en-US" altLang="zh-CN" dirty="0"/>
          </a:p>
          <a:p>
            <a:r>
              <a:rPr lang="zh-CN" altLang="en-US" dirty="0"/>
              <a:t>这种检验被称为</a:t>
            </a:r>
            <a:r>
              <a:rPr lang="en-US" altLang="zh-CN" dirty="0"/>
              <a:t>Friedman</a:t>
            </a:r>
            <a:r>
              <a:rPr lang="zh-CN" altLang="en-US" dirty="0"/>
              <a:t>检验，也是一种非参数检验</a:t>
            </a:r>
          </a:p>
        </p:txBody>
      </p:sp>
    </p:spTree>
    <p:extLst>
      <p:ext uri="{BB962C8B-B14F-4D97-AF65-F5344CB8AC3E}">
        <p14:creationId xmlns:p14="http://schemas.microsoft.com/office/powerpoint/2010/main" val="252412881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8DC97-20BA-C3CA-44D7-D262EB4F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Friedman</a:t>
            </a:r>
            <a:r>
              <a:rPr lang="zh-CN" altLang="en-US" dirty="0"/>
              <a:t>检验的基本步骤：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317CF8-B477-E3BD-6F76-797B17F6B44A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pPr algn="l">
                  <a:buFont typeface="+mj-lt"/>
                  <a:buAutoNum type="arabicPeriod"/>
                </a:pPr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数据排序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：对于每一组样本，将观测值从小到大排序，并为每个观测值分配一个秩次。</a:t>
                </a:r>
              </a:p>
              <a:p>
                <a:pPr algn="l">
                  <a:buFont typeface="+mj-lt"/>
                  <a:buAutoNum type="arabicPeriod"/>
                </a:pPr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计算秩次和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：对于每一组样本，计算所有观测值的秩次总和。</a:t>
                </a:r>
              </a:p>
              <a:p>
                <a:pPr algn="l">
                  <a:buFont typeface="+mj-lt"/>
                  <a:buAutoNum type="arabicPeriod"/>
                </a:pPr>
                <a:r>
                  <a:rPr lang="zh-CN" altLang="en-US" b="1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计算检验统计量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： </a:t>
                </a:r>
                <a:r>
                  <a:rPr lang="en-US" altLang="zh-CN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Friedman</a:t>
                </a:r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检验的统计量是基于</a:t>
                </a:r>
                <a14:m>
                  <m:oMath xmlns:m="http://schemas.openxmlformats.org/officeDocument/2006/math">
                    <m:r>
                      <a:rPr lang="en-GB" altLang="zh-CN" b="0" i="1" smtClean="0">
                        <a:solidFill>
                          <a:srgbClr val="060607"/>
                        </a:solidFill>
                        <a:effectLst/>
                        <a:highlight>
                          <a:srgbClr val="FFFFFF"/>
                        </a:highlight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zh-CN" altLang="en-US" b="0" i="0" dirty="0">
                    <a:solidFill>
                      <a:srgbClr val="060607"/>
                    </a:solidFill>
                    <a:effectLst/>
                    <a:highlight>
                      <a:srgbClr val="FFFFFF"/>
                    </a:highlight>
                    <a:latin typeface="-apple-system"/>
                  </a:rPr>
                  <a:t>组秩次和的分布。统计量通常表示为一个卡方分布的值，计算公式如下：</a:t>
                </a:r>
              </a:p>
              <a:p>
                <a:pPr algn="ctr"/>
                <a14:m>
                  <m:oMath xmlns:m="http://schemas.openxmlformats.org/officeDocument/2006/math"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𝑄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12</m:t>
                        </m:r>
                      </m:num>
                      <m:den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𝑛𝑘</m:t>
                        </m:r>
                        <m:d>
                          <m:d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+1</m:t>
                            </m:r>
                          </m:e>
                        </m:d>
                      </m:den>
                    </m:f>
                    <m:nary>
                      <m:naryPr>
                        <m:chr m:val="∑"/>
                        <m:ctrlPr>
                          <a:rPr lang="en-GB" altLang="zh-CN" b="0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=1</m:t>
                        </m:r>
                      </m:sub>
                      <m:sup>
                        <m:r>
                          <a:rPr lang="en-GB" altLang="zh-CN" b="0" i="1" smtClean="0"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bSup>
                          <m:sSubSupPr>
                            <m:ctrlP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</m:ctrlPr>
                          </m:sSubSupPr>
                          <m:e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𝑗</m:t>
                            </m:r>
                          </m:sub>
                          <m:sup>
                            <m:r>
                              <a:rPr lang="en-GB" altLang="zh-C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−3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GB" altLang="zh-CN" b="0" i="1" smtClean="0">
                        <a:latin typeface="Cambria Math" panose="02040503050406030204" pitchFamily="18" charset="0"/>
                      </a:rPr>
                      <m:t>+1)</m:t>
                    </m:r>
                  </m:oMath>
                </a14:m>
                <a:endParaRPr lang="zh-CN" altLang="en-US" dirty="0"/>
              </a:p>
            </p:txBody>
          </p:sp>
        </mc:Choice>
        <mc:Fallback>
          <p:sp>
            <p:nvSpPr>
              <p:cNvPr id="3" name="内容占位符 2">
                <a:extLst>
                  <a:ext uri="{FF2B5EF4-FFF2-40B4-BE49-F238E27FC236}">
                    <a16:creationId xmlns:a16="http://schemas.microsoft.com/office/drawing/2014/main" id="{46317CF8-B477-E3BD-6F76-797B17F6B44A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1217" t="-252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61078583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ED8DC97-20BA-C3CA-44D7-D262EB4F7A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Friedman</a:t>
            </a:r>
            <a:r>
              <a:rPr lang="zh-CN" altLang="en-US" dirty="0"/>
              <a:t>检验的基本步骤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6317CF8-B477-E3BD-6F76-797B17F6B4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确定显著性水平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 使用卡方分布表或统计软件来确定统计量的显著性水平，自由度通常为 </a:t>
            </a:r>
            <a:r>
              <a:rPr lang="en-US" altLang="zh-CN" b="0" i="1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n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KaTeX_Main"/>
              </a:rPr>
              <a:t>−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KaTeX_Main"/>
              </a:rPr>
              <a:t>1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，其中 </a:t>
            </a:r>
            <a:r>
              <a:rPr lang="en-US" altLang="zh-CN" b="0" i="1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KaTeX_Math"/>
              </a:rPr>
              <a:t>n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 是样本组数。</a:t>
            </a:r>
          </a:p>
          <a:p>
            <a:r>
              <a:rPr lang="zh-CN" altLang="en-US" b="1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作出决策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：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如果统计量的值大于临界值，或者对应的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值小于显著性水平（例如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0.05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），则拒绝原假设，认为至少有两个样本的中位数存在显著差异。</a:t>
            </a:r>
          </a:p>
          <a:p>
            <a:pPr marL="742950" lvl="1" indent="-285750" algn="l">
              <a:buFont typeface="+mj-lt"/>
              <a:buAutoNum type="arabicPeriod"/>
            </a:pP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如果统计量的值小于临界值，或者</a:t>
            </a:r>
            <a:r>
              <a:rPr lang="en-US" altLang="zh-CN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p</a:t>
            </a:r>
            <a:r>
              <a:rPr lang="zh-CN" altLang="en-US" b="0" i="0" dirty="0">
                <a:solidFill>
                  <a:srgbClr val="060607"/>
                </a:solidFill>
                <a:effectLst/>
                <a:highlight>
                  <a:srgbClr val="FFFFFF"/>
                </a:highlight>
                <a:latin typeface="-apple-system"/>
              </a:rPr>
              <a:t>值大于显著性水平，则不能拒绝原假设。</a:t>
            </a:r>
          </a:p>
          <a:p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2328401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</TotalTime>
  <Words>2003</Words>
  <Application>Microsoft Office PowerPoint</Application>
  <PresentationFormat>宽屏</PresentationFormat>
  <Paragraphs>146</Paragraphs>
  <Slides>27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27</vt:i4>
      </vt:variant>
    </vt:vector>
  </HeadingPairs>
  <TitlesOfParts>
    <vt:vector size="35" baseType="lpstr">
      <vt:lpstr>-apple-system</vt:lpstr>
      <vt:lpstr>KaTeX_Main</vt:lpstr>
      <vt:lpstr>KaTeX_Math</vt:lpstr>
      <vt:lpstr>等线</vt:lpstr>
      <vt:lpstr>等线 Light</vt:lpstr>
      <vt:lpstr>Arial</vt:lpstr>
      <vt:lpstr>Cambria Math</vt:lpstr>
      <vt:lpstr>Office 主题​​</vt:lpstr>
      <vt:lpstr>第8章 方差分析</vt:lpstr>
      <vt:lpstr>方差分析</vt:lpstr>
      <vt:lpstr>单因素一元方差分析（ANOVA）</vt:lpstr>
      <vt:lpstr>单因素ANOVA的步骤：</vt:lpstr>
      <vt:lpstr>单因素ANOVA的步骤：</vt:lpstr>
      <vt:lpstr>单因素ANOVA的步骤：</vt:lpstr>
      <vt:lpstr>注意事项：</vt:lpstr>
      <vt:lpstr>正态性检验</vt:lpstr>
      <vt:lpstr>方差齐次性检验</vt:lpstr>
      <vt:lpstr>Bartlett检验的局限性</vt:lpstr>
      <vt:lpstr>双因素一元方差分析（ANOVA2）</vt:lpstr>
      <vt:lpstr>双因素ANOVA的基本步骤：</vt:lpstr>
      <vt:lpstr>双因素ANOVA的基本步骤：</vt:lpstr>
      <vt:lpstr>双因素ANOVA的基本步骤：</vt:lpstr>
      <vt:lpstr>多因素一元方差分析（ANOVAn）</vt:lpstr>
      <vt:lpstr>多因素一元方差分析（ANOVAn）</vt:lpstr>
      <vt:lpstr>多因素一元方差分析（ANOVAn）</vt:lpstr>
      <vt:lpstr>注意事项：</vt:lpstr>
      <vt:lpstr>非参数方差分析</vt:lpstr>
      <vt:lpstr>Kruskal-Wallis检验</vt:lpstr>
      <vt:lpstr>Kruskal-Wallis检验</vt:lpstr>
      <vt:lpstr>Kruskal-Wallis检验的基本步骤：</vt:lpstr>
      <vt:lpstr>Kruskal-Wallis检验的基本步骤：</vt:lpstr>
      <vt:lpstr>Kruskal-Wallis检验</vt:lpstr>
      <vt:lpstr>Friedman检验</vt:lpstr>
      <vt:lpstr>Friedman检验的基本步骤：</vt:lpstr>
      <vt:lpstr>Friedman检验的基本步骤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第8章 方差分析</dc:title>
  <dc:creator>L Siu</dc:creator>
  <cp:lastModifiedBy>L Siu</cp:lastModifiedBy>
  <cp:revision>64</cp:revision>
  <dcterms:created xsi:type="dcterms:W3CDTF">2024-04-08T02:16:51Z</dcterms:created>
  <dcterms:modified xsi:type="dcterms:W3CDTF">2024-04-08T08:19:46Z</dcterms:modified>
</cp:coreProperties>
</file>