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63" r:id="rId4"/>
    <p:sldId id="272" r:id="rId5"/>
    <p:sldId id="273" r:id="rId6"/>
    <p:sldId id="275" r:id="rId7"/>
    <p:sldId id="276" r:id="rId8"/>
    <p:sldId id="258" r:id="rId9"/>
    <p:sldId id="259" r:id="rId10"/>
    <p:sldId id="305" r:id="rId11"/>
    <p:sldId id="264" r:id="rId12"/>
    <p:sldId id="265" r:id="rId13"/>
    <p:sldId id="260" r:id="rId14"/>
    <p:sldId id="306" r:id="rId15"/>
    <p:sldId id="266" r:id="rId16"/>
    <p:sldId id="261" r:id="rId17"/>
    <p:sldId id="304" r:id="rId18"/>
    <p:sldId id="262" r:id="rId19"/>
    <p:sldId id="267" r:id="rId20"/>
    <p:sldId id="268" r:id="rId21"/>
    <p:sldId id="269" r:id="rId22"/>
    <p:sldId id="303" r:id="rId23"/>
    <p:sldId id="296" r:id="rId24"/>
    <p:sldId id="297" r:id="rId25"/>
    <p:sldId id="298" r:id="rId26"/>
    <p:sldId id="299" r:id="rId27"/>
    <p:sldId id="300" r:id="rId28"/>
    <p:sldId id="301" r:id="rId29"/>
    <p:sldId id="302" r:id="rId30"/>
    <p:sldId id="270" r:id="rId31"/>
    <p:sldId id="277" r:id="rId32"/>
    <p:sldId id="278" r:id="rId33"/>
    <p:sldId id="280" r:id="rId34"/>
    <p:sldId id="279" r:id="rId35"/>
    <p:sldId id="271" r:id="rId36"/>
    <p:sldId id="283" r:id="rId37"/>
    <p:sldId id="281" r:id="rId38"/>
    <p:sldId id="282" r:id="rId39"/>
    <p:sldId id="284" r:id="rId40"/>
    <p:sldId id="285" r:id="rId41"/>
    <p:sldId id="286" r:id="rId42"/>
    <p:sldId id="287" r:id="rId43"/>
    <p:sldId id="288" r:id="rId44"/>
    <p:sldId id="289" r:id="rId45"/>
    <p:sldId id="290" r:id="rId46"/>
    <p:sldId id="292" r:id="rId47"/>
    <p:sldId id="293" r:id="rId48"/>
    <p:sldId id="294" r:id="rId49"/>
    <p:sldId id="295"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92" autoAdjust="0"/>
  </p:normalViewPr>
  <p:slideViewPr>
    <p:cSldViewPr snapToGrid="0">
      <p:cViewPr varScale="1">
        <p:scale>
          <a:sx n="77" d="100"/>
          <a:sy n="77" d="100"/>
        </p:scale>
        <p:origin x="7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956FD-F277-4868-9FED-C2394C833299}" type="datetimeFigureOut">
              <a:rPr lang="zh-CN" altLang="en-US" smtClean="0"/>
              <a:t>2024/4/1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670EBB-A544-4B2F-990A-D5FB3B712E7D}" type="slidenum">
              <a:rPr lang="zh-CN" altLang="en-US" smtClean="0"/>
              <a:t>‹#›</a:t>
            </a:fld>
            <a:endParaRPr lang="zh-CN" altLang="en-US"/>
          </a:p>
        </p:txBody>
      </p:sp>
    </p:spTree>
    <p:extLst>
      <p:ext uri="{BB962C8B-B14F-4D97-AF65-F5344CB8AC3E}">
        <p14:creationId xmlns:p14="http://schemas.microsoft.com/office/powerpoint/2010/main" val="375111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检验的功效</a:t>
            </a:r>
            <a:endParaRPr lang="zh-CN" altLang="en-US" dirty="0"/>
          </a:p>
        </p:txBody>
      </p:sp>
      <p:sp>
        <p:nvSpPr>
          <p:cNvPr id="4" name="灯片编号占位符 3"/>
          <p:cNvSpPr>
            <a:spLocks noGrp="1"/>
          </p:cNvSpPr>
          <p:nvPr>
            <p:ph type="sldNum" sz="quarter" idx="5"/>
          </p:nvPr>
        </p:nvSpPr>
        <p:spPr/>
        <p:txBody>
          <a:bodyPr/>
          <a:lstStyle/>
          <a:p>
            <a:fld id="{9D670EBB-A544-4B2F-990A-D5FB3B712E7D}" type="slidenum">
              <a:rPr lang="zh-CN" altLang="en-US" smtClean="0"/>
              <a:t>33</a:t>
            </a:fld>
            <a:endParaRPr lang="zh-CN" altLang="en-US"/>
          </a:p>
        </p:txBody>
      </p:sp>
    </p:spTree>
    <p:extLst>
      <p:ext uri="{BB962C8B-B14F-4D97-AF65-F5344CB8AC3E}">
        <p14:creationId xmlns:p14="http://schemas.microsoft.com/office/powerpoint/2010/main" val="231051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670EBB-A544-4B2F-990A-D5FB3B712E7D}" type="slidenum">
              <a:rPr lang="zh-CN" altLang="en-US" smtClean="0"/>
              <a:t>38</a:t>
            </a:fld>
            <a:endParaRPr lang="zh-CN" altLang="en-US"/>
          </a:p>
        </p:txBody>
      </p:sp>
    </p:spTree>
    <p:extLst>
      <p:ext uri="{BB962C8B-B14F-4D97-AF65-F5344CB8AC3E}">
        <p14:creationId xmlns:p14="http://schemas.microsoft.com/office/powerpoint/2010/main" val="319823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92FE3-A935-4873-1681-156BEF8898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A9356BE-2716-80E4-F773-8B2777B54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1AC6C9C-F77B-718F-E311-E111BB3B73AC}"/>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416AAE98-5D07-4DE5-33D7-0092872620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6E97BA-4581-D222-44B9-C533FC8B7E54}"/>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2216963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327DE-6EF1-F141-B24F-60AE17E735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F86E99-EEDE-0579-77DF-0407190607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6E55E7-80CE-A525-8F29-D9A8D3C85571}"/>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1F78FEA7-B32E-5041-225D-5806B7C841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01C4D0-3CE4-93CB-ADB7-49A25C3ADF4C}"/>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2359698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B659A5-020C-BCF1-45F0-098AC5C3A91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171C23D-A339-D69D-6D88-9B006C012D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64D5124-CF8D-3709-D086-B7E3713EEE1B}"/>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E7436943-2D33-2267-E37B-22AE3F66E7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BB98E0-D402-88E0-571E-C0089D8D4A12}"/>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3607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5C6FC3-5550-A8DE-2EB5-61276471B00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85FCA9-FF71-D08F-F283-4887ADE249B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AF47D6D-2EB9-83E6-D20F-AE1D3E7B7DF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447E23F-F613-2A80-4584-0E197E12BDE5}"/>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6" name="页脚占位符 5">
            <a:extLst>
              <a:ext uri="{FF2B5EF4-FFF2-40B4-BE49-F238E27FC236}">
                <a16:creationId xmlns:a16="http://schemas.microsoft.com/office/drawing/2014/main" id="{95F50B34-EDBE-4E0C-7351-FAE3EC1724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A336BE5-1996-187A-FE07-D25A7E4E193F}"/>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1653562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6A71F-2C29-6D1D-35EE-1D6807BE810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119BAE6-7C0E-B752-BF42-1309B1F0D2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285BBA8-0C13-984E-B8D1-1A60FD8FFD5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0AA55F5-63EC-9F87-1B10-4B07C50BDE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20551E3-967F-65F3-E4A8-318A35A5C1A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6C482D2-0958-3D75-314A-9E8258141617}"/>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8" name="页脚占位符 7">
            <a:extLst>
              <a:ext uri="{FF2B5EF4-FFF2-40B4-BE49-F238E27FC236}">
                <a16:creationId xmlns:a16="http://schemas.microsoft.com/office/drawing/2014/main" id="{879CB82A-6D1F-C596-81B3-26482B1FDBE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56483B2-1A59-FDDE-627F-94A6AEB2E27E}"/>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3602427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A3DD6E-5B5C-7023-F380-8E9E40AEB8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E59590F-B19C-B0F8-630C-D3C0A68B3FBC}"/>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4" name="页脚占位符 3">
            <a:extLst>
              <a:ext uri="{FF2B5EF4-FFF2-40B4-BE49-F238E27FC236}">
                <a16:creationId xmlns:a16="http://schemas.microsoft.com/office/drawing/2014/main" id="{0BA72EBE-2D3A-F7BF-6A04-B129BFAAF83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6E8E962-9FD1-E98D-6DFC-E2874724DC33}"/>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4157825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3860549-96E8-E7CF-1F58-AF1B77251C02}"/>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3" name="页脚占位符 2">
            <a:extLst>
              <a:ext uri="{FF2B5EF4-FFF2-40B4-BE49-F238E27FC236}">
                <a16:creationId xmlns:a16="http://schemas.microsoft.com/office/drawing/2014/main" id="{E21D67D6-4A7D-D813-A1DA-8EC5B57F305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07257B-9F91-ADC9-2C79-BA4258915C86}"/>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958658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21567-D509-7F04-C320-7166313F15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8CFB9D5-5273-B654-85AB-5724517FBC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493BC4-3E67-DA06-B78C-88BD0963E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369E402-C396-6C18-EA60-B2459C046CC2}"/>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6" name="页脚占位符 5">
            <a:extLst>
              <a:ext uri="{FF2B5EF4-FFF2-40B4-BE49-F238E27FC236}">
                <a16:creationId xmlns:a16="http://schemas.microsoft.com/office/drawing/2014/main" id="{95930900-2F94-E15E-D627-FAE1049A2C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3A8914-81E4-3F7F-7A30-DB70BFCFA2BE}"/>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2416049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6B3BB-74D4-7347-B7D9-22AD663EE6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6DD7496-04D4-0B78-BC74-EEA8CB8F9E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8A5F936-F52E-9A2F-DC05-025C5DF4B2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766517-B0BF-5C53-9B30-7DB92F572F36}"/>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6" name="页脚占位符 5">
            <a:extLst>
              <a:ext uri="{FF2B5EF4-FFF2-40B4-BE49-F238E27FC236}">
                <a16:creationId xmlns:a16="http://schemas.microsoft.com/office/drawing/2014/main" id="{96FD701D-09E5-3675-F93E-CC8F84556A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53F7CB-6B09-B1EC-FBC6-65FA9ABC32E3}"/>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4081166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537075-8306-6C79-44F4-33570E04BF5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5CAFF00-37A6-17FE-9EE7-AEBF51DD8FA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8BABF8-15C0-5980-A364-C8FE8B4DF2C9}"/>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C3101CD4-A75C-9CC4-3E64-6081024F10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B349D0-1631-D5CF-9A35-2D57A6413233}"/>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4286128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68690AD-512E-7531-9DF5-756B3D1F053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EAEF6A5-CB27-EF6A-C3AB-3197D02DFF0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FE0204F-2957-95D6-1A2C-581237681967}"/>
              </a:ext>
            </a:extLst>
          </p:cNvPr>
          <p:cNvSpPr>
            <a:spLocks noGrp="1"/>
          </p:cNvSpPr>
          <p:nvPr>
            <p:ph type="dt" sz="half" idx="10"/>
          </p:nvPr>
        </p:nvSpPr>
        <p:spPr/>
        <p:txBody>
          <a:body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9EA1A9A7-92E0-753F-5ACA-EF335532A3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E0D4AB-6463-02F4-F2F7-227980BCA9E8}"/>
              </a:ext>
            </a:extLst>
          </p:cNvPr>
          <p:cNvSpPr>
            <a:spLocks noGrp="1"/>
          </p:cNvSpPr>
          <p:nvPr>
            <p:ph type="sldNum" sz="quarter" idx="12"/>
          </p:nvPr>
        </p:nvSpPr>
        <p:spPr/>
        <p:txBody>
          <a:body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2814817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41EA3E-2940-721F-2A11-766943B081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3D6EB86-D5BC-05EA-A98D-510F436282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8FADFBF-AF79-BE5E-5F2C-66C4C77332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F5313F-C612-4610-B12D-6DDAFC2AAA82}" type="datetimeFigureOut">
              <a:rPr lang="zh-CN" altLang="en-US" smtClean="0"/>
              <a:t>2024/4/1</a:t>
            </a:fld>
            <a:endParaRPr lang="zh-CN" altLang="en-US"/>
          </a:p>
        </p:txBody>
      </p:sp>
      <p:sp>
        <p:nvSpPr>
          <p:cNvPr id="5" name="页脚占位符 4">
            <a:extLst>
              <a:ext uri="{FF2B5EF4-FFF2-40B4-BE49-F238E27FC236}">
                <a16:creationId xmlns:a16="http://schemas.microsoft.com/office/drawing/2014/main" id="{3204BE3D-4D06-2E7C-33EC-87FA6242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D9C3017-D748-6E45-1A3F-E6DE914405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5DEE5-E49C-469F-A7FF-3BA969DE14EE}" type="slidenum">
              <a:rPr lang="zh-CN" altLang="en-US" smtClean="0"/>
              <a:t>‹#›</a:t>
            </a:fld>
            <a:endParaRPr lang="zh-CN" altLang="en-US"/>
          </a:p>
        </p:txBody>
      </p:sp>
    </p:spTree>
    <p:extLst>
      <p:ext uri="{BB962C8B-B14F-4D97-AF65-F5344CB8AC3E}">
        <p14:creationId xmlns:p14="http://schemas.microsoft.com/office/powerpoint/2010/main" val="57551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37765-A375-BF7A-9525-239C7B782082}"/>
              </a:ext>
            </a:extLst>
          </p:cNvPr>
          <p:cNvSpPr>
            <a:spLocks noGrp="1"/>
          </p:cNvSpPr>
          <p:nvPr>
            <p:ph type="ctrTitle"/>
          </p:nvPr>
        </p:nvSpPr>
        <p:spPr/>
        <p:txBody>
          <a:bodyPr/>
          <a:lstStyle/>
          <a:p>
            <a:r>
              <a:rPr lang="zh-CN" altLang="en-US" dirty="0"/>
              <a:t>第</a:t>
            </a:r>
            <a:r>
              <a:rPr lang="en-GB" altLang="zh-CN" dirty="0"/>
              <a:t>6</a:t>
            </a:r>
            <a:r>
              <a:rPr lang="zh-CN" altLang="en-US" dirty="0"/>
              <a:t>章 参数估计与假设检验 </a:t>
            </a:r>
          </a:p>
        </p:txBody>
      </p:sp>
      <p:sp>
        <p:nvSpPr>
          <p:cNvPr id="3" name="副标题 2">
            <a:extLst>
              <a:ext uri="{FF2B5EF4-FFF2-40B4-BE49-F238E27FC236}">
                <a16:creationId xmlns:a16="http://schemas.microsoft.com/office/drawing/2014/main" id="{D058AE55-7CBC-B91B-C516-B0EAB329F09E}"/>
              </a:ext>
            </a:extLst>
          </p:cNvPr>
          <p:cNvSpPr>
            <a:spLocks noGrp="1"/>
          </p:cNvSpPr>
          <p:nvPr>
            <p:ph type="subTitle" idx="1"/>
          </p:nvPr>
        </p:nvSpPr>
        <p:spPr/>
        <p:txBody>
          <a:bodyPr/>
          <a:lstStyle/>
          <a:p>
            <a:r>
              <a:rPr lang="en-GB" altLang="zh-CN"/>
              <a:t>https://github.com/styluck/mlb</a:t>
            </a:r>
            <a:endParaRPr lang="zh-CN" altLang="en-US"/>
          </a:p>
          <a:p>
            <a:endParaRPr lang="zh-CN" altLang="en-US" dirty="0"/>
          </a:p>
        </p:txBody>
      </p:sp>
    </p:spTree>
    <p:extLst>
      <p:ext uri="{BB962C8B-B14F-4D97-AF65-F5344CB8AC3E}">
        <p14:creationId xmlns:p14="http://schemas.microsoft.com/office/powerpoint/2010/main" val="3120301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8D3D4-3382-D523-9DFC-EBC6315975D7}"/>
              </a:ext>
            </a:extLst>
          </p:cNvPr>
          <p:cNvSpPr>
            <a:spLocks noGrp="1"/>
          </p:cNvSpPr>
          <p:nvPr>
            <p:ph type="title"/>
          </p:nvPr>
        </p:nvSpPr>
        <p:spPr/>
        <p:txBody>
          <a:bodyPr/>
          <a:lstStyle/>
          <a:p>
            <a:r>
              <a:rPr lang="en-GB" altLang="zh-CN" dirty="0"/>
              <a:t> </a:t>
            </a:r>
            <a:r>
              <a:rPr lang="zh-CN" altLang="en-US" dirty="0"/>
              <a:t>常见分布的参数估计</a:t>
            </a:r>
          </a:p>
        </p:txBody>
      </p:sp>
      <p:sp>
        <p:nvSpPr>
          <p:cNvPr id="3" name="内容占位符 2">
            <a:extLst>
              <a:ext uri="{FF2B5EF4-FFF2-40B4-BE49-F238E27FC236}">
                <a16:creationId xmlns:a16="http://schemas.microsoft.com/office/drawing/2014/main" id="{F0CA732E-20AA-E36A-CE20-D890C9F52458}"/>
              </a:ext>
            </a:extLst>
          </p:cNvPr>
          <p:cNvSpPr>
            <a:spLocks noGrp="1"/>
          </p:cNvSpPr>
          <p:nvPr>
            <p:ph idx="1"/>
          </p:nvPr>
        </p:nvSpPr>
        <p:spPr/>
        <p:txBody>
          <a:bodyPr>
            <a:normAutofit/>
          </a:bodyPr>
          <a:lstStyle/>
          <a:p>
            <a:r>
              <a:rPr lang="zh-CN" altLang="en-US" dirty="0"/>
              <a:t>在很多实际问题中，为了进行某些统计推断，</a:t>
            </a:r>
            <a:r>
              <a:rPr lang="zh-CN" altLang="en-US" b="1" dirty="0"/>
              <a:t>需要确定总体所服从的分布</a:t>
            </a:r>
            <a:r>
              <a:rPr lang="zh-CN" altLang="en-US" dirty="0"/>
              <a:t>，通常根据问题的实际背景或适当的统计方法可以判断总体分布的类型，但是总体分布中往往含有未知参数，需要用样本观测数据进行估计。</a:t>
            </a:r>
            <a:endParaRPr lang="en-GB" altLang="zh-CN" dirty="0"/>
          </a:p>
          <a:p>
            <a:r>
              <a:rPr lang="zh-CN" altLang="en-US" b="1" dirty="0"/>
              <a:t>假设检验</a:t>
            </a:r>
            <a:r>
              <a:rPr lang="zh-CN" altLang="en-US" dirty="0"/>
              <a:t>是统计推断的另一个重要内容 。假设检验的基本任务是根据样本所提供的信息，对总体的某些方面（如总体的分布类型 、参数的性质等）作出判断。</a:t>
            </a:r>
            <a:endParaRPr lang="en-US" altLang="zh-CN" dirty="0"/>
          </a:p>
          <a:p>
            <a:r>
              <a:rPr lang="en-US" altLang="zh-CN" dirty="0"/>
              <a:t>MATLAB</a:t>
            </a:r>
            <a:r>
              <a:rPr lang="zh-CN" altLang="en-US" dirty="0"/>
              <a:t>统计工具箱中有这样一系列函数 ，函数名以 </a:t>
            </a:r>
            <a:r>
              <a:rPr lang="en-US" altLang="zh-CN" dirty="0"/>
              <a:t>fit </a:t>
            </a:r>
            <a:r>
              <a:rPr lang="zh-CN" altLang="en-US" dirty="0"/>
              <a:t>三个字符结尾</a:t>
            </a:r>
            <a:endParaRPr lang="en-US" altLang="zh-CN" dirty="0"/>
          </a:p>
          <a:p>
            <a:endParaRPr lang="zh-CN" altLang="en-US" dirty="0"/>
          </a:p>
        </p:txBody>
      </p:sp>
    </p:spTree>
    <p:extLst>
      <p:ext uri="{BB962C8B-B14F-4D97-AF65-F5344CB8AC3E}">
        <p14:creationId xmlns:p14="http://schemas.microsoft.com/office/powerpoint/2010/main" val="1829592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FBF82-9FCF-42B1-48A9-87035A5706EB}"/>
              </a:ext>
            </a:extLst>
          </p:cNvPr>
          <p:cNvSpPr>
            <a:spLocks noGrp="1"/>
          </p:cNvSpPr>
          <p:nvPr>
            <p:ph type="title"/>
          </p:nvPr>
        </p:nvSpPr>
        <p:spPr/>
        <p:txBody>
          <a:bodyPr/>
          <a:lstStyle/>
          <a:p>
            <a:r>
              <a:rPr lang="zh-CN" altLang="en-US" dirty="0"/>
              <a:t>极大似然估计与置信区间</a:t>
            </a:r>
          </a:p>
        </p:txBody>
      </p:sp>
      <p:sp>
        <p:nvSpPr>
          <p:cNvPr id="3" name="内容占位符 2">
            <a:extLst>
              <a:ext uri="{FF2B5EF4-FFF2-40B4-BE49-F238E27FC236}">
                <a16:creationId xmlns:a16="http://schemas.microsoft.com/office/drawing/2014/main" id="{B929B46E-6C42-D638-DD74-9D4D699E0E4C}"/>
              </a:ext>
            </a:extLst>
          </p:cNvPr>
          <p:cNvSpPr>
            <a:spLocks noGrp="1"/>
          </p:cNvSpPr>
          <p:nvPr>
            <p:ph idx="1"/>
          </p:nvPr>
        </p:nvSpPr>
        <p:spPr/>
        <p:txBody>
          <a:bodyPr/>
          <a:lstStyle/>
          <a:p>
            <a:r>
              <a:rPr lang="zh-CN" altLang="en-US" b="1" dirty="0"/>
              <a:t>极大似然估计</a:t>
            </a:r>
            <a:r>
              <a:rPr lang="zh-CN" altLang="en-US" dirty="0"/>
              <a:t>的核心思想是：在已知某个随机样本满足某种概率分布，但具体参数不清楚的情况下，通过观察样本结果，利用这些结果推出参数的大概值。具体来说，极大似然估计假设有一个参数能使这个样本出现的概率最大，那么这个参数就被作为估计的真实值。</a:t>
            </a:r>
            <a:endParaRPr lang="en-US" altLang="zh-CN" dirty="0"/>
          </a:p>
          <a:p>
            <a:r>
              <a:rPr lang="zh-CN" altLang="en-US" b="1" i="0" dirty="0">
                <a:solidFill>
                  <a:srgbClr val="05073B"/>
                </a:solidFill>
                <a:effectLst/>
                <a:latin typeface="-apple-system"/>
              </a:rPr>
              <a:t>置信区间</a:t>
            </a:r>
            <a:r>
              <a:rPr lang="zh-CN" altLang="en-US" b="0" i="0" dirty="0">
                <a:solidFill>
                  <a:srgbClr val="05073B"/>
                </a:solidFill>
                <a:effectLst/>
                <a:latin typeface="-apple-system"/>
              </a:rPr>
              <a:t>是一个特定的范围，它表示在多次重复抽样的情况下，所估计的参数值有某一特定的概率（如</a:t>
            </a:r>
            <a:r>
              <a:rPr lang="en-US" altLang="zh-CN" b="0" i="0" dirty="0">
                <a:solidFill>
                  <a:srgbClr val="05073B"/>
                </a:solidFill>
                <a:effectLst/>
                <a:latin typeface="-apple-system"/>
              </a:rPr>
              <a:t>95%</a:t>
            </a:r>
            <a:r>
              <a:rPr lang="zh-CN" altLang="en-US" b="0" i="0" dirty="0">
                <a:solidFill>
                  <a:srgbClr val="05073B"/>
                </a:solidFill>
                <a:effectLst/>
                <a:latin typeface="-apple-system"/>
              </a:rPr>
              <a:t>）落在这个范围内。这个范围是通过极大似然估计方法得到的，它依赖于样本数据和所选择的置信水平。</a:t>
            </a:r>
            <a:endParaRPr lang="zh-CN" altLang="en-US" dirty="0"/>
          </a:p>
        </p:txBody>
      </p:sp>
    </p:spTree>
    <p:extLst>
      <p:ext uri="{BB962C8B-B14F-4D97-AF65-F5344CB8AC3E}">
        <p14:creationId xmlns:p14="http://schemas.microsoft.com/office/powerpoint/2010/main" val="2955028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26E056-ACD9-9802-2DA5-0F006F98F57F}"/>
              </a:ext>
            </a:extLst>
          </p:cNvPr>
          <p:cNvSpPr>
            <a:spLocks noGrp="1"/>
          </p:cNvSpPr>
          <p:nvPr>
            <p:ph type="title"/>
          </p:nvPr>
        </p:nvSpPr>
        <p:spPr/>
        <p:txBody>
          <a:bodyPr/>
          <a:lstStyle/>
          <a:p>
            <a:r>
              <a:rPr lang="zh-CN" altLang="en-US" dirty="0"/>
              <a:t>假设检验</a:t>
            </a:r>
          </a:p>
        </p:txBody>
      </p:sp>
      <p:sp>
        <p:nvSpPr>
          <p:cNvPr id="3" name="内容占位符 2">
            <a:extLst>
              <a:ext uri="{FF2B5EF4-FFF2-40B4-BE49-F238E27FC236}">
                <a16:creationId xmlns:a16="http://schemas.microsoft.com/office/drawing/2014/main" id="{A92F5527-9E57-2CBF-E153-166D32644E52}"/>
              </a:ext>
            </a:extLst>
          </p:cNvPr>
          <p:cNvSpPr>
            <a:spLocks noGrp="1"/>
          </p:cNvSpPr>
          <p:nvPr>
            <p:ph idx="1"/>
          </p:nvPr>
        </p:nvSpPr>
        <p:spPr/>
        <p:txBody>
          <a:bodyPr>
            <a:normAutofit fontScale="92500" lnSpcReduction="10000"/>
          </a:bodyPr>
          <a:lstStyle/>
          <a:p>
            <a:r>
              <a:rPr lang="zh-CN" altLang="en-US" b="0" i="0" dirty="0">
                <a:solidFill>
                  <a:srgbClr val="060607"/>
                </a:solidFill>
                <a:effectLst/>
                <a:latin typeface="PingFang SC"/>
              </a:rPr>
              <a:t>假设检验是统计学中的一种基本方法，用于判断从样本数据中得出的结论是否在总体中也成立。</a:t>
            </a:r>
            <a:endParaRPr lang="en-US" altLang="zh-CN" b="0" i="0" dirty="0">
              <a:solidFill>
                <a:srgbClr val="060607"/>
              </a:solidFill>
              <a:effectLst/>
              <a:latin typeface="PingFang SC"/>
            </a:endParaRPr>
          </a:p>
          <a:p>
            <a:r>
              <a:rPr lang="en-US" altLang="zh-CN" b="1" dirty="0"/>
              <a:t>1. </a:t>
            </a:r>
            <a:r>
              <a:rPr lang="zh-CN" altLang="en-US" b="1" dirty="0"/>
              <a:t>建立假设</a:t>
            </a:r>
          </a:p>
          <a:p>
            <a:r>
              <a:rPr lang="zh-CN" altLang="en-US" dirty="0"/>
              <a:t>原假设（</a:t>
            </a:r>
            <a:r>
              <a:rPr lang="en-US" altLang="zh-CN" dirty="0"/>
              <a:t>H0</a:t>
            </a:r>
            <a:r>
              <a:rPr lang="zh-CN" altLang="en-US" dirty="0"/>
              <a:t>）：通常表示没有效应或差异，即你想要证明的效应不存在。</a:t>
            </a:r>
          </a:p>
          <a:p>
            <a:r>
              <a:rPr lang="zh-CN" altLang="en-US" dirty="0"/>
              <a:t>备择假设（</a:t>
            </a:r>
            <a:r>
              <a:rPr lang="en-US" altLang="zh-CN" dirty="0"/>
              <a:t>H1 </a:t>
            </a:r>
            <a:r>
              <a:rPr lang="zh-CN" altLang="en-US" dirty="0"/>
              <a:t>或 </a:t>
            </a:r>
            <a:r>
              <a:rPr lang="en-US" altLang="zh-CN" dirty="0"/>
              <a:t>Ha</a:t>
            </a:r>
            <a:r>
              <a:rPr lang="zh-CN" altLang="en-US" dirty="0"/>
              <a:t>）：与原假设相反，表示有效应或差异，即你想要证明的效应存在。</a:t>
            </a:r>
          </a:p>
          <a:p>
            <a:r>
              <a:rPr lang="en-US" altLang="zh-CN" b="1" dirty="0"/>
              <a:t>2. </a:t>
            </a:r>
            <a:r>
              <a:rPr lang="zh-CN" altLang="en-US" b="1" dirty="0"/>
              <a:t>选择适当的检验统计量</a:t>
            </a:r>
          </a:p>
          <a:p>
            <a:r>
              <a:rPr lang="zh-CN" altLang="en-US" dirty="0"/>
              <a:t>根据数据类型、分布特性和假设检验的类型，选择一个适当的统计检验方法。常见的检验统计量包括</a:t>
            </a:r>
            <a:r>
              <a:rPr lang="en-US" altLang="zh-CN" dirty="0"/>
              <a:t>t</a:t>
            </a:r>
            <a:r>
              <a:rPr lang="zh-CN" altLang="en-US" dirty="0"/>
              <a:t>统计量、</a:t>
            </a:r>
            <a:r>
              <a:rPr lang="en-US" altLang="zh-CN" dirty="0"/>
              <a:t>U</a:t>
            </a:r>
            <a:r>
              <a:rPr lang="zh-CN" altLang="en-US" dirty="0"/>
              <a:t>统计量、卡方统计量、</a:t>
            </a:r>
            <a:r>
              <a:rPr lang="en-US" altLang="zh-CN" dirty="0"/>
              <a:t>F</a:t>
            </a:r>
            <a:r>
              <a:rPr lang="zh-CN" altLang="en-US" dirty="0"/>
              <a:t>统计量等。</a:t>
            </a:r>
          </a:p>
          <a:p>
            <a:endParaRPr lang="zh-CN" altLang="en-US" dirty="0"/>
          </a:p>
        </p:txBody>
      </p:sp>
    </p:spTree>
    <p:extLst>
      <p:ext uri="{BB962C8B-B14F-4D97-AF65-F5344CB8AC3E}">
        <p14:creationId xmlns:p14="http://schemas.microsoft.com/office/powerpoint/2010/main" val="3763945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BD400-E8D3-B308-A369-B0B89EC14B1B}"/>
              </a:ext>
            </a:extLst>
          </p:cNvPr>
          <p:cNvSpPr>
            <a:spLocks noGrp="1"/>
          </p:cNvSpPr>
          <p:nvPr>
            <p:ph type="title"/>
          </p:nvPr>
        </p:nvSpPr>
        <p:spPr/>
        <p:txBody>
          <a:bodyPr/>
          <a:lstStyle/>
          <a:p>
            <a:r>
              <a:rPr lang="zh-CN" altLang="en-US" dirty="0"/>
              <a:t>假设检验</a:t>
            </a:r>
          </a:p>
        </p:txBody>
      </p:sp>
      <p:sp>
        <p:nvSpPr>
          <p:cNvPr id="3" name="内容占位符 2">
            <a:extLst>
              <a:ext uri="{FF2B5EF4-FFF2-40B4-BE49-F238E27FC236}">
                <a16:creationId xmlns:a16="http://schemas.microsoft.com/office/drawing/2014/main" id="{56505717-A7B9-4DC8-B0E2-6C27753111B7}"/>
              </a:ext>
            </a:extLst>
          </p:cNvPr>
          <p:cNvSpPr>
            <a:spLocks noGrp="1"/>
          </p:cNvSpPr>
          <p:nvPr>
            <p:ph idx="1"/>
          </p:nvPr>
        </p:nvSpPr>
        <p:spPr/>
        <p:txBody>
          <a:bodyPr>
            <a:normAutofit fontScale="92500" lnSpcReduction="20000"/>
          </a:bodyPr>
          <a:lstStyle/>
          <a:p>
            <a:r>
              <a:rPr lang="en-US" altLang="zh-CN" b="1" dirty="0"/>
              <a:t>3. </a:t>
            </a:r>
            <a:r>
              <a:rPr lang="zh-CN" altLang="en-US" b="1" dirty="0"/>
              <a:t>确定显著性水平（</a:t>
            </a:r>
            <a:r>
              <a:rPr lang="en-US" altLang="zh-CN" b="1" dirty="0"/>
              <a:t>α</a:t>
            </a:r>
            <a:r>
              <a:rPr lang="zh-CN" altLang="en-US" b="1" dirty="0"/>
              <a:t>）</a:t>
            </a:r>
          </a:p>
          <a:p>
            <a:r>
              <a:rPr lang="zh-CN" altLang="en-US" dirty="0"/>
              <a:t>显著性水平通常设定为</a:t>
            </a:r>
            <a:r>
              <a:rPr lang="en-US" altLang="zh-CN" dirty="0"/>
              <a:t>0.05</a:t>
            </a:r>
            <a:r>
              <a:rPr lang="zh-CN" altLang="en-US" dirty="0"/>
              <a:t>、</a:t>
            </a:r>
            <a:r>
              <a:rPr lang="en-US" altLang="zh-CN" dirty="0"/>
              <a:t>0.01</a:t>
            </a:r>
            <a:r>
              <a:rPr lang="zh-CN" altLang="en-US" dirty="0"/>
              <a:t>等，表示你愿意接受的第一类错误（错误地拒绝原假设）的概率。这个水平取决于你对结果重要性的判断。</a:t>
            </a:r>
          </a:p>
          <a:p>
            <a:endParaRPr lang="zh-CN" altLang="en-US" dirty="0"/>
          </a:p>
          <a:p>
            <a:r>
              <a:rPr lang="en-US" altLang="zh-CN" b="1" dirty="0"/>
              <a:t>4. </a:t>
            </a:r>
            <a:r>
              <a:rPr lang="zh-CN" altLang="en-US" b="1" dirty="0"/>
              <a:t>收集数据并计算检验统计量</a:t>
            </a:r>
          </a:p>
          <a:p>
            <a:r>
              <a:rPr lang="zh-CN" altLang="en-US" dirty="0"/>
              <a:t>从你的样本中收集数据，并使用适当的公式计算检验统计量的值。</a:t>
            </a:r>
          </a:p>
          <a:p>
            <a:endParaRPr lang="zh-CN" altLang="en-US" dirty="0"/>
          </a:p>
          <a:p>
            <a:r>
              <a:rPr lang="en-US" altLang="zh-CN" b="1" dirty="0"/>
              <a:t>5. </a:t>
            </a:r>
            <a:r>
              <a:rPr lang="zh-CN" altLang="en-US" b="1" dirty="0"/>
              <a:t>确定拒绝域</a:t>
            </a:r>
          </a:p>
          <a:p>
            <a:r>
              <a:rPr lang="zh-CN" altLang="en-US" dirty="0"/>
              <a:t>根据检验统计量的分布和显著性水平，确定拒绝域。如果检验统计量的值落在拒绝域内，你将拒绝原假设。</a:t>
            </a:r>
          </a:p>
        </p:txBody>
      </p:sp>
    </p:spTree>
    <p:extLst>
      <p:ext uri="{BB962C8B-B14F-4D97-AF65-F5344CB8AC3E}">
        <p14:creationId xmlns:p14="http://schemas.microsoft.com/office/powerpoint/2010/main" val="272228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073BCC-2892-11DF-A4E4-3FCBA13BA5E5}"/>
              </a:ext>
            </a:extLst>
          </p:cNvPr>
          <p:cNvSpPr>
            <a:spLocks noGrp="1"/>
          </p:cNvSpPr>
          <p:nvPr>
            <p:ph type="title"/>
          </p:nvPr>
        </p:nvSpPr>
        <p:spPr/>
        <p:txBody>
          <a:bodyPr/>
          <a:lstStyle/>
          <a:p>
            <a:r>
              <a:rPr lang="zh-CN" altLang="en-US" dirty="0"/>
              <a:t>双侧检验、单侧检验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3628F8-4C3C-9CB3-BA94-7AFDB3277E1A}"/>
                  </a:ext>
                </a:extLst>
              </p:cNvPr>
              <p:cNvSpPr>
                <a:spLocks noGrp="1"/>
              </p:cNvSpPr>
              <p:nvPr>
                <p:ph idx="1"/>
              </p:nvPr>
            </p:nvSpPr>
            <p:spPr/>
            <p:txBody>
              <a:bodyPr/>
              <a:lstStyle/>
              <a:p>
                <a:r>
                  <a:rPr lang="zh-CN" altLang="en-US" dirty="0"/>
                  <a:t>双侧检验：</a:t>
                </a:r>
                <a:endParaRPr lang="en-US" altLang="zh-CN" dirty="0"/>
              </a:p>
              <a:p>
                <a:pPr algn="ct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𝐻</m:t>
                        </m:r>
                      </m:e>
                      <m:sub>
                        <m:r>
                          <a:rPr lang="en-GB" altLang="zh-CN" b="0" i="1" smtClean="0">
                            <a:latin typeface="Cambria Math" panose="02040503050406030204" pitchFamily="18" charset="0"/>
                          </a:rPr>
                          <m:t>0</m:t>
                        </m:r>
                      </m:sub>
                    </m:sSub>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oMath>
                </a14:m>
                <a:endParaRPr lang="en-US" altLang="zh-CN" dirty="0"/>
              </a:p>
              <a:p>
                <a:r>
                  <a:rPr lang="zh-CN" altLang="en-US" dirty="0"/>
                  <a:t>单侧检验：</a:t>
                </a:r>
                <a:endParaRPr lang="en-US" altLang="zh-CN" dirty="0"/>
              </a:p>
              <a:p>
                <a:pPr algn="ct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𝐻</m:t>
                        </m:r>
                      </m:e>
                      <m:sub>
                        <m:r>
                          <a:rPr lang="en-GB" altLang="zh-CN" b="0" i="1" smtClean="0">
                            <a:latin typeface="Cambria Math" panose="02040503050406030204" pitchFamily="18" charset="0"/>
                          </a:rPr>
                          <m:t>0</m:t>
                        </m:r>
                      </m:sub>
                    </m:sSub>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GB" altLang="zh-CN" b="0" i="1" smtClean="0">
                        <a:latin typeface="Cambria Math" panose="02040503050406030204" pitchFamily="18" charset="0"/>
                      </a:rPr>
                      <m:t>&lt;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oMath>
                </a14:m>
                <a:endParaRPr lang="en-US" altLang="zh-CN" dirty="0"/>
              </a:p>
              <a:p>
                <a:pPr algn="ct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𝐻</m:t>
                        </m:r>
                      </m:e>
                      <m:sub>
                        <m:r>
                          <a:rPr lang="en-GB" altLang="zh-CN" b="0" i="1" smtClean="0">
                            <a:latin typeface="Cambria Math" panose="02040503050406030204" pitchFamily="18" charset="0"/>
                          </a:rPr>
                          <m:t>0</m:t>
                        </m:r>
                      </m:sub>
                    </m:sSub>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&gt;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oMath>
                </a14:m>
                <a:endParaRPr lang="en-US" altLang="zh-CN" dirty="0"/>
              </a:p>
            </p:txBody>
          </p:sp>
        </mc:Choice>
        <mc:Fallback xmlns="">
          <p:sp>
            <p:nvSpPr>
              <p:cNvPr id="3" name="内容占位符 2">
                <a:extLst>
                  <a:ext uri="{FF2B5EF4-FFF2-40B4-BE49-F238E27FC236}">
                    <a16:creationId xmlns:a16="http://schemas.microsoft.com/office/drawing/2014/main" id="{613628F8-4C3C-9CB3-BA94-7AFDB3277E1A}"/>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946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69AB3-DFE5-1158-4F73-EFC9B877CEA3}"/>
              </a:ext>
            </a:extLst>
          </p:cNvPr>
          <p:cNvSpPr>
            <a:spLocks noGrp="1"/>
          </p:cNvSpPr>
          <p:nvPr>
            <p:ph type="title"/>
          </p:nvPr>
        </p:nvSpPr>
        <p:spPr/>
        <p:txBody>
          <a:bodyPr/>
          <a:lstStyle/>
          <a:p>
            <a:r>
              <a:rPr lang="zh-CN" altLang="en-US" b="1" i="0" dirty="0">
                <a:solidFill>
                  <a:srgbClr val="060607"/>
                </a:solidFill>
                <a:effectLst/>
                <a:latin typeface="PingFang SC"/>
              </a:rPr>
              <a:t>主要区别：</a:t>
            </a:r>
            <a:endParaRPr lang="zh-CN" altLang="en-US" dirty="0"/>
          </a:p>
        </p:txBody>
      </p:sp>
      <p:sp>
        <p:nvSpPr>
          <p:cNvPr id="3" name="内容占位符 2">
            <a:extLst>
              <a:ext uri="{FF2B5EF4-FFF2-40B4-BE49-F238E27FC236}">
                <a16:creationId xmlns:a16="http://schemas.microsoft.com/office/drawing/2014/main" id="{3F4E810E-DF7E-7991-301E-8DFDD73EA178}"/>
              </a:ext>
            </a:extLst>
          </p:cNvPr>
          <p:cNvSpPr>
            <a:spLocks noGrp="1"/>
          </p:cNvSpPr>
          <p:nvPr>
            <p:ph idx="1"/>
          </p:nvPr>
        </p:nvSpPr>
        <p:spPr/>
        <p:txBody>
          <a:bodyPr/>
          <a:lstStyle/>
          <a:p>
            <a:pPr algn="l">
              <a:buFont typeface="Arial" panose="020B0604020202020204" pitchFamily="34" charset="0"/>
              <a:buChar char="•"/>
            </a:pPr>
            <a:r>
              <a:rPr lang="zh-CN" altLang="en-US" b="1" i="0" dirty="0">
                <a:solidFill>
                  <a:srgbClr val="060607"/>
                </a:solidFill>
                <a:effectLst/>
                <a:latin typeface="PingFang SC"/>
              </a:rPr>
              <a:t>方向性</a:t>
            </a:r>
            <a:r>
              <a:rPr lang="zh-CN" altLang="en-US" b="0" i="0" dirty="0">
                <a:solidFill>
                  <a:srgbClr val="060607"/>
                </a:solidFill>
                <a:effectLst/>
                <a:latin typeface="PingFang SC"/>
              </a:rPr>
              <a:t>：双侧检验不关心变化的方向，而单侧检验关心特定的方向。</a:t>
            </a:r>
          </a:p>
          <a:p>
            <a:pPr algn="l">
              <a:buFont typeface="Arial" panose="020B0604020202020204" pitchFamily="34" charset="0"/>
              <a:buChar char="•"/>
            </a:pPr>
            <a:r>
              <a:rPr lang="zh-CN" altLang="en-US" b="1" i="0" dirty="0">
                <a:solidFill>
                  <a:srgbClr val="060607"/>
                </a:solidFill>
                <a:effectLst/>
                <a:latin typeface="PingFang SC"/>
              </a:rPr>
              <a:t>拒绝域</a:t>
            </a:r>
            <a:r>
              <a:rPr lang="zh-CN" altLang="en-US" b="0" i="0" dirty="0">
                <a:solidFill>
                  <a:srgbClr val="060607"/>
                </a:solidFill>
                <a:effectLst/>
                <a:latin typeface="PingFang SC"/>
              </a:rPr>
              <a:t>：双侧检验的拒绝域在分布的两端，单侧检验的拒绝域只在一端。</a:t>
            </a:r>
          </a:p>
          <a:p>
            <a:pPr algn="l">
              <a:buFont typeface="Arial" panose="020B0604020202020204" pitchFamily="34" charset="0"/>
              <a:buChar char="•"/>
            </a:pPr>
            <a:r>
              <a:rPr lang="en-US" altLang="zh-CN" b="1" i="0" dirty="0">
                <a:solidFill>
                  <a:srgbClr val="060607"/>
                </a:solidFill>
                <a:effectLst/>
                <a:latin typeface="PingFang SC"/>
              </a:rPr>
              <a:t>p</a:t>
            </a:r>
            <a:r>
              <a:rPr lang="zh-CN" altLang="en-US" b="1" i="0" dirty="0">
                <a:solidFill>
                  <a:srgbClr val="060607"/>
                </a:solidFill>
                <a:effectLst/>
                <a:latin typeface="PingFang SC"/>
              </a:rPr>
              <a:t>值</a:t>
            </a:r>
            <a:r>
              <a:rPr lang="zh-CN" altLang="en-US" b="0" i="0" dirty="0">
                <a:solidFill>
                  <a:srgbClr val="060607"/>
                </a:solidFill>
                <a:effectLst/>
                <a:latin typeface="PingFang SC"/>
              </a:rPr>
              <a:t>：在双侧检验中，</a:t>
            </a:r>
            <a:r>
              <a:rPr lang="en-US" altLang="zh-CN" b="0" i="0" dirty="0">
                <a:solidFill>
                  <a:srgbClr val="060607"/>
                </a:solidFill>
                <a:effectLst/>
                <a:latin typeface="PingFang SC"/>
              </a:rPr>
              <a:t>p</a:t>
            </a:r>
            <a:r>
              <a:rPr lang="zh-CN" altLang="en-US" b="0" i="0" dirty="0">
                <a:solidFill>
                  <a:srgbClr val="060607"/>
                </a:solidFill>
                <a:effectLst/>
                <a:latin typeface="PingFang SC"/>
              </a:rPr>
              <a:t>值是统计量在两个方向上出现的概率之和；而在单侧检验中，</a:t>
            </a:r>
            <a:r>
              <a:rPr lang="en-US" altLang="zh-CN" b="0" i="0" dirty="0">
                <a:solidFill>
                  <a:srgbClr val="060607"/>
                </a:solidFill>
                <a:effectLst/>
                <a:latin typeface="PingFang SC"/>
              </a:rPr>
              <a:t>p</a:t>
            </a:r>
            <a:r>
              <a:rPr lang="zh-CN" altLang="en-US" b="0" i="0" dirty="0">
                <a:solidFill>
                  <a:srgbClr val="060607"/>
                </a:solidFill>
                <a:effectLst/>
                <a:latin typeface="PingFang SC"/>
              </a:rPr>
              <a:t>值是统计量在特定方向上出现的概率。</a:t>
            </a:r>
          </a:p>
          <a:p>
            <a:pPr algn="l">
              <a:buFont typeface="Arial" panose="020B0604020202020204" pitchFamily="34" charset="0"/>
              <a:buChar char="•"/>
            </a:pPr>
            <a:r>
              <a:rPr lang="zh-CN" altLang="en-US" b="1" i="0" dirty="0">
                <a:solidFill>
                  <a:srgbClr val="060607"/>
                </a:solidFill>
                <a:effectLst/>
                <a:latin typeface="PingFang SC"/>
              </a:rPr>
              <a:t>统计功效</a:t>
            </a:r>
            <a:r>
              <a:rPr lang="zh-CN" altLang="en-US" b="0" i="0" dirty="0">
                <a:solidFill>
                  <a:srgbClr val="060607"/>
                </a:solidFill>
                <a:effectLst/>
                <a:latin typeface="PingFang SC"/>
              </a:rPr>
              <a:t>：在某些情况下，如果你的备择假设是正确的，单侧检验可能比双侧检验有更高的统计功效，因为它只关注一个方向的效应。</a:t>
            </a:r>
          </a:p>
          <a:p>
            <a:endParaRPr lang="zh-CN" altLang="en-US" dirty="0"/>
          </a:p>
        </p:txBody>
      </p:sp>
    </p:spTree>
    <p:extLst>
      <p:ext uri="{BB962C8B-B14F-4D97-AF65-F5344CB8AC3E}">
        <p14:creationId xmlns:p14="http://schemas.microsoft.com/office/powerpoint/2010/main" val="252160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7CC50-CCDF-1139-5889-C94764834D38}"/>
              </a:ext>
            </a:extLst>
          </p:cNvPr>
          <p:cNvSpPr>
            <a:spLocks noGrp="1"/>
          </p:cNvSpPr>
          <p:nvPr>
            <p:ph type="title"/>
          </p:nvPr>
        </p:nvSpPr>
        <p:spPr/>
        <p:txBody>
          <a:bodyPr/>
          <a:lstStyle/>
          <a:p>
            <a:r>
              <a:rPr lang="zh-CN" altLang="en-US" dirty="0"/>
              <a:t>正态分布的参数估计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3A6A653-D46D-A20E-700D-91154C1C8362}"/>
                  </a:ext>
                </a:extLst>
              </p:cNvPr>
              <p:cNvSpPr>
                <a:spLocks noGrp="1"/>
              </p:cNvSpPr>
              <p:nvPr>
                <p:ph idx="1"/>
              </p:nvPr>
            </p:nvSpPr>
            <p:spPr/>
            <p:txBody>
              <a:bodyPr>
                <a:normAutofit/>
              </a:bodyPr>
              <a:lstStyle/>
              <a:p>
                <a:r>
                  <a:rPr lang="zh-CN" altLang="en-US" dirty="0"/>
                  <a:t>从某厂生产的滚珠中随机抽取 </a:t>
                </a:r>
                <a:r>
                  <a:rPr lang="en-US" altLang="zh-CN" dirty="0"/>
                  <a:t>10 </a:t>
                </a:r>
                <a:r>
                  <a:rPr lang="zh-CN" altLang="en-US" dirty="0"/>
                  <a:t>个，测得滚珠的直径（单位：</a:t>
                </a:r>
                <a:r>
                  <a:rPr lang="en-US" altLang="zh-CN" dirty="0"/>
                  <a:t>mm</a:t>
                </a:r>
                <a:r>
                  <a:rPr lang="zh-CN" altLang="en-US" dirty="0"/>
                  <a:t>）如下：</a:t>
                </a:r>
                <a:endParaRPr lang="en-US" altLang="zh-CN" dirty="0"/>
              </a:p>
              <a:p>
                <a:r>
                  <a:rPr lang="en-US" altLang="zh-CN" dirty="0"/>
                  <a:t>15. 14     14.81     15.11     15.26     15.08     15. 17     15. 12     </a:t>
                </a:r>
                <a:br>
                  <a:rPr lang="en-US" altLang="zh-CN" dirty="0"/>
                </a:br>
                <a:r>
                  <a:rPr lang="en-US" altLang="zh-CN" dirty="0"/>
                  <a:t>14. 95     15.05     14.87 </a:t>
                </a:r>
              </a:p>
              <a:p>
                <a:r>
                  <a:rPr lang="zh-CN" altLang="en-US" dirty="0"/>
                  <a:t>若滚珠直径服从正态分布</a:t>
                </a:r>
                <a14:m>
                  <m:oMath xmlns:m="http://schemas.openxmlformats.org/officeDocument/2006/math">
                    <m:r>
                      <a:rPr lang="en-GB" altLang="zh-CN" b="0" i="1" smtClean="0">
                        <a:latin typeface="Cambria Math" panose="02040503050406030204" pitchFamily="18" charset="0"/>
                      </a:rPr>
                      <m:t>𝑁</m:t>
                    </m:r>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𝜎</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a14:m>
                <a:r>
                  <a:rPr lang="zh-CN" altLang="en-US" dirty="0"/>
                  <a:t> 其中 </a:t>
                </a:r>
                <a14:m>
                  <m:oMath xmlns:m="http://schemas.openxmlformats.org/officeDocument/2006/math">
                    <m:r>
                      <a:rPr lang="en-US" altLang="zh-CN" b="0" i="1" smtClean="0">
                        <a:latin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rPr>
                      <m:t>𝜎</m:t>
                    </m:r>
                  </m:oMath>
                </a14:m>
                <a:r>
                  <a:rPr lang="en-US" altLang="zh-CN" dirty="0"/>
                  <a:t> </a:t>
                </a:r>
                <a:r>
                  <a:rPr lang="zh-CN" altLang="en-US" dirty="0"/>
                  <a:t>未知，求</a:t>
                </a:r>
                <a14:m>
                  <m:oMath xmlns:m="http://schemas.openxmlformats.org/officeDocument/2006/math">
                    <m:r>
                      <a:rPr lang="en-US" altLang="zh-CN" b="0" i="1" smtClean="0">
                        <a:latin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rPr>
                      <m:t>𝜎</m:t>
                    </m:r>
                  </m:oMath>
                </a14:m>
                <a:r>
                  <a:rPr lang="en-US" altLang="zh-CN" dirty="0"/>
                  <a:t> </a:t>
                </a:r>
                <a:r>
                  <a:rPr lang="zh-CN" altLang="en-US" dirty="0"/>
                  <a:t>的最大似然估计和置信水平为</a:t>
                </a:r>
                <a:r>
                  <a:rPr lang="en-US" altLang="zh-CN" dirty="0"/>
                  <a:t>90%</a:t>
                </a:r>
                <a:r>
                  <a:rPr lang="zh-CN" altLang="en-US" dirty="0"/>
                  <a:t>的置信区间</a:t>
                </a:r>
                <a:r>
                  <a:rPr lang="en-US" altLang="zh-CN" dirty="0"/>
                  <a:t>  </a:t>
                </a:r>
              </a:p>
              <a:p>
                <a:r>
                  <a:rPr lang="en-GB" altLang="zh-CN" dirty="0"/>
                  <a:t>[</a:t>
                </a:r>
                <a:r>
                  <a:rPr lang="en-US" altLang="zh-CN" dirty="0"/>
                  <a:t>m</a:t>
                </a:r>
                <a:r>
                  <a:rPr lang="en-GB" altLang="zh-CN" dirty="0" err="1"/>
                  <a:t>uhat</a:t>
                </a:r>
                <a:r>
                  <a:rPr lang="en-GB" altLang="zh-CN" dirty="0"/>
                  <a:t>, </a:t>
                </a:r>
                <a:r>
                  <a:rPr lang="en-GB" altLang="zh-CN" dirty="0" err="1"/>
                  <a:t>sigmahat</a:t>
                </a:r>
                <a:r>
                  <a:rPr lang="en-GB" altLang="zh-CN" dirty="0"/>
                  <a:t>, </a:t>
                </a:r>
                <a:r>
                  <a:rPr lang="en-GB" altLang="zh-CN" dirty="0" err="1"/>
                  <a:t>muCI</a:t>
                </a:r>
                <a:r>
                  <a:rPr lang="en-GB" altLang="zh-CN" dirty="0"/>
                  <a:t>, </a:t>
                </a:r>
                <a:r>
                  <a:rPr lang="en-GB" altLang="zh-CN" dirty="0" err="1"/>
                  <a:t>sigmaCI</a:t>
                </a:r>
                <a:r>
                  <a:rPr lang="en-GB" altLang="zh-CN" dirty="0"/>
                  <a:t>] = </a:t>
                </a:r>
                <a:r>
                  <a:rPr lang="en-GB" altLang="zh-CN" dirty="0" err="1"/>
                  <a:t>normfit</a:t>
                </a:r>
                <a:r>
                  <a:rPr lang="en-GB" altLang="zh-CN" dirty="0"/>
                  <a:t>(</a:t>
                </a:r>
                <a:r>
                  <a:rPr lang="en-GB" altLang="zh-CN" dirty="0" err="1"/>
                  <a:t>x,alpha</a:t>
                </a:r>
                <a:r>
                  <a:rPr lang="en-GB" altLang="zh-CN" dirty="0"/>
                  <a:t>)</a:t>
                </a:r>
              </a:p>
              <a:p>
                <a:r>
                  <a:rPr lang="en-GB" altLang="zh-CN" dirty="0"/>
                  <a:t>alpha: </a:t>
                </a:r>
                <a:r>
                  <a:rPr lang="zh-CN" altLang="en-US" b="0" i="0" dirty="0">
                    <a:solidFill>
                      <a:srgbClr val="05073B"/>
                    </a:solidFill>
                    <a:effectLst/>
                    <a:latin typeface="-apple-system"/>
                  </a:rPr>
                  <a:t>指定置信区间的置信水平为</a:t>
                </a:r>
                <a:r>
                  <a:rPr lang="en-US" altLang="zh-CN" b="0" i="0" dirty="0">
                    <a:solidFill>
                      <a:srgbClr val="05073B"/>
                    </a:solidFill>
                    <a:effectLst/>
                    <a:latin typeface="-apple-system"/>
                  </a:rPr>
                  <a:t>100</a:t>
                </a:r>
                <a:r>
                  <a:rPr lang="en-US" altLang="zh-CN" dirty="0">
                    <a:solidFill>
                      <a:srgbClr val="05073B"/>
                    </a:solidFill>
                    <a:latin typeface="-apple-system"/>
                  </a:rPr>
                  <a:t>(</a:t>
                </a:r>
                <a:r>
                  <a:rPr lang="en-US" altLang="zh-CN" b="0" i="0" dirty="0">
                    <a:solidFill>
                      <a:srgbClr val="05073B"/>
                    </a:solidFill>
                    <a:effectLst/>
                    <a:latin typeface="-apple-system"/>
                  </a:rPr>
                  <a:t>1-alpha)%</a:t>
                </a:r>
                <a:endParaRPr lang="zh-CN" altLang="en-US" dirty="0"/>
              </a:p>
            </p:txBody>
          </p:sp>
        </mc:Choice>
        <mc:Fallback xmlns="">
          <p:sp>
            <p:nvSpPr>
              <p:cNvPr id="3" name="内容占位符 2">
                <a:extLst>
                  <a:ext uri="{FF2B5EF4-FFF2-40B4-BE49-F238E27FC236}">
                    <a16:creationId xmlns:a16="http://schemas.microsoft.com/office/drawing/2014/main" id="{13A6A653-D46D-A20E-700D-91154C1C8362}"/>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287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2C121B-F580-8DDE-AE4D-734695650E05}"/>
              </a:ext>
            </a:extLst>
          </p:cNvPr>
          <p:cNvSpPr>
            <a:spLocks noGrp="1"/>
          </p:cNvSpPr>
          <p:nvPr>
            <p:ph type="title"/>
          </p:nvPr>
        </p:nvSpPr>
        <p:spPr/>
        <p:txBody>
          <a:bodyPr/>
          <a:lstStyle/>
          <a:p>
            <a:r>
              <a:rPr lang="en-US" altLang="zh-CN" b="0" i="0" dirty="0">
                <a:solidFill>
                  <a:srgbClr val="05073B"/>
                </a:solidFill>
                <a:effectLst/>
                <a:latin typeface="-apple-system"/>
              </a:rPr>
              <a:t>U</a:t>
            </a:r>
            <a:r>
              <a:rPr lang="zh-CN" altLang="en-US" b="0" i="0" dirty="0">
                <a:solidFill>
                  <a:srgbClr val="05073B"/>
                </a:solidFill>
                <a:effectLst/>
                <a:latin typeface="-apple-system"/>
              </a:rPr>
              <a:t>检验</a:t>
            </a:r>
            <a:endParaRPr lang="zh-CN" altLang="en-US" dirty="0"/>
          </a:p>
        </p:txBody>
      </p:sp>
      <p:sp>
        <p:nvSpPr>
          <p:cNvPr id="3" name="内容占位符 2">
            <a:extLst>
              <a:ext uri="{FF2B5EF4-FFF2-40B4-BE49-F238E27FC236}">
                <a16:creationId xmlns:a16="http://schemas.microsoft.com/office/drawing/2014/main" id="{C2E2B12F-634E-182E-280E-972F7640B9C8}"/>
              </a:ext>
            </a:extLst>
          </p:cNvPr>
          <p:cNvSpPr>
            <a:spLocks noGrp="1"/>
          </p:cNvSpPr>
          <p:nvPr>
            <p:ph idx="1"/>
          </p:nvPr>
        </p:nvSpPr>
        <p:spPr/>
        <p:txBody>
          <a:bodyPr>
            <a:normAutofit lnSpcReduction="10000"/>
          </a:bodyPr>
          <a:lstStyle/>
          <a:p>
            <a:r>
              <a:rPr lang="en-US" altLang="zh-CN" b="0" i="0" dirty="0">
                <a:solidFill>
                  <a:srgbClr val="060607"/>
                </a:solidFill>
                <a:effectLst/>
                <a:latin typeface="PingFang SC"/>
              </a:rPr>
              <a:t>U</a:t>
            </a:r>
            <a:r>
              <a:rPr lang="zh-CN" altLang="en-US" b="0" i="0" dirty="0">
                <a:solidFill>
                  <a:srgbClr val="060607"/>
                </a:solidFill>
                <a:effectLst/>
                <a:latin typeface="PingFang SC"/>
              </a:rPr>
              <a:t>检验，全称为</a:t>
            </a:r>
            <a:r>
              <a:rPr lang="en-US" altLang="zh-CN" b="0" i="0" dirty="0">
                <a:solidFill>
                  <a:srgbClr val="060607"/>
                </a:solidFill>
                <a:effectLst/>
                <a:latin typeface="PingFang SC"/>
              </a:rPr>
              <a:t>Mann-Whitney U</a:t>
            </a:r>
            <a:r>
              <a:rPr lang="zh-CN" altLang="en-US" b="0" i="0" dirty="0">
                <a:solidFill>
                  <a:srgbClr val="060607"/>
                </a:solidFill>
                <a:effectLst/>
                <a:latin typeface="PingFang SC"/>
              </a:rPr>
              <a:t>检验，是一种非参数统计检验方法，用于比较</a:t>
            </a:r>
            <a:r>
              <a:rPr lang="zh-CN" altLang="en-US" b="1" i="0" dirty="0">
                <a:solidFill>
                  <a:srgbClr val="060607"/>
                </a:solidFill>
                <a:effectLst/>
                <a:latin typeface="PingFang SC"/>
              </a:rPr>
              <a:t>两个独立样本或群体的中位数是否存在显著差异。</a:t>
            </a:r>
            <a:r>
              <a:rPr lang="zh-CN" altLang="en-US" b="0" i="0" dirty="0">
                <a:solidFill>
                  <a:srgbClr val="060607"/>
                </a:solidFill>
                <a:effectLst/>
                <a:latin typeface="PingFang SC"/>
              </a:rPr>
              <a:t>它不需要数据满足正态分布的假设，适用于小样本数据（通常样本量小于</a:t>
            </a:r>
            <a:r>
              <a:rPr lang="en-US" altLang="zh-CN" b="0" i="0" dirty="0">
                <a:solidFill>
                  <a:srgbClr val="060607"/>
                </a:solidFill>
                <a:effectLst/>
                <a:latin typeface="PingFang SC"/>
              </a:rPr>
              <a:t>30</a:t>
            </a:r>
            <a:r>
              <a:rPr lang="zh-CN" altLang="en-US" b="0" i="0" dirty="0">
                <a:solidFill>
                  <a:srgbClr val="060607"/>
                </a:solidFill>
                <a:effectLst/>
                <a:latin typeface="PingFang SC"/>
              </a:rPr>
              <a:t>），并且对数据的分布形态要求不严格。</a:t>
            </a:r>
            <a:endParaRPr lang="en-US" altLang="zh-CN" b="0" i="0" dirty="0">
              <a:solidFill>
                <a:srgbClr val="060607"/>
              </a:solidFill>
              <a:effectLst/>
              <a:latin typeface="PingFang SC"/>
            </a:endParaRPr>
          </a:p>
          <a:p>
            <a:r>
              <a:rPr lang="en-US" altLang="zh-CN" b="0" i="0" dirty="0">
                <a:solidFill>
                  <a:srgbClr val="060607"/>
                </a:solidFill>
                <a:effectLst/>
                <a:latin typeface="PingFang SC"/>
              </a:rPr>
              <a:t>U</a:t>
            </a:r>
            <a:r>
              <a:rPr lang="zh-CN" altLang="en-US" b="0" i="0" dirty="0">
                <a:solidFill>
                  <a:srgbClr val="060607"/>
                </a:solidFill>
                <a:effectLst/>
                <a:latin typeface="PingFang SC"/>
              </a:rPr>
              <a:t>检验的基本思想是将两个样本合并并进行排序，然后计算每个样本中的观测值在合并样本中的累积排名。接着，根据这些排名计算两个样本的</a:t>
            </a:r>
            <a:r>
              <a:rPr lang="en-US" altLang="zh-CN" b="0" i="0" dirty="0">
                <a:solidFill>
                  <a:srgbClr val="060607"/>
                </a:solidFill>
                <a:effectLst/>
                <a:latin typeface="PingFang SC"/>
              </a:rPr>
              <a:t>U</a:t>
            </a:r>
            <a:r>
              <a:rPr lang="zh-CN" altLang="en-US" b="0" i="0" dirty="0">
                <a:solidFill>
                  <a:srgbClr val="060607"/>
                </a:solidFill>
                <a:effectLst/>
                <a:latin typeface="PingFang SC"/>
              </a:rPr>
              <a:t>值，最后通过</a:t>
            </a:r>
            <a:r>
              <a:rPr lang="en-US" altLang="zh-CN" b="0" i="0" dirty="0">
                <a:solidFill>
                  <a:srgbClr val="060607"/>
                </a:solidFill>
                <a:effectLst/>
                <a:latin typeface="PingFang SC"/>
              </a:rPr>
              <a:t>U</a:t>
            </a:r>
            <a:r>
              <a:rPr lang="zh-CN" altLang="en-US" b="0" i="0" dirty="0">
                <a:solidFill>
                  <a:srgbClr val="060607"/>
                </a:solidFill>
                <a:effectLst/>
                <a:latin typeface="PingFang SC"/>
              </a:rPr>
              <a:t>分布表或计算机软件来确定</a:t>
            </a:r>
            <a:r>
              <a:rPr lang="en-US" altLang="zh-CN" b="0" i="0" dirty="0">
                <a:solidFill>
                  <a:srgbClr val="060607"/>
                </a:solidFill>
                <a:effectLst/>
                <a:latin typeface="PingFang SC"/>
              </a:rPr>
              <a:t>U</a:t>
            </a:r>
            <a:r>
              <a:rPr lang="zh-CN" altLang="en-US" b="0" i="0" dirty="0">
                <a:solidFill>
                  <a:srgbClr val="060607"/>
                </a:solidFill>
                <a:effectLst/>
                <a:latin typeface="PingFang SC"/>
              </a:rPr>
              <a:t>值是否显著，从而推断两个样本的中位数是否有显著差异。</a:t>
            </a:r>
            <a:endParaRPr lang="en-US" altLang="zh-CN" dirty="0">
              <a:solidFill>
                <a:srgbClr val="060607"/>
              </a:solidFill>
              <a:latin typeface="PingFang SC"/>
            </a:endParaRPr>
          </a:p>
          <a:p>
            <a:r>
              <a:rPr lang="en-US" altLang="zh-CN" b="0" i="0" dirty="0">
                <a:solidFill>
                  <a:srgbClr val="060607"/>
                </a:solidFill>
                <a:effectLst/>
                <a:latin typeface="PingFang SC"/>
              </a:rPr>
              <a:t>U</a:t>
            </a:r>
            <a:r>
              <a:rPr lang="zh-CN" altLang="en-US" b="0" i="0" dirty="0">
                <a:solidFill>
                  <a:srgbClr val="060607"/>
                </a:solidFill>
                <a:effectLst/>
                <a:latin typeface="PingFang SC"/>
              </a:rPr>
              <a:t>检验的结果通常通过</a:t>
            </a:r>
            <a:r>
              <a:rPr lang="en-US" altLang="zh-CN" b="0" i="0" dirty="0">
                <a:solidFill>
                  <a:srgbClr val="060607"/>
                </a:solidFill>
                <a:effectLst/>
                <a:latin typeface="PingFang SC"/>
              </a:rPr>
              <a:t>p</a:t>
            </a:r>
            <a:r>
              <a:rPr lang="zh-CN" altLang="en-US" b="0" i="0" dirty="0">
                <a:solidFill>
                  <a:srgbClr val="060607"/>
                </a:solidFill>
                <a:effectLst/>
                <a:latin typeface="PingFang SC"/>
              </a:rPr>
              <a:t>值来表示，如果</a:t>
            </a:r>
            <a:r>
              <a:rPr lang="en-US" altLang="zh-CN" b="0" i="0" dirty="0">
                <a:solidFill>
                  <a:srgbClr val="060607"/>
                </a:solidFill>
                <a:effectLst/>
                <a:latin typeface="PingFang SC"/>
              </a:rPr>
              <a:t>p</a:t>
            </a:r>
            <a:r>
              <a:rPr lang="zh-CN" altLang="en-US" b="0" i="0" dirty="0">
                <a:solidFill>
                  <a:srgbClr val="060607"/>
                </a:solidFill>
                <a:effectLst/>
                <a:latin typeface="PingFang SC"/>
              </a:rPr>
              <a:t>值小于预先设定的显著性水平（如</a:t>
            </a:r>
            <a:r>
              <a:rPr lang="en-US" altLang="zh-CN" b="0" i="0" dirty="0">
                <a:solidFill>
                  <a:srgbClr val="060607"/>
                </a:solidFill>
                <a:effectLst/>
                <a:latin typeface="PingFang SC"/>
              </a:rPr>
              <a:t>0.05</a:t>
            </a:r>
            <a:r>
              <a:rPr lang="zh-CN" altLang="en-US" b="0" i="0" dirty="0">
                <a:solidFill>
                  <a:srgbClr val="060607"/>
                </a:solidFill>
                <a:effectLst/>
                <a:latin typeface="PingFang SC"/>
              </a:rPr>
              <a:t>），则拒绝原假设（两个样本来自同一总体的假设），认为两个样本的中位数存在显著差异。</a:t>
            </a:r>
            <a:endParaRPr lang="zh-CN" altLang="en-US" dirty="0"/>
          </a:p>
        </p:txBody>
      </p:sp>
    </p:spTree>
    <p:extLst>
      <p:ext uri="{BB962C8B-B14F-4D97-AF65-F5344CB8AC3E}">
        <p14:creationId xmlns:p14="http://schemas.microsoft.com/office/powerpoint/2010/main" val="440945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30042F-7737-3B30-487A-FB7625DE7388}"/>
              </a:ext>
            </a:extLst>
          </p:cNvPr>
          <p:cNvSpPr>
            <a:spLocks noGrp="1"/>
          </p:cNvSpPr>
          <p:nvPr>
            <p:ph type="title"/>
          </p:nvPr>
        </p:nvSpPr>
        <p:spPr/>
        <p:txBody>
          <a:bodyPr/>
          <a:lstStyle/>
          <a:p>
            <a:r>
              <a:rPr lang="en-US" altLang="zh-CN" b="0" i="0" dirty="0">
                <a:solidFill>
                  <a:srgbClr val="05073B"/>
                </a:solidFill>
                <a:effectLst/>
                <a:latin typeface="-apple-system"/>
              </a:rPr>
              <a:t>U</a:t>
            </a:r>
            <a:r>
              <a:rPr lang="zh-CN" altLang="en-US" b="0" i="0" dirty="0">
                <a:solidFill>
                  <a:srgbClr val="05073B"/>
                </a:solidFill>
                <a:effectLst/>
                <a:latin typeface="-apple-system"/>
              </a:rPr>
              <a:t>检验</a:t>
            </a:r>
            <a:endParaRPr lang="zh-CN" altLang="en-US" dirty="0"/>
          </a:p>
        </p:txBody>
      </p:sp>
      <p:sp>
        <p:nvSpPr>
          <p:cNvPr id="3" name="内容占位符 2">
            <a:extLst>
              <a:ext uri="{FF2B5EF4-FFF2-40B4-BE49-F238E27FC236}">
                <a16:creationId xmlns:a16="http://schemas.microsoft.com/office/drawing/2014/main" id="{ED5C1DF2-C4A0-B69F-95B1-9A9FB5EAC519}"/>
              </a:ext>
            </a:extLst>
          </p:cNvPr>
          <p:cNvSpPr>
            <a:spLocks noGrp="1"/>
          </p:cNvSpPr>
          <p:nvPr>
            <p:ph idx="1"/>
          </p:nvPr>
        </p:nvSpPr>
        <p:spPr/>
        <p:txBody>
          <a:bodyPr/>
          <a:lstStyle/>
          <a:p>
            <a:pPr algn="l">
              <a:buFont typeface="+mj-lt"/>
              <a:buAutoNum type="arabicPeriod"/>
            </a:pPr>
            <a:r>
              <a:rPr lang="zh-CN" altLang="en-US" b="0" i="0" dirty="0">
                <a:solidFill>
                  <a:srgbClr val="060607"/>
                </a:solidFill>
                <a:effectLst/>
                <a:latin typeface="PingFang SC"/>
              </a:rPr>
              <a:t>将两个样本合并，并对所有观测值进行排序。</a:t>
            </a:r>
          </a:p>
          <a:p>
            <a:pPr algn="l">
              <a:buFont typeface="+mj-lt"/>
              <a:buAutoNum type="arabicPeriod"/>
            </a:pPr>
            <a:r>
              <a:rPr lang="zh-CN" altLang="en-US" b="0" i="0" dirty="0">
                <a:solidFill>
                  <a:srgbClr val="060607"/>
                </a:solidFill>
                <a:effectLst/>
                <a:latin typeface="PingFang SC"/>
              </a:rPr>
              <a:t>计算每个观测值的排名（如果两个观测值相同，则给这两个观测值分配平均排名）。</a:t>
            </a:r>
          </a:p>
          <a:p>
            <a:pPr algn="l">
              <a:buFont typeface="+mj-lt"/>
              <a:buAutoNum type="arabicPeriod"/>
            </a:pPr>
            <a:r>
              <a:rPr lang="zh-CN" altLang="en-US" b="0" i="0" dirty="0">
                <a:solidFill>
                  <a:srgbClr val="060607"/>
                </a:solidFill>
                <a:effectLst/>
                <a:latin typeface="PingFang SC"/>
              </a:rPr>
              <a:t>计算每个样本的总排名和（即所有观测值的排名之和）。</a:t>
            </a:r>
          </a:p>
          <a:p>
            <a:pPr algn="l">
              <a:buFont typeface="+mj-lt"/>
              <a:buAutoNum type="arabicPeriod"/>
            </a:pPr>
            <a:r>
              <a:rPr lang="zh-CN" altLang="en-US" b="0" i="0" dirty="0">
                <a:solidFill>
                  <a:srgbClr val="060607"/>
                </a:solidFill>
                <a:effectLst/>
                <a:latin typeface="PingFang SC"/>
              </a:rPr>
              <a:t>根据总排名和计算两个样本的</a:t>
            </a:r>
            <a:r>
              <a:rPr lang="en-US" altLang="zh-CN" b="0" i="0" dirty="0">
                <a:solidFill>
                  <a:srgbClr val="060607"/>
                </a:solidFill>
                <a:effectLst/>
                <a:latin typeface="PingFang SC"/>
              </a:rPr>
              <a:t>U</a:t>
            </a:r>
            <a:r>
              <a:rPr lang="zh-CN" altLang="en-US" b="0" i="0" dirty="0">
                <a:solidFill>
                  <a:srgbClr val="060607"/>
                </a:solidFill>
                <a:effectLst/>
                <a:latin typeface="PingFang SC"/>
              </a:rPr>
              <a:t>值。</a:t>
            </a:r>
          </a:p>
          <a:p>
            <a:pPr algn="l">
              <a:buFont typeface="+mj-lt"/>
              <a:buAutoNum type="arabicPeriod"/>
            </a:pPr>
            <a:r>
              <a:rPr lang="zh-CN" altLang="en-US" b="0" i="0" dirty="0">
                <a:solidFill>
                  <a:srgbClr val="060607"/>
                </a:solidFill>
                <a:effectLst/>
                <a:latin typeface="PingFang SC"/>
              </a:rPr>
              <a:t>利用</a:t>
            </a:r>
            <a:r>
              <a:rPr lang="en-US" altLang="zh-CN" b="0" i="0" dirty="0">
                <a:solidFill>
                  <a:srgbClr val="060607"/>
                </a:solidFill>
                <a:effectLst/>
                <a:latin typeface="PingFang SC"/>
              </a:rPr>
              <a:t>U</a:t>
            </a:r>
            <a:r>
              <a:rPr lang="zh-CN" altLang="en-US" b="0" i="0" dirty="0">
                <a:solidFill>
                  <a:srgbClr val="060607"/>
                </a:solidFill>
                <a:effectLst/>
                <a:latin typeface="PingFang SC"/>
              </a:rPr>
              <a:t>分布表或软件来确定</a:t>
            </a:r>
            <a:r>
              <a:rPr lang="en-US" altLang="zh-CN" b="0" i="0" dirty="0">
                <a:solidFill>
                  <a:srgbClr val="060607"/>
                </a:solidFill>
                <a:effectLst/>
                <a:latin typeface="PingFang SC"/>
              </a:rPr>
              <a:t>U</a:t>
            </a:r>
            <a:r>
              <a:rPr lang="zh-CN" altLang="en-US" b="0" i="0" dirty="0">
                <a:solidFill>
                  <a:srgbClr val="060607"/>
                </a:solidFill>
                <a:effectLst/>
                <a:latin typeface="PingFang SC"/>
              </a:rPr>
              <a:t>值的显著性。</a:t>
            </a:r>
          </a:p>
          <a:p>
            <a:endParaRPr lang="zh-CN" altLang="en-US" dirty="0"/>
          </a:p>
        </p:txBody>
      </p:sp>
    </p:spTree>
    <p:extLst>
      <p:ext uri="{BB962C8B-B14F-4D97-AF65-F5344CB8AC3E}">
        <p14:creationId xmlns:p14="http://schemas.microsoft.com/office/powerpoint/2010/main" val="1688595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423DDF-9D50-8B82-6273-6E4574F20BDB}"/>
              </a:ext>
            </a:extLst>
          </p:cNvPr>
          <p:cNvSpPr>
            <a:spLocks noGrp="1"/>
          </p:cNvSpPr>
          <p:nvPr>
            <p:ph type="title"/>
          </p:nvPr>
        </p:nvSpPr>
        <p:spPr/>
        <p:txBody>
          <a:bodyPr/>
          <a:lstStyle/>
          <a:p>
            <a:r>
              <a:rPr lang="zh-CN" altLang="en-US" dirty="0"/>
              <a:t>总体标准差已知时的单个正态总体均值的 </a:t>
            </a:r>
            <a:r>
              <a:rPr lang="en-US" altLang="zh-CN" dirty="0"/>
              <a:t>U </a:t>
            </a:r>
            <a:r>
              <a:rPr lang="zh-CN" altLang="en-US" dirty="0"/>
              <a:t>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7C9EC2A-4921-BD4E-9F64-73488D74398B}"/>
                  </a:ext>
                </a:extLst>
              </p:cNvPr>
              <p:cNvSpPr>
                <a:spLocks noGrp="1"/>
              </p:cNvSpPr>
              <p:nvPr>
                <p:ph idx="1"/>
              </p:nvPr>
            </p:nvSpPr>
            <p:spPr/>
            <p:txBody>
              <a:bodyPr/>
              <a:lstStyle/>
              <a:p>
                <a:r>
                  <a:rPr lang="zh-CN" altLang="en-US" dirty="0"/>
                  <a:t>某切割机正常工作时，切割的金属棒的长度服从正态分布 </a:t>
                </a:r>
                <a14:m>
                  <m:oMath xmlns:m="http://schemas.openxmlformats.org/officeDocument/2006/math">
                    <m:r>
                      <a:rPr lang="en-US" altLang="zh-CN" i="1" dirty="0" smtClean="0">
                        <a:latin typeface="Cambria Math" panose="02040503050406030204" pitchFamily="18" charset="0"/>
                      </a:rPr>
                      <m:t>𝑁</m:t>
                    </m:r>
                    <m:r>
                      <a:rPr lang="en-US" altLang="zh-CN" i="1" dirty="0" smtClean="0">
                        <a:latin typeface="Cambria Math" panose="02040503050406030204" pitchFamily="18" charset="0"/>
                      </a:rPr>
                      <m:t>(100,4)</m:t>
                    </m:r>
                  </m:oMath>
                </a14:m>
                <a:r>
                  <a:rPr lang="zh-CN" altLang="en-US" dirty="0"/>
                  <a:t>。从该切割机切割的一批金属棒中随机抽取 </a:t>
                </a:r>
                <a:r>
                  <a:rPr lang="en-US" altLang="zh-CN" dirty="0"/>
                  <a:t>15 </a:t>
                </a:r>
                <a:r>
                  <a:rPr lang="zh-CN" altLang="en-US" dirty="0"/>
                  <a:t>根 ，测得它们的长度</a:t>
                </a:r>
                <a:r>
                  <a:rPr lang="en-US" altLang="zh-CN" dirty="0"/>
                  <a:t>(</a:t>
                </a:r>
                <a:r>
                  <a:rPr lang="zh-CN" altLang="en-US" dirty="0"/>
                  <a:t>单位：</a:t>
                </a:r>
                <a:r>
                  <a:rPr lang="en-US" altLang="zh-CN" dirty="0"/>
                  <a:t>mm)</a:t>
                </a:r>
                <a:r>
                  <a:rPr lang="zh-CN" altLang="en-US" dirty="0"/>
                  <a:t>如下：</a:t>
                </a:r>
              </a:p>
              <a:p>
                <a:r>
                  <a:rPr lang="en-US" altLang="zh-CN" dirty="0"/>
                  <a:t>97     102     105     112     99     103     102     94</a:t>
                </a:r>
              </a:p>
              <a:p>
                <a:r>
                  <a:rPr lang="en-US" altLang="zh-CN" dirty="0"/>
                  <a:t>100     95     105     98     102     100     103</a:t>
                </a:r>
              </a:p>
              <a:p>
                <a:r>
                  <a:rPr lang="zh-CN" altLang="en-US" dirty="0"/>
                  <a:t>假设总体方差不变，试检验该切割机工作是否正常，即总体均值是否等于 </a:t>
                </a:r>
                <a:r>
                  <a:rPr lang="en-US" altLang="zh-CN" dirty="0"/>
                  <a:t>100 mm? </a:t>
                </a:r>
                <a:r>
                  <a:rPr lang="zh-CN" altLang="en-US" dirty="0"/>
                  <a:t>取显著性水平 </a:t>
                </a:r>
                <a:r>
                  <a:rPr lang="en-US" altLang="zh-CN" dirty="0"/>
                  <a:t>a=0.05</a:t>
                </a:r>
                <a:r>
                  <a:rPr lang="zh-CN" altLang="en-US" dirty="0"/>
                  <a:t>。</a:t>
                </a:r>
              </a:p>
            </p:txBody>
          </p:sp>
        </mc:Choice>
        <mc:Fallback xmlns="">
          <p:sp>
            <p:nvSpPr>
              <p:cNvPr id="3" name="内容占位符 2">
                <a:extLst>
                  <a:ext uri="{FF2B5EF4-FFF2-40B4-BE49-F238E27FC236}">
                    <a16:creationId xmlns:a16="http://schemas.microsoft.com/office/drawing/2014/main" id="{F7C9EC2A-4921-BD4E-9F64-73488D74398B}"/>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4322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B91A8-15EE-0603-740B-F2D6BE9B6362}"/>
              </a:ext>
            </a:extLst>
          </p:cNvPr>
          <p:cNvSpPr>
            <a:spLocks noGrp="1"/>
          </p:cNvSpPr>
          <p:nvPr>
            <p:ph type="title"/>
          </p:nvPr>
        </p:nvSpPr>
        <p:spPr/>
        <p:txBody>
          <a:bodyPr/>
          <a:lstStyle/>
          <a:p>
            <a:r>
              <a:rPr lang="zh-CN" altLang="en-US" dirty="0"/>
              <a:t>总体标准差已知时的单个正态总体均值的 </a:t>
            </a:r>
            <a:r>
              <a:rPr lang="en-US" altLang="zh-CN" dirty="0"/>
              <a:t>U </a:t>
            </a:r>
            <a:r>
              <a:rPr lang="zh-CN" altLang="en-US" dirty="0"/>
              <a:t>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17A00BB-EA20-75E0-1383-1B74E5120EB2}"/>
                  </a:ext>
                </a:extLst>
              </p:cNvPr>
              <p:cNvSpPr>
                <a:spLocks noGrp="1"/>
              </p:cNvSpPr>
              <p:nvPr>
                <p:ph idx="1"/>
              </p:nvPr>
            </p:nvSpPr>
            <p:spPr/>
            <p:txBody>
              <a:bodyPr/>
              <a:lstStyle/>
              <a:p>
                <a:r>
                  <a:rPr lang="zh-CN" altLang="en-US" dirty="0"/>
                  <a:t>这是总体标准差已知时的 单个正 态总体 均值的检验，根据题目要求可写 出如下假设：</a:t>
                </a:r>
                <a:endParaRPr lang="en-US" altLang="zh-CN" dirty="0"/>
              </a:p>
              <a:p>
                <a:endParaRPr lang="en-US" altLang="zh-CN" dirty="0"/>
              </a:p>
              <a:p>
                <a:pPr marL="0" indent="0" algn="ctr">
                  <a:buNone/>
                </a:pPr>
                <a14:m>
                  <m:oMathPara xmlns:m="http://schemas.openxmlformats.org/officeDocument/2006/math">
                    <m:oMathParaPr>
                      <m:jc m:val="centerGroup"/>
                    </m:oMathParaPr>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𝐻</m:t>
                          </m:r>
                        </m:e>
                        <m:sub>
                          <m:r>
                            <a:rPr lang="en-GB" altLang="zh-CN" b="0" i="1" smtClean="0">
                              <a:latin typeface="Cambria Math" panose="02040503050406030204" pitchFamily="18" charset="0"/>
                            </a:rPr>
                            <m:t>0</m:t>
                          </m:r>
                        </m:sub>
                      </m:sSub>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=100,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0</m:t>
                          </m:r>
                        </m:sub>
                      </m:sSub>
                    </m:oMath>
                  </m:oMathPara>
                </a14:m>
                <a:endParaRPr lang="en-US" altLang="zh-CN" b="0" dirty="0"/>
              </a:p>
              <a:p>
                <a:endParaRPr lang="en-US" altLang="zh-CN" dirty="0"/>
              </a:p>
              <a:p>
                <a:r>
                  <a:rPr lang="en-US" altLang="zh-CN" dirty="0"/>
                  <a:t>[</a:t>
                </a:r>
                <a:r>
                  <a:rPr lang="en-US" altLang="zh-CN" dirty="0" err="1"/>
                  <a:t>h,p,ci,zval</a:t>
                </a:r>
                <a:r>
                  <a:rPr lang="en-US" altLang="zh-CN" dirty="0"/>
                  <a:t>] = </a:t>
                </a:r>
                <a:r>
                  <a:rPr lang="en-US" altLang="zh-CN" dirty="0" err="1"/>
                  <a:t>ztest</a:t>
                </a:r>
                <a:r>
                  <a:rPr lang="en-US" altLang="zh-CN" dirty="0"/>
                  <a:t>(</a:t>
                </a:r>
                <a:r>
                  <a:rPr lang="en-US" altLang="zh-CN" dirty="0" err="1"/>
                  <a:t>x,m,sigma,Name,Value</a:t>
                </a:r>
                <a:r>
                  <a:rPr lang="en-US" altLang="zh-CN" dirty="0"/>
                  <a:t>)</a:t>
                </a:r>
              </a:p>
              <a:p>
                <a:r>
                  <a:rPr lang="en-US" altLang="zh-CN" dirty="0"/>
                  <a:t>[</a:t>
                </a:r>
                <a:r>
                  <a:rPr lang="en-US" altLang="zh-CN" dirty="0" err="1"/>
                  <a:t>h,p,ci,zval</a:t>
                </a:r>
                <a:r>
                  <a:rPr lang="en-US" altLang="zh-CN" dirty="0"/>
                  <a:t>] = </a:t>
                </a:r>
                <a:r>
                  <a:rPr lang="en-US" altLang="zh-CN" dirty="0" err="1"/>
                  <a:t>ztest</a:t>
                </a:r>
                <a:r>
                  <a:rPr lang="en-US" altLang="zh-CN" dirty="0"/>
                  <a:t>(x,100, 2, 'Alpha’, 0.05)</a:t>
                </a:r>
              </a:p>
              <a:p>
                <a:endParaRPr lang="en-US" altLang="zh-CN" b="0" dirty="0"/>
              </a:p>
              <a:p>
                <a:pPr marL="0" indent="0" algn="ctr">
                  <a:buNone/>
                </a:pPr>
                <a:endParaRPr lang="en-US" altLang="zh-CN" b="0" dirty="0"/>
              </a:p>
            </p:txBody>
          </p:sp>
        </mc:Choice>
        <mc:Fallback xmlns="">
          <p:sp>
            <p:nvSpPr>
              <p:cNvPr id="3" name="内容占位符 2">
                <a:extLst>
                  <a:ext uri="{FF2B5EF4-FFF2-40B4-BE49-F238E27FC236}">
                    <a16:creationId xmlns:a16="http://schemas.microsoft.com/office/drawing/2014/main" id="{D17A00BB-EA20-75E0-1383-1B74E5120EB2}"/>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6352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F7F76-7D1F-D3EB-A4B0-C37F3A0ADFAA}"/>
              </a:ext>
            </a:extLst>
          </p:cNvPr>
          <p:cNvSpPr>
            <a:spLocks noGrp="1"/>
          </p:cNvSpPr>
          <p:nvPr>
            <p:ph type="title"/>
          </p:nvPr>
        </p:nvSpPr>
        <p:spPr/>
        <p:txBody>
          <a:bodyPr/>
          <a:lstStyle/>
          <a:p>
            <a:r>
              <a:rPr lang="en-US" altLang="zh-CN" dirty="0"/>
              <a:t>t</a:t>
            </a:r>
            <a:r>
              <a:rPr lang="zh-CN" altLang="en-US" dirty="0"/>
              <a:t>检验</a:t>
            </a:r>
          </a:p>
        </p:txBody>
      </p:sp>
      <p:sp>
        <p:nvSpPr>
          <p:cNvPr id="3" name="内容占位符 2">
            <a:extLst>
              <a:ext uri="{FF2B5EF4-FFF2-40B4-BE49-F238E27FC236}">
                <a16:creationId xmlns:a16="http://schemas.microsoft.com/office/drawing/2014/main" id="{CFB29244-8DB3-135C-80A4-3E955FE7E4CF}"/>
              </a:ext>
            </a:extLst>
          </p:cNvPr>
          <p:cNvSpPr>
            <a:spLocks noGrp="1"/>
          </p:cNvSpPr>
          <p:nvPr>
            <p:ph idx="1"/>
          </p:nvPr>
        </p:nvSpPr>
        <p:spPr/>
        <p:txBody>
          <a:bodyPr>
            <a:normAutofit lnSpcReduction="10000"/>
          </a:bodyPr>
          <a:lstStyle/>
          <a:p>
            <a:r>
              <a:rPr lang="en-US" altLang="zh-CN" b="0" i="0" dirty="0">
                <a:solidFill>
                  <a:srgbClr val="060607"/>
                </a:solidFill>
                <a:effectLst/>
                <a:latin typeface="PingFang SC"/>
              </a:rPr>
              <a:t>t</a:t>
            </a:r>
            <a:r>
              <a:rPr lang="zh-CN" altLang="en-US" b="0" i="0" dirty="0">
                <a:solidFill>
                  <a:srgbClr val="060607"/>
                </a:solidFill>
                <a:effectLst/>
                <a:latin typeface="PingFang SC"/>
              </a:rPr>
              <a:t>检验（</a:t>
            </a:r>
            <a:r>
              <a:rPr lang="en-US" altLang="zh-CN" b="0" i="0" dirty="0">
                <a:solidFill>
                  <a:srgbClr val="060607"/>
                </a:solidFill>
                <a:effectLst/>
                <a:latin typeface="PingFang SC"/>
              </a:rPr>
              <a:t>Student's t-test</a:t>
            </a:r>
            <a:r>
              <a:rPr lang="zh-CN" altLang="en-US" b="0" i="0" dirty="0">
                <a:solidFill>
                  <a:srgbClr val="060607"/>
                </a:solidFill>
                <a:effectLst/>
                <a:latin typeface="PingFang SC"/>
              </a:rPr>
              <a:t>），又称为学生</a:t>
            </a:r>
            <a:r>
              <a:rPr lang="en-US" altLang="zh-CN" b="0" i="0" dirty="0">
                <a:solidFill>
                  <a:srgbClr val="060607"/>
                </a:solidFill>
                <a:effectLst/>
                <a:latin typeface="PingFang SC"/>
              </a:rPr>
              <a:t>t</a:t>
            </a:r>
            <a:r>
              <a:rPr lang="zh-CN" altLang="en-US" b="0" i="0" dirty="0">
                <a:solidFill>
                  <a:srgbClr val="060607"/>
                </a:solidFill>
                <a:effectLst/>
                <a:latin typeface="PingFang SC"/>
              </a:rPr>
              <a:t>检验，是一种统计检验方法，用于比较两组数据的均值是否存在显著差异。</a:t>
            </a:r>
            <a:r>
              <a:rPr lang="en-US" altLang="zh-CN" b="0" i="0" dirty="0">
                <a:solidFill>
                  <a:srgbClr val="060607"/>
                </a:solidFill>
                <a:effectLst/>
                <a:latin typeface="PingFang SC"/>
              </a:rPr>
              <a:t>t</a:t>
            </a:r>
            <a:r>
              <a:rPr lang="zh-CN" altLang="en-US" b="0" i="0" dirty="0">
                <a:solidFill>
                  <a:srgbClr val="060607"/>
                </a:solidFill>
                <a:effectLst/>
                <a:latin typeface="PingFang SC"/>
              </a:rPr>
              <a:t>检验主要有两种类型：单样本</a:t>
            </a:r>
            <a:r>
              <a:rPr lang="en-US" altLang="zh-CN" b="0" i="0" dirty="0">
                <a:solidFill>
                  <a:srgbClr val="060607"/>
                </a:solidFill>
                <a:effectLst/>
                <a:latin typeface="PingFang SC"/>
              </a:rPr>
              <a:t>t</a:t>
            </a:r>
            <a:r>
              <a:rPr lang="zh-CN" altLang="en-US" b="0" i="0" dirty="0">
                <a:solidFill>
                  <a:srgbClr val="060607"/>
                </a:solidFill>
                <a:effectLst/>
                <a:latin typeface="PingFang SC"/>
              </a:rPr>
              <a:t>检验和双样本</a:t>
            </a:r>
            <a:r>
              <a:rPr lang="en-US" altLang="zh-CN" b="0" i="0" dirty="0">
                <a:solidFill>
                  <a:srgbClr val="060607"/>
                </a:solidFill>
                <a:effectLst/>
                <a:latin typeface="PingFang SC"/>
              </a:rPr>
              <a:t>t</a:t>
            </a:r>
            <a:r>
              <a:rPr lang="zh-CN" altLang="en-US" b="0" i="0" dirty="0">
                <a:solidFill>
                  <a:srgbClr val="060607"/>
                </a:solidFill>
                <a:effectLst/>
                <a:latin typeface="PingFang SC"/>
              </a:rPr>
              <a:t>检验。</a:t>
            </a:r>
            <a:endParaRPr lang="en-US" altLang="zh-CN" b="0" i="0" dirty="0">
              <a:solidFill>
                <a:srgbClr val="060607"/>
              </a:solidFill>
              <a:effectLst/>
              <a:latin typeface="PingFang SC"/>
            </a:endParaRPr>
          </a:p>
          <a:p>
            <a:r>
              <a:rPr lang="zh-CN" altLang="en-US" b="0" i="0" dirty="0">
                <a:solidFill>
                  <a:srgbClr val="060607"/>
                </a:solidFill>
                <a:effectLst/>
                <a:latin typeface="PingFang SC"/>
              </a:rPr>
              <a:t>单样本</a:t>
            </a:r>
            <a:r>
              <a:rPr lang="en-US" altLang="zh-CN" b="0" i="0" dirty="0">
                <a:solidFill>
                  <a:srgbClr val="060607"/>
                </a:solidFill>
                <a:effectLst/>
                <a:latin typeface="PingFang SC"/>
              </a:rPr>
              <a:t>t</a:t>
            </a:r>
            <a:r>
              <a:rPr lang="zh-CN" altLang="en-US" b="0" i="0" dirty="0">
                <a:solidFill>
                  <a:srgbClr val="060607"/>
                </a:solidFill>
                <a:effectLst/>
                <a:latin typeface="PingFang SC"/>
              </a:rPr>
              <a:t>检验用于比较单个样本的均值与已知的总体均值之间是否存在显著差异。</a:t>
            </a:r>
            <a:endParaRPr lang="en-US" altLang="zh-CN" dirty="0">
              <a:solidFill>
                <a:srgbClr val="060607"/>
              </a:solidFill>
              <a:latin typeface="PingFang SC"/>
            </a:endParaRPr>
          </a:p>
          <a:p>
            <a:r>
              <a:rPr lang="zh-CN" altLang="en-US" b="0" i="0" dirty="0">
                <a:solidFill>
                  <a:srgbClr val="060607"/>
                </a:solidFill>
                <a:effectLst/>
                <a:latin typeface="PingFang SC"/>
              </a:rPr>
              <a:t>双样本</a:t>
            </a:r>
            <a:r>
              <a:rPr lang="en-US" altLang="zh-CN" b="0" i="0" dirty="0">
                <a:solidFill>
                  <a:srgbClr val="060607"/>
                </a:solidFill>
                <a:effectLst/>
                <a:latin typeface="PingFang SC"/>
              </a:rPr>
              <a:t>t</a:t>
            </a:r>
            <a:r>
              <a:rPr lang="zh-CN" altLang="en-US" b="0" i="0" dirty="0">
                <a:solidFill>
                  <a:srgbClr val="060607"/>
                </a:solidFill>
                <a:effectLst/>
                <a:latin typeface="PingFang SC"/>
              </a:rPr>
              <a:t>检验用于比较两个独立样本的均值是否存在显著差异。这种检验假设两个样本来自正态分布的总体，并且这两个总体具有相同的方差。</a:t>
            </a:r>
            <a:endParaRPr lang="en-US" altLang="zh-CN" b="0" i="0" dirty="0">
              <a:solidFill>
                <a:srgbClr val="060607"/>
              </a:solidFill>
              <a:effectLst/>
              <a:latin typeface="PingFang SC"/>
            </a:endParaRPr>
          </a:p>
          <a:p>
            <a:r>
              <a:rPr lang="zh-CN" altLang="en-US" b="0" i="0" dirty="0">
                <a:solidFill>
                  <a:srgbClr val="060607"/>
                </a:solidFill>
                <a:effectLst/>
                <a:latin typeface="PingFang SC"/>
              </a:rPr>
              <a:t>当样本量较大时，根据中心极限定理，即使总体分布不是正态分布，</a:t>
            </a:r>
            <a:r>
              <a:rPr lang="en-US" altLang="zh-CN" b="0" i="0" dirty="0">
                <a:solidFill>
                  <a:srgbClr val="060607"/>
                </a:solidFill>
                <a:effectLst/>
                <a:latin typeface="PingFang SC"/>
              </a:rPr>
              <a:t>t</a:t>
            </a:r>
            <a:r>
              <a:rPr lang="zh-CN" altLang="en-US" b="0" i="0" dirty="0">
                <a:solidFill>
                  <a:srgbClr val="060607"/>
                </a:solidFill>
                <a:effectLst/>
                <a:latin typeface="PingFang SC"/>
              </a:rPr>
              <a:t>检验仍然是适用的。然而，当样本量较小且总体分布明显偏离正态分布时，应考虑使用非参数检验，如</a:t>
            </a:r>
            <a:r>
              <a:rPr lang="en-US" altLang="zh-CN" b="0" i="0" dirty="0">
                <a:solidFill>
                  <a:srgbClr val="060607"/>
                </a:solidFill>
                <a:effectLst/>
                <a:latin typeface="PingFang SC"/>
              </a:rPr>
              <a:t>Mann-Whitney U</a:t>
            </a:r>
            <a:r>
              <a:rPr lang="zh-CN" altLang="en-US" b="0" i="0" dirty="0">
                <a:solidFill>
                  <a:srgbClr val="060607"/>
                </a:solidFill>
                <a:effectLst/>
                <a:latin typeface="PingFang SC"/>
              </a:rPr>
              <a:t>检验。</a:t>
            </a:r>
            <a:endParaRPr lang="zh-CN" altLang="en-US" dirty="0"/>
          </a:p>
        </p:txBody>
      </p:sp>
    </p:spTree>
    <p:extLst>
      <p:ext uri="{BB962C8B-B14F-4D97-AF65-F5344CB8AC3E}">
        <p14:creationId xmlns:p14="http://schemas.microsoft.com/office/powerpoint/2010/main" val="2560979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738E25-E7D9-1C04-B550-89B41C8AE8E2}"/>
              </a:ext>
            </a:extLst>
          </p:cNvPr>
          <p:cNvSpPr>
            <a:spLocks noGrp="1"/>
          </p:cNvSpPr>
          <p:nvPr>
            <p:ph type="title"/>
          </p:nvPr>
        </p:nvSpPr>
        <p:spPr/>
        <p:txBody>
          <a:bodyPr/>
          <a:lstStyle/>
          <a:p>
            <a:r>
              <a:rPr lang="en-US" altLang="zh-CN" dirty="0"/>
              <a:t>t</a:t>
            </a:r>
            <a:r>
              <a:rPr lang="zh-CN" altLang="en-US" dirty="0"/>
              <a:t>检验</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4ADEB92-F125-0241-833C-A468D1352A27}"/>
                  </a:ext>
                </a:extLst>
              </p:cNvPr>
              <p:cNvSpPr>
                <a:spLocks noGrp="1"/>
              </p:cNvSpPr>
              <p:nvPr>
                <p:ph idx="1"/>
              </p:nvPr>
            </p:nvSpPr>
            <p:spPr/>
            <p:txBody>
              <a:bodyPr>
                <a:normAutofit lnSpcReduction="10000"/>
              </a:bodyPr>
              <a:lstStyle/>
              <a:p>
                <a:pPr algn="l">
                  <a:buFont typeface="+mj-lt"/>
                  <a:buAutoNum type="arabicPeriod"/>
                </a:pPr>
                <a:r>
                  <a:rPr lang="zh-CN" altLang="en-US" b="1" i="0" dirty="0">
                    <a:solidFill>
                      <a:srgbClr val="060607"/>
                    </a:solidFill>
                    <a:effectLst/>
                    <a:latin typeface="PingFang SC"/>
                  </a:rPr>
                  <a:t>计算</a:t>
                </a:r>
                <a:r>
                  <a:rPr lang="en-US" altLang="zh-CN" b="1" i="0" dirty="0">
                    <a:solidFill>
                      <a:srgbClr val="060607"/>
                    </a:solidFill>
                    <a:effectLst/>
                    <a:latin typeface="PingFang SC"/>
                  </a:rPr>
                  <a:t>t</a:t>
                </a:r>
                <a:r>
                  <a:rPr lang="zh-CN" altLang="en-US" b="1" i="0" dirty="0">
                    <a:solidFill>
                      <a:srgbClr val="060607"/>
                    </a:solidFill>
                    <a:effectLst/>
                    <a:latin typeface="PingFang SC"/>
                  </a:rPr>
                  <a:t>统计量</a:t>
                </a:r>
                <a:r>
                  <a:rPr lang="zh-CN" altLang="en-US" b="0" i="0" dirty="0">
                    <a:solidFill>
                      <a:srgbClr val="060607"/>
                    </a:solidFill>
                    <a:effectLst/>
                    <a:latin typeface="PingFang SC"/>
                  </a:rPr>
                  <a:t>：使用样本数据计算</a:t>
                </a:r>
                <a:r>
                  <a:rPr lang="en-US" altLang="zh-CN" b="0" i="0" dirty="0">
                    <a:solidFill>
                      <a:srgbClr val="060607"/>
                    </a:solidFill>
                    <a:effectLst/>
                    <a:latin typeface="PingFang SC"/>
                  </a:rPr>
                  <a:t>t</a:t>
                </a:r>
                <a:r>
                  <a:rPr lang="zh-CN" altLang="en-US" b="0" i="0" dirty="0">
                    <a:solidFill>
                      <a:srgbClr val="060607"/>
                    </a:solidFill>
                    <a:effectLst/>
                    <a:latin typeface="PingFang SC"/>
                  </a:rPr>
                  <a:t>值，</a:t>
                </a:r>
                <a:endParaRPr lang="en-US" altLang="zh-CN" b="0" i="0" dirty="0">
                  <a:solidFill>
                    <a:srgbClr val="060607"/>
                  </a:solidFill>
                  <a:effectLst/>
                  <a:latin typeface="PingFang SC"/>
                </a:endParaRPr>
              </a:p>
              <a:p>
                <a:pPr algn="l">
                  <a:buFont typeface="+mj-lt"/>
                  <a:buAutoNum type="arabicPeriod"/>
                </a:pPr>
                <a:endParaRPr lang="en-US" altLang="zh-CN" b="0" i="0" dirty="0">
                  <a:solidFill>
                    <a:srgbClr val="060607"/>
                  </a:solidFill>
                  <a:effectLst/>
                  <a:latin typeface="PingFang SC"/>
                </a:endParaRPr>
              </a:p>
              <a:p>
                <a:pPr algn="l">
                  <a:buFont typeface="+mj-lt"/>
                  <a:buAutoNum type="arabicPeriod"/>
                </a:pPr>
                <a:endParaRPr lang="en-US" altLang="zh-CN" b="0" i="0" dirty="0">
                  <a:solidFill>
                    <a:srgbClr val="060607"/>
                  </a:solidFill>
                  <a:effectLst/>
                  <a:latin typeface="PingFang SC"/>
                </a:endParaRPr>
              </a:p>
              <a:p>
                <a:pPr marL="0" indent="0" algn="l">
                  <a:buNone/>
                </a:pPr>
                <a:r>
                  <a:rPr lang="zh-CN" altLang="en-US" b="0" i="0" dirty="0">
                    <a:solidFill>
                      <a:srgbClr val="060607"/>
                    </a:solidFill>
                    <a:effectLst/>
                    <a:latin typeface="PingFang SC"/>
                  </a:rPr>
                  <a:t>其中，</a:t>
                </a:r>
                <a14:m>
                  <m:oMath xmlns:m="http://schemas.openxmlformats.org/officeDocument/2006/math">
                    <m:acc>
                      <m:accPr>
                        <m:chr m:val="̅"/>
                        <m:ctrlPr>
                          <a:rPr lang="en-US" altLang="zh-CN" b="0" i="1" smtClean="0">
                            <a:solidFill>
                              <a:srgbClr val="060607"/>
                            </a:solidFill>
                            <a:effectLst/>
                            <a:latin typeface="Cambria Math" panose="02040503050406030204" pitchFamily="18" charset="0"/>
                          </a:rPr>
                        </m:ctrlPr>
                      </m:accPr>
                      <m:e>
                        <m:r>
                          <a:rPr lang="en-US" altLang="zh-CN" b="1" i="1" smtClean="0">
                            <a:solidFill>
                              <a:srgbClr val="060607"/>
                            </a:solidFill>
                            <a:effectLst/>
                            <a:latin typeface="Cambria Math" panose="02040503050406030204" pitchFamily="18" charset="0"/>
                          </a:rPr>
                          <m:t>𝑿</m:t>
                        </m:r>
                      </m:e>
                    </m:acc>
                  </m:oMath>
                </a14:m>
                <a:r>
                  <a:rPr lang="zh-CN" altLang="en-US" b="0" i="0" dirty="0">
                    <a:solidFill>
                      <a:srgbClr val="060607"/>
                    </a:solidFill>
                    <a:effectLst/>
                    <a:latin typeface="PingFang SC"/>
                  </a:rPr>
                  <a:t>是样本均值，</a:t>
                </a:r>
                <a14:m>
                  <m:oMath xmlns:m="http://schemas.openxmlformats.org/officeDocument/2006/math">
                    <m:sSub>
                      <m:sSubPr>
                        <m:ctrlPr>
                          <a:rPr lang="en-US" altLang="zh-CN" b="0" i="1" dirty="0" smtClean="0">
                            <a:solidFill>
                              <a:srgbClr val="060607"/>
                            </a:solidFill>
                            <a:effectLst/>
                            <a:latin typeface="Cambria Math" panose="02040503050406030204" pitchFamily="18" charset="0"/>
                          </a:rPr>
                        </m:ctrlPr>
                      </m:sSubPr>
                      <m:e>
                        <m:r>
                          <a:rPr lang="en-US" altLang="zh-CN" b="0" i="1" dirty="0" smtClean="0">
                            <a:solidFill>
                              <a:srgbClr val="060607"/>
                            </a:solidFill>
                            <a:effectLst/>
                            <a:latin typeface="Cambria Math" panose="02040503050406030204" pitchFamily="18" charset="0"/>
                          </a:rPr>
                          <m:t>𝜇</m:t>
                        </m:r>
                      </m:e>
                      <m:sub>
                        <m:r>
                          <a:rPr lang="en-US" altLang="zh-CN" b="0" i="1" dirty="0" smtClean="0">
                            <a:solidFill>
                              <a:srgbClr val="060607"/>
                            </a:solidFill>
                            <a:effectLst/>
                            <a:latin typeface="Cambria Math" panose="02040503050406030204" pitchFamily="18" charset="0"/>
                          </a:rPr>
                          <m:t>0</m:t>
                        </m:r>
                      </m:sub>
                    </m:sSub>
                  </m:oMath>
                </a14:m>
                <a:r>
                  <a:rPr lang="en-US" altLang="zh-CN" b="0" i="0" dirty="0">
                    <a:solidFill>
                      <a:srgbClr val="060607"/>
                    </a:solidFill>
                    <a:effectLst/>
                    <a:latin typeface="KaTeX_Main"/>
                  </a:rPr>
                  <a:t>​</a:t>
                </a:r>
                <a:r>
                  <a:rPr lang="zh-CN" altLang="en-US" b="0" i="0" dirty="0">
                    <a:solidFill>
                      <a:srgbClr val="060607"/>
                    </a:solidFill>
                    <a:effectLst/>
                    <a:latin typeface="PingFang SC"/>
                  </a:rPr>
                  <a:t> 是总体均值，</a:t>
                </a:r>
                <a14:m>
                  <m:oMath xmlns:m="http://schemas.openxmlformats.org/officeDocument/2006/math">
                    <m:r>
                      <a:rPr lang="en-US" altLang="zh-CN" b="0" i="1" dirty="0" smtClean="0">
                        <a:solidFill>
                          <a:srgbClr val="060607"/>
                        </a:solidFill>
                        <a:effectLst/>
                        <a:latin typeface="Cambria Math" panose="02040503050406030204" pitchFamily="18" charset="0"/>
                      </a:rPr>
                      <m:t>𝑠</m:t>
                    </m:r>
                  </m:oMath>
                </a14:m>
                <a:r>
                  <a:rPr lang="zh-CN" altLang="en-US" b="0" i="0" dirty="0">
                    <a:solidFill>
                      <a:srgbClr val="060607"/>
                    </a:solidFill>
                    <a:effectLst/>
                    <a:latin typeface="PingFang SC"/>
                  </a:rPr>
                  <a:t> 是样本标准差，</a:t>
                </a:r>
                <a14:m>
                  <m:oMath xmlns:m="http://schemas.openxmlformats.org/officeDocument/2006/math">
                    <m:rad>
                      <m:radPr>
                        <m:degHide m:val="on"/>
                        <m:ctrlPr>
                          <a:rPr lang="en-US" altLang="zh-CN" b="0" i="1" smtClean="0">
                            <a:solidFill>
                              <a:srgbClr val="060607"/>
                            </a:solidFill>
                            <a:effectLst/>
                            <a:latin typeface="Cambria Math" panose="02040503050406030204" pitchFamily="18" charset="0"/>
                          </a:rPr>
                        </m:ctrlPr>
                      </m:radPr>
                      <m:deg/>
                      <m:e>
                        <m:r>
                          <a:rPr lang="en-US" altLang="zh-CN" b="0" i="1" smtClean="0">
                            <a:solidFill>
                              <a:srgbClr val="060607"/>
                            </a:solidFill>
                            <a:effectLst/>
                            <a:latin typeface="Cambria Math" panose="02040503050406030204" pitchFamily="18" charset="0"/>
                          </a:rPr>
                          <m:t>𝑛</m:t>
                        </m:r>
                      </m:e>
                    </m:rad>
                  </m:oMath>
                </a14:m>
                <a:r>
                  <a:rPr lang="zh-CN" altLang="en-US" b="0" i="0" dirty="0">
                    <a:solidFill>
                      <a:srgbClr val="060607"/>
                    </a:solidFill>
                    <a:effectLst/>
                    <a:latin typeface="PingFang SC"/>
                  </a:rPr>
                  <a:t>是样本大小。</a:t>
                </a:r>
              </a:p>
              <a:p>
                <a:pPr algn="l">
                  <a:buFont typeface="+mj-lt"/>
                  <a:buAutoNum type="arabicPeriod"/>
                </a:pPr>
                <a:r>
                  <a:rPr lang="zh-CN" altLang="en-US" b="1" i="0" dirty="0">
                    <a:solidFill>
                      <a:srgbClr val="060607"/>
                    </a:solidFill>
                    <a:effectLst/>
                    <a:latin typeface="PingFang SC"/>
                  </a:rPr>
                  <a:t>确定自由度</a:t>
                </a:r>
                <a:r>
                  <a:rPr lang="zh-CN" altLang="en-US" b="0" i="0" dirty="0">
                    <a:solidFill>
                      <a:srgbClr val="060607"/>
                    </a:solidFill>
                    <a:effectLst/>
                    <a:latin typeface="PingFang SC"/>
                  </a:rPr>
                  <a:t>：自由度（</a:t>
                </a:r>
                <a:r>
                  <a:rPr lang="en-US" altLang="zh-CN" b="0" i="0" dirty="0" err="1">
                    <a:solidFill>
                      <a:srgbClr val="060607"/>
                    </a:solidFill>
                    <a:effectLst/>
                    <a:latin typeface="PingFang SC"/>
                  </a:rPr>
                  <a:t>df</a:t>
                </a:r>
                <a:r>
                  <a:rPr lang="zh-CN" altLang="en-US" b="0" i="0" dirty="0">
                    <a:solidFill>
                      <a:srgbClr val="060607"/>
                    </a:solidFill>
                    <a:effectLst/>
                    <a:latin typeface="PingFang SC"/>
                  </a:rPr>
                  <a:t>）通常是样本大小减</a:t>
                </a:r>
                <a:r>
                  <a:rPr lang="en-US" altLang="zh-CN" b="0" i="0" dirty="0">
                    <a:solidFill>
                      <a:srgbClr val="060607"/>
                    </a:solidFill>
                    <a:effectLst/>
                    <a:latin typeface="PingFang SC"/>
                  </a:rPr>
                  <a:t>1</a:t>
                </a:r>
                <a:r>
                  <a:rPr lang="zh-CN" altLang="en-US" b="0" i="0" dirty="0">
                    <a:solidFill>
                      <a:srgbClr val="060607"/>
                    </a:solidFill>
                    <a:effectLst/>
                    <a:latin typeface="PingFang SC"/>
                  </a:rPr>
                  <a:t>（</a:t>
                </a:r>
                <a:r>
                  <a:rPr lang="en-US" altLang="zh-CN" b="0" i="0" dirty="0">
                    <a:solidFill>
                      <a:srgbClr val="060607"/>
                    </a:solidFill>
                    <a:effectLst/>
                    <a:latin typeface="PingFang SC"/>
                  </a:rPr>
                  <a:t>n-1</a:t>
                </a:r>
                <a:r>
                  <a:rPr lang="zh-CN" altLang="en-US" b="0" i="0" dirty="0">
                    <a:solidFill>
                      <a:srgbClr val="060607"/>
                    </a:solidFill>
                    <a:effectLst/>
                    <a:latin typeface="PingFang SC"/>
                  </a:rPr>
                  <a:t>）。</a:t>
                </a:r>
              </a:p>
              <a:p>
                <a:pPr algn="l">
                  <a:buFont typeface="+mj-lt"/>
                  <a:buAutoNum type="arabicPeriod"/>
                </a:pPr>
                <a:r>
                  <a:rPr lang="zh-CN" altLang="en-US" b="1" i="0" dirty="0">
                    <a:solidFill>
                      <a:srgbClr val="060607"/>
                    </a:solidFill>
                    <a:effectLst/>
                    <a:latin typeface="PingFang SC"/>
                  </a:rPr>
                  <a:t>查找</a:t>
                </a:r>
                <a:r>
                  <a:rPr lang="en-US" altLang="zh-CN" b="1" i="0" dirty="0">
                    <a:solidFill>
                      <a:srgbClr val="060607"/>
                    </a:solidFill>
                    <a:effectLst/>
                    <a:latin typeface="PingFang SC"/>
                  </a:rPr>
                  <a:t>t</a:t>
                </a:r>
                <a:r>
                  <a:rPr lang="zh-CN" altLang="en-US" b="1" i="0" dirty="0">
                    <a:solidFill>
                      <a:srgbClr val="060607"/>
                    </a:solidFill>
                    <a:effectLst/>
                    <a:latin typeface="PingFang SC"/>
                  </a:rPr>
                  <a:t>分布表</a:t>
                </a:r>
                <a:r>
                  <a:rPr lang="zh-CN" altLang="en-US" b="0" i="0" dirty="0">
                    <a:solidFill>
                      <a:srgbClr val="060607"/>
                    </a:solidFill>
                    <a:effectLst/>
                    <a:latin typeface="PingFang SC"/>
                  </a:rPr>
                  <a:t>：根据自由度和显著性水平（如</a:t>
                </a:r>
                <a:r>
                  <a:rPr lang="en-US" altLang="zh-CN" b="0" i="0" dirty="0">
                    <a:solidFill>
                      <a:srgbClr val="060607"/>
                    </a:solidFill>
                    <a:effectLst/>
                    <a:latin typeface="PingFang SC"/>
                  </a:rPr>
                  <a:t>0.05</a:t>
                </a:r>
                <a:r>
                  <a:rPr lang="zh-CN" altLang="en-US" b="0" i="0" dirty="0">
                    <a:solidFill>
                      <a:srgbClr val="060607"/>
                    </a:solidFill>
                    <a:effectLst/>
                    <a:latin typeface="PingFang SC"/>
                  </a:rPr>
                  <a:t>），在</a:t>
                </a:r>
                <a:r>
                  <a:rPr lang="en-US" altLang="zh-CN" b="0" i="0" dirty="0">
                    <a:solidFill>
                      <a:srgbClr val="060607"/>
                    </a:solidFill>
                    <a:effectLst/>
                    <a:latin typeface="PingFang SC"/>
                  </a:rPr>
                  <a:t>t</a:t>
                </a:r>
                <a:r>
                  <a:rPr lang="zh-CN" altLang="en-US" b="0" i="0" dirty="0">
                    <a:solidFill>
                      <a:srgbClr val="060607"/>
                    </a:solidFill>
                    <a:effectLst/>
                    <a:latin typeface="PingFang SC"/>
                  </a:rPr>
                  <a:t>分布表中查找临界</a:t>
                </a:r>
                <a:r>
                  <a:rPr lang="en-US" altLang="zh-CN" b="0" i="0" dirty="0">
                    <a:solidFill>
                      <a:srgbClr val="060607"/>
                    </a:solidFill>
                    <a:effectLst/>
                    <a:latin typeface="PingFang SC"/>
                  </a:rPr>
                  <a:t>t</a:t>
                </a:r>
                <a:r>
                  <a:rPr lang="zh-CN" altLang="en-US" b="0" i="0" dirty="0">
                    <a:solidFill>
                      <a:srgbClr val="060607"/>
                    </a:solidFill>
                    <a:effectLst/>
                    <a:latin typeface="PingFang SC"/>
                  </a:rPr>
                  <a:t>值。</a:t>
                </a:r>
              </a:p>
              <a:p>
                <a:pPr algn="l">
                  <a:buFont typeface="+mj-lt"/>
                  <a:buAutoNum type="arabicPeriod"/>
                </a:pPr>
                <a:r>
                  <a:rPr lang="zh-CN" altLang="en-US" b="1" i="0" dirty="0">
                    <a:solidFill>
                      <a:srgbClr val="060607"/>
                    </a:solidFill>
                    <a:effectLst/>
                    <a:latin typeface="PingFang SC"/>
                  </a:rPr>
                  <a:t>作出决策</a:t>
                </a:r>
                <a:r>
                  <a:rPr lang="zh-CN" altLang="en-US" b="0" i="0" dirty="0">
                    <a:solidFill>
                      <a:srgbClr val="060607"/>
                    </a:solidFill>
                    <a:effectLst/>
                    <a:latin typeface="PingFang SC"/>
                  </a:rPr>
                  <a:t>：如果计算出的</a:t>
                </a:r>
                <a:r>
                  <a:rPr lang="en-US" altLang="zh-CN" b="0" i="0" dirty="0">
                    <a:solidFill>
                      <a:srgbClr val="060607"/>
                    </a:solidFill>
                    <a:effectLst/>
                    <a:latin typeface="PingFang SC"/>
                  </a:rPr>
                  <a:t>t</a:t>
                </a:r>
                <a:r>
                  <a:rPr lang="zh-CN" altLang="en-US" b="0" i="0" dirty="0">
                    <a:solidFill>
                      <a:srgbClr val="060607"/>
                    </a:solidFill>
                    <a:effectLst/>
                    <a:latin typeface="PingFang SC"/>
                  </a:rPr>
                  <a:t>值大于临界</a:t>
                </a:r>
                <a:r>
                  <a:rPr lang="en-US" altLang="zh-CN" b="0" i="0" dirty="0">
                    <a:solidFill>
                      <a:srgbClr val="060607"/>
                    </a:solidFill>
                    <a:effectLst/>
                    <a:latin typeface="PingFang SC"/>
                  </a:rPr>
                  <a:t>t</a:t>
                </a:r>
                <a:r>
                  <a:rPr lang="zh-CN" altLang="en-US" b="0" i="0" dirty="0">
                    <a:solidFill>
                      <a:srgbClr val="060607"/>
                    </a:solidFill>
                    <a:effectLst/>
                    <a:latin typeface="PingFang SC"/>
                  </a:rPr>
                  <a:t>值，则拒绝原假设，认为样本均值与总体均值存在显著差异。</a:t>
                </a:r>
              </a:p>
              <a:p>
                <a:endParaRPr lang="zh-CN" altLang="en-US" dirty="0"/>
              </a:p>
            </p:txBody>
          </p:sp>
        </mc:Choice>
        <mc:Fallback>
          <p:sp>
            <p:nvSpPr>
              <p:cNvPr id="3" name="内容占位符 2">
                <a:extLst>
                  <a:ext uri="{FF2B5EF4-FFF2-40B4-BE49-F238E27FC236}">
                    <a16:creationId xmlns:a16="http://schemas.microsoft.com/office/drawing/2014/main" id="{54ADEB92-F125-0241-833C-A468D1352A27}"/>
                  </a:ext>
                </a:extLst>
              </p:cNvPr>
              <p:cNvSpPr>
                <a:spLocks noGrp="1" noRot="1" noChangeAspect="1" noMove="1" noResize="1" noEditPoints="1" noAdjustHandles="1" noChangeArrowheads="1" noChangeShapeType="1" noTextEdit="1"/>
              </p:cNvSpPr>
              <p:nvPr>
                <p:ph idx="1"/>
              </p:nvPr>
            </p:nvSpPr>
            <p:spPr>
              <a:blipFill>
                <a:blip r:embed="rId2"/>
                <a:stretch>
                  <a:fillRect l="-1217" t="-3221" r="-406" b="-224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981CE57E-C95F-0998-F516-6E0F36CB3A6A}"/>
              </a:ext>
            </a:extLst>
          </p:cNvPr>
          <p:cNvPicPr>
            <a:picLocks noChangeAspect="1"/>
          </p:cNvPicPr>
          <p:nvPr/>
        </p:nvPicPr>
        <p:blipFill>
          <a:blip r:embed="rId3"/>
          <a:stretch>
            <a:fillRect/>
          </a:stretch>
        </p:blipFill>
        <p:spPr>
          <a:xfrm>
            <a:off x="4720560" y="2263299"/>
            <a:ext cx="1996123" cy="998061"/>
          </a:xfrm>
          <a:prstGeom prst="rect">
            <a:avLst/>
          </a:prstGeom>
        </p:spPr>
      </p:pic>
    </p:spTree>
    <p:extLst>
      <p:ext uri="{BB962C8B-B14F-4D97-AF65-F5344CB8AC3E}">
        <p14:creationId xmlns:p14="http://schemas.microsoft.com/office/powerpoint/2010/main" val="1513788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954E25-FD61-9186-4E81-C0FD3FAA4EE1}"/>
              </a:ext>
            </a:extLst>
          </p:cNvPr>
          <p:cNvSpPr>
            <a:spLocks noGrp="1"/>
          </p:cNvSpPr>
          <p:nvPr>
            <p:ph type="title"/>
          </p:nvPr>
        </p:nvSpPr>
        <p:spPr/>
        <p:txBody>
          <a:bodyPr/>
          <a:lstStyle/>
          <a:p>
            <a:r>
              <a:rPr lang="en-US" altLang="zh-CN" dirty="0"/>
              <a:t>t</a:t>
            </a:r>
            <a:r>
              <a:rPr lang="zh-CN" altLang="en-US" dirty="0"/>
              <a:t>检验</a:t>
            </a:r>
          </a:p>
        </p:txBody>
      </p:sp>
      <p:sp>
        <p:nvSpPr>
          <p:cNvPr id="3" name="内容占位符 2">
            <a:extLst>
              <a:ext uri="{FF2B5EF4-FFF2-40B4-BE49-F238E27FC236}">
                <a16:creationId xmlns:a16="http://schemas.microsoft.com/office/drawing/2014/main" id="{619DD94A-C80D-272E-1A51-CCB19077E0F2}"/>
              </a:ext>
            </a:extLst>
          </p:cNvPr>
          <p:cNvSpPr>
            <a:spLocks noGrp="1"/>
          </p:cNvSpPr>
          <p:nvPr>
            <p:ph idx="1"/>
          </p:nvPr>
        </p:nvSpPr>
        <p:spPr/>
        <p:txBody>
          <a:bodyPr/>
          <a:lstStyle/>
          <a:p>
            <a:r>
              <a:rPr lang="zh-CN" altLang="en-US" dirty="0"/>
              <a:t>化肥厂用自动包装机包装化肥 </a:t>
            </a:r>
            <a:r>
              <a:rPr lang="en-US" altLang="zh-CN" dirty="0"/>
              <a:t>,</a:t>
            </a:r>
            <a:r>
              <a:rPr lang="zh-CN" altLang="en-US" dirty="0"/>
              <a:t>某 </a:t>
            </a:r>
            <a:r>
              <a:rPr lang="en-GB" altLang="zh-CN" dirty="0"/>
              <a:t>H </a:t>
            </a:r>
            <a:r>
              <a:rPr lang="zh-CN" altLang="en-US" dirty="0"/>
              <a:t>测得 </a:t>
            </a:r>
            <a:r>
              <a:rPr lang="en-US" altLang="zh-CN" dirty="0"/>
              <a:t>9 </a:t>
            </a:r>
            <a:r>
              <a:rPr lang="zh-CN" altLang="en-US" dirty="0"/>
              <a:t>包化肥的质量（单位：</a:t>
            </a:r>
            <a:r>
              <a:rPr lang="en-GB" altLang="zh-CN" dirty="0"/>
              <a:t>kg</a:t>
            </a:r>
            <a:r>
              <a:rPr lang="zh-CN" altLang="en-GB" dirty="0"/>
              <a:t>）</a:t>
            </a:r>
            <a:r>
              <a:rPr lang="zh-CN" altLang="en-US" dirty="0"/>
              <a:t>如下：</a:t>
            </a:r>
          </a:p>
          <a:p>
            <a:r>
              <a:rPr lang="en-US" altLang="zh-CN" dirty="0"/>
              <a:t>49.4    50.5    50.7    51. 7    49.8    47.9    49. 2    51.4    48.9</a:t>
            </a:r>
          </a:p>
          <a:p>
            <a:r>
              <a:rPr lang="zh-CN" altLang="en-US" dirty="0"/>
              <a:t>设每包化肥的质量服从正态分布，是否可以认为每包化肥的平均质量为 </a:t>
            </a:r>
            <a:r>
              <a:rPr lang="en-US" altLang="zh-CN" dirty="0"/>
              <a:t>50 </a:t>
            </a:r>
            <a:r>
              <a:rPr lang="en-GB" altLang="zh-CN" dirty="0"/>
              <a:t>kg? </a:t>
            </a:r>
            <a:r>
              <a:rPr lang="zh-CN" altLang="en-US" dirty="0"/>
              <a:t>取显著性水平 </a:t>
            </a:r>
            <a:r>
              <a:rPr lang="en-GB" altLang="zh-CN" dirty="0"/>
              <a:t>a=0.05</a:t>
            </a:r>
            <a:r>
              <a:rPr lang="zh-CN" altLang="en-GB" dirty="0"/>
              <a:t>。</a:t>
            </a:r>
            <a:endParaRPr lang="en-GB" altLang="zh-CN" dirty="0"/>
          </a:p>
          <a:p>
            <a:endParaRPr lang="en-GB" altLang="zh-CN" dirty="0"/>
          </a:p>
          <a:p>
            <a:r>
              <a:rPr lang="zh-CN" altLang="en-US" dirty="0"/>
              <a:t>单样本</a:t>
            </a:r>
            <a:r>
              <a:rPr lang="en-US" altLang="zh-CN" dirty="0"/>
              <a:t>t</a:t>
            </a:r>
            <a:r>
              <a:rPr lang="zh-CN" altLang="en-US" dirty="0"/>
              <a:t>检验：</a:t>
            </a:r>
            <a:r>
              <a:rPr lang="en-GB" altLang="zh-CN" dirty="0"/>
              <a:t>[h, p, </a:t>
            </a:r>
            <a:r>
              <a:rPr lang="en-GB" altLang="zh-CN" dirty="0" err="1"/>
              <a:t>muCI</a:t>
            </a:r>
            <a:r>
              <a:rPr lang="en-GB" altLang="zh-CN" dirty="0"/>
              <a:t>, stats]  = </a:t>
            </a:r>
            <a:r>
              <a:rPr lang="en-GB" altLang="zh-CN" dirty="0" err="1"/>
              <a:t>ttest</a:t>
            </a:r>
            <a:r>
              <a:rPr lang="en-GB" altLang="zh-CN" dirty="0"/>
              <a:t>(x, mu0, alpha)</a:t>
            </a:r>
          </a:p>
          <a:p>
            <a:endParaRPr lang="zh-CN" altLang="en-US" dirty="0"/>
          </a:p>
        </p:txBody>
      </p:sp>
    </p:spTree>
    <p:extLst>
      <p:ext uri="{BB962C8B-B14F-4D97-AF65-F5344CB8AC3E}">
        <p14:creationId xmlns:p14="http://schemas.microsoft.com/office/powerpoint/2010/main" val="408940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954E25-FD61-9186-4E81-C0FD3FAA4EE1}"/>
              </a:ext>
            </a:extLst>
          </p:cNvPr>
          <p:cNvSpPr>
            <a:spLocks noGrp="1"/>
          </p:cNvSpPr>
          <p:nvPr>
            <p:ph type="title"/>
          </p:nvPr>
        </p:nvSpPr>
        <p:spPr/>
        <p:txBody>
          <a:bodyPr/>
          <a:lstStyle/>
          <a:p>
            <a:r>
              <a:rPr lang="en-US" altLang="zh-CN" dirty="0"/>
              <a:t>t</a:t>
            </a:r>
            <a:r>
              <a:rPr lang="zh-CN" altLang="en-US" dirty="0"/>
              <a:t>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9DD94A-C80D-272E-1A51-CCB19077E0F2}"/>
                  </a:ext>
                </a:extLst>
              </p:cNvPr>
              <p:cNvSpPr>
                <a:spLocks noGrp="1"/>
              </p:cNvSpPr>
              <p:nvPr>
                <p:ph idx="1"/>
              </p:nvPr>
            </p:nvSpPr>
            <p:spPr/>
            <p:txBody>
              <a:bodyPr>
                <a:normAutofit/>
              </a:bodyPr>
              <a:lstStyle/>
              <a:p>
                <a:r>
                  <a:rPr lang="en-US" altLang="zh-CN" b="0" dirty="0"/>
                  <a:t> </a:t>
                </a:r>
                <a:r>
                  <a:rPr lang="zh-CN" altLang="en-US" b="0" dirty="0"/>
                  <a:t>甲、乙两台机床加工同一种产品，从这两台机床加</a:t>
                </a:r>
                <a:r>
                  <a:rPr lang="en-US" altLang="zh-CN" b="0" dirty="0"/>
                  <a:t>T•</a:t>
                </a:r>
                <a:r>
                  <a:rPr lang="zh-CN" altLang="en-US" b="0" dirty="0"/>
                  <a:t>的产品中随机抽取若干件，测得产品直径（单位：</a:t>
                </a:r>
                <a:r>
                  <a:rPr lang="en-US" altLang="zh-CN" b="0" dirty="0"/>
                  <a:t>mm</a:t>
                </a:r>
                <a:r>
                  <a:rPr lang="zh-CN" altLang="en-US" b="0" dirty="0"/>
                  <a:t>）为</a:t>
                </a:r>
              </a:p>
              <a:p>
                <a:r>
                  <a:rPr lang="zh-CN" altLang="en-US" b="0" dirty="0"/>
                  <a:t>甲机床：</a:t>
                </a:r>
                <a:r>
                  <a:rPr lang="en-US" altLang="zh-CN" sz="2400" b="0" dirty="0"/>
                  <a:t>20.1   20.0   19.3   20.6   20.2   19.9   20.0   19.9   19.1   19.9</a:t>
                </a:r>
              </a:p>
              <a:p>
                <a:r>
                  <a:rPr lang="zh-CN" altLang="en-US" b="0" dirty="0"/>
                  <a:t>乙机床：</a:t>
                </a:r>
                <a:r>
                  <a:rPr lang="en-US" altLang="zh-CN" b="0" dirty="0"/>
                  <a:t>18.6   19.1   20.0   20.0   20.0   19.7   19.9   19.6   20.2</a:t>
                </a:r>
              </a:p>
              <a:p>
                <a:r>
                  <a:rPr lang="zh-CN" altLang="en-US" b="0" dirty="0"/>
                  <a:t>设甲、乙两机床加工的产品的直径分别服从正态分布 </a:t>
                </a:r>
                <a14:m>
                  <m:oMath xmlns:m="http://schemas.openxmlformats.org/officeDocument/2006/math">
                    <m:r>
                      <a:rPr lang="en-GB" altLang="zh-CN" b="0" i="1" smtClean="0">
                        <a:latin typeface="Cambria Math" panose="02040503050406030204" pitchFamily="18" charset="0"/>
                      </a:rPr>
                      <m:t>𝑁</m:t>
                    </m:r>
                    <m:r>
                      <a:rPr lang="en-GB"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oMath>
                </a14:m>
                <a:r>
                  <a:rPr lang="zh-CN" altLang="en-US" b="0" dirty="0"/>
                  <a:t>和 </a:t>
                </a:r>
                <a14:m>
                  <m:oMath xmlns:m="http://schemas.openxmlformats.org/officeDocument/2006/math">
                    <m:r>
                      <a:rPr lang="en-GB" altLang="zh-CN" i="1">
                        <a:latin typeface="Cambria Math" panose="02040503050406030204" pitchFamily="18" charset="0"/>
                      </a:rPr>
                      <m:t>𝑁</m:t>
                    </m:r>
                    <m:r>
                      <a:rPr lang="en-GB"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𝜇</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b="0" i="1" smtClean="0">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r>
                  <a:rPr lang="zh-CN" altLang="en-US" b="0" dirty="0"/>
                  <a:t>，试比较甲、乙两台机床加工的产品的直径是否有显著差异？取显著性水平 </a:t>
                </a:r>
                <a:r>
                  <a:rPr lang="en-US" altLang="zh-CN" b="0" dirty="0"/>
                  <a:t>a=0.05</a:t>
                </a:r>
                <a:endParaRPr lang="en-US" altLang="zh-CN" dirty="0"/>
              </a:p>
              <a:p>
                <a:endParaRPr lang="en-US" altLang="zh-CN" b="0" dirty="0"/>
              </a:p>
              <a:p>
                <a:r>
                  <a:rPr lang="zh-CN" altLang="en-US" dirty="0"/>
                  <a:t>双样本</a:t>
                </a:r>
                <a:r>
                  <a:rPr lang="en-US" altLang="zh-CN" dirty="0"/>
                  <a:t>t</a:t>
                </a:r>
                <a:r>
                  <a:rPr lang="zh-CN" altLang="en-US" dirty="0"/>
                  <a:t>检验：</a:t>
                </a:r>
                <a:r>
                  <a:rPr lang="en-US" altLang="zh-CN" dirty="0"/>
                  <a:t>[h, p, </a:t>
                </a:r>
                <a:r>
                  <a:rPr lang="en-US" altLang="zh-CN" dirty="0" err="1"/>
                  <a:t>muCI</a:t>
                </a:r>
                <a:r>
                  <a:rPr lang="en-US" altLang="zh-CN" dirty="0"/>
                  <a:t>, stats] = ttest2(x, y, alpha, tail, </a:t>
                </a:r>
                <a:r>
                  <a:rPr lang="en-US" altLang="zh-CN" dirty="0" err="1"/>
                  <a:t>vartype</a:t>
                </a:r>
                <a:r>
                  <a:rPr lang="en-US" altLang="zh-CN" dirty="0"/>
                  <a:t>)</a:t>
                </a:r>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619DD94A-C80D-272E-1A51-CCB19077E0F2}"/>
                  </a:ext>
                </a:extLst>
              </p:cNvPr>
              <p:cNvSpPr>
                <a:spLocks noGrp="1" noRot="1" noChangeAspect="1" noMove="1" noResize="1" noEditPoints="1" noAdjustHandles="1" noChangeArrowheads="1" noChangeShapeType="1" noTextEdit="1"/>
              </p:cNvSpPr>
              <p:nvPr>
                <p:ph idx="1"/>
              </p:nvPr>
            </p:nvSpPr>
            <p:spPr>
              <a:blipFill>
                <a:blip r:embed="rId2"/>
                <a:stretch>
                  <a:fillRect l="-1043" t="-2521" r="-928" b="-1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4402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0B010A-9ABE-59C8-0FB7-559AD17BD392}"/>
              </a:ext>
            </a:extLst>
          </p:cNvPr>
          <p:cNvSpPr>
            <a:spLocks noGrp="1"/>
          </p:cNvSpPr>
          <p:nvPr>
            <p:ph type="title"/>
          </p:nvPr>
        </p:nvSpPr>
        <p:spPr/>
        <p:txBody>
          <a:bodyPr/>
          <a:lstStyle/>
          <a:p>
            <a:r>
              <a:rPr lang="en-US" altLang="zh-CN" dirty="0"/>
              <a:t>U</a:t>
            </a:r>
            <a:r>
              <a:rPr lang="zh-CN" altLang="en-US" dirty="0"/>
              <a:t>检验和</a:t>
            </a:r>
            <a:r>
              <a:rPr lang="en-US" altLang="zh-CN" dirty="0"/>
              <a:t>t</a:t>
            </a:r>
            <a:r>
              <a:rPr lang="zh-CN" altLang="en-US" dirty="0"/>
              <a:t>检验的区别</a:t>
            </a:r>
          </a:p>
        </p:txBody>
      </p:sp>
      <p:sp>
        <p:nvSpPr>
          <p:cNvPr id="3" name="内容占位符 2">
            <a:extLst>
              <a:ext uri="{FF2B5EF4-FFF2-40B4-BE49-F238E27FC236}">
                <a16:creationId xmlns:a16="http://schemas.microsoft.com/office/drawing/2014/main" id="{A58DB8ED-9623-DBC4-A799-597D6F3C25E8}"/>
              </a:ext>
            </a:extLst>
          </p:cNvPr>
          <p:cNvSpPr>
            <a:spLocks noGrp="1"/>
          </p:cNvSpPr>
          <p:nvPr>
            <p:ph idx="1"/>
          </p:nvPr>
        </p:nvSpPr>
        <p:spPr/>
        <p:txBody>
          <a:bodyPr/>
          <a:lstStyle/>
          <a:p>
            <a:r>
              <a:rPr lang="en-US" altLang="zh-CN" dirty="0"/>
              <a:t>t</a:t>
            </a:r>
            <a:r>
              <a:rPr lang="zh-CN" altLang="en-US" dirty="0"/>
              <a:t>检验需要数据满足正态分布假设，而</a:t>
            </a:r>
            <a:r>
              <a:rPr lang="en-US" altLang="zh-CN" dirty="0"/>
              <a:t>U</a:t>
            </a:r>
            <a:r>
              <a:rPr lang="zh-CN" altLang="en-US" dirty="0"/>
              <a:t>检验不需要，适用于各种分布类型的数据。</a:t>
            </a:r>
            <a:endParaRPr lang="en-US" altLang="zh-CN" dirty="0"/>
          </a:p>
          <a:p>
            <a:r>
              <a:rPr lang="en-US" altLang="zh-CN" b="0" i="0" dirty="0">
                <a:solidFill>
                  <a:srgbClr val="060607"/>
                </a:solidFill>
                <a:effectLst/>
                <a:latin typeface="PingFang SC"/>
              </a:rPr>
              <a:t>t</a:t>
            </a:r>
            <a:r>
              <a:rPr lang="zh-CN" altLang="en-US" b="0" i="0" dirty="0">
                <a:solidFill>
                  <a:srgbClr val="060607"/>
                </a:solidFill>
                <a:effectLst/>
                <a:latin typeface="PingFang SC"/>
              </a:rPr>
              <a:t>检验对样本大小有一定要求，尤其是小样本时需要特别注意正态性；</a:t>
            </a:r>
            <a:r>
              <a:rPr lang="en-US" altLang="zh-CN" b="0" i="0" dirty="0">
                <a:solidFill>
                  <a:srgbClr val="060607"/>
                </a:solidFill>
                <a:effectLst/>
                <a:latin typeface="PingFang SC"/>
              </a:rPr>
              <a:t>U</a:t>
            </a:r>
            <a:r>
              <a:rPr lang="zh-CN" altLang="en-US" b="0" i="0" dirty="0">
                <a:solidFill>
                  <a:srgbClr val="060607"/>
                </a:solidFill>
                <a:effectLst/>
                <a:latin typeface="PingFang SC"/>
              </a:rPr>
              <a:t>检验则适用于小样本，并且不依赖于正态分布假设。</a:t>
            </a:r>
            <a:endParaRPr lang="en-US" altLang="zh-CN" b="0" i="0" dirty="0">
              <a:solidFill>
                <a:srgbClr val="060607"/>
              </a:solidFill>
              <a:effectLst/>
              <a:latin typeface="PingFang SC"/>
            </a:endParaRPr>
          </a:p>
          <a:p>
            <a:r>
              <a:rPr lang="en-US" altLang="zh-CN" b="0" i="0" dirty="0">
                <a:solidFill>
                  <a:srgbClr val="060607"/>
                </a:solidFill>
                <a:effectLst/>
                <a:latin typeface="PingFang SC"/>
              </a:rPr>
              <a:t>t</a:t>
            </a:r>
            <a:r>
              <a:rPr lang="zh-CN" altLang="en-US" b="0" i="0" dirty="0">
                <a:solidFill>
                  <a:srgbClr val="060607"/>
                </a:solidFill>
                <a:effectLst/>
                <a:latin typeface="PingFang SC"/>
              </a:rPr>
              <a:t>检验提供了均值差异的估计和置信区间，而</a:t>
            </a:r>
            <a:r>
              <a:rPr lang="en-US" altLang="zh-CN" b="0" i="0" dirty="0">
                <a:solidFill>
                  <a:srgbClr val="060607"/>
                </a:solidFill>
                <a:effectLst/>
                <a:latin typeface="PingFang SC"/>
              </a:rPr>
              <a:t>U</a:t>
            </a:r>
            <a:r>
              <a:rPr lang="zh-CN" altLang="en-US" b="0" i="0" dirty="0">
                <a:solidFill>
                  <a:srgbClr val="060607"/>
                </a:solidFill>
                <a:effectLst/>
                <a:latin typeface="PingFang SC"/>
              </a:rPr>
              <a:t>检验主要关注中位数的差异。</a:t>
            </a:r>
            <a:endParaRPr lang="en-US" altLang="zh-CN" dirty="0">
              <a:solidFill>
                <a:srgbClr val="060607"/>
              </a:solidFill>
              <a:latin typeface="PingFang SC"/>
            </a:endParaRPr>
          </a:p>
          <a:p>
            <a:r>
              <a:rPr lang="zh-CN" altLang="en-US" b="0" i="0" dirty="0">
                <a:solidFill>
                  <a:srgbClr val="060607"/>
                </a:solidFill>
                <a:effectLst/>
                <a:latin typeface="PingFang SC"/>
              </a:rPr>
              <a:t>当数据满足正态分布且样本量足够大时，</a:t>
            </a:r>
            <a:r>
              <a:rPr lang="en-US" altLang="zh-CN" b="0" i="0" dirty="0">
                <a:solidFill>
                  <a:srgbClr val="060607"/>
                </a:solidFill>
                <a:effectLst/>
                <a:latin typeface="PingFang SC"/>
              </a:rPr>
              <a:t>t</a:t>
            </a:r>
            <a:r>
              <a:rPr lang="zh-CN" altLang="en-US" b="0" i="0" dirty="0">
                <a:solidFill>
                  <a:srgbClr val="060607"/>
                </a:solidFill>
                <a:effectLst/>
                <a:latin typeface="PingFang SC"/>
              </a:rPr>
              <a:t>检验是更好的选择；当数据分布不明确或样本量较小时，</a:t>
            </a:r>
            <a:r>
              <a:rPr lang="en-US" altLang="zh-CN" b="0" i="0" dirty="0">
                <a:solidFill>
                  <a:srgbClr val="060607"/>
                </a:solidFill>
                <a:effectLst/>
                <a:latin typeface="PingFang SC"/>
              </a:rPr>
              <a:t>U</a:t>
            </a:r>
            <a:r>
              <a:rPr lang="zh-CN" altLang="en-US" b="0" i="0" dirty="0">
                <a:solidFill>
                  <a:srgbClr val="060607"/>
                </a:solidFill>
                <a:effectLst/>
                <a:latin typeface="PingFang SC"/>
              </a:rPr>
              <a:t>检验是一个安全的选择。</a:t>
            </a:r>
            <a:endParaRPr lang="zh-CN" altLang="en-US" dirty="0"/>
          </a:p>
        </p:txBody>
      </p:sp>
    </p:spTree>
    <p:extLst>
      <p:ext uri="{BB962C8B-B14F-4D97-AF65-F5344CB8AC3E}">
        <p14:creationId xmlns:p14="http://schemas.microsoft.com/office/powerpoint/2010/main" val="4063420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6DE92755-B9A4-04DD-D33A-80FDFCFC4CD8}"/>
                  </a:ext>
                </a:extLst>
              </p:cNvPr>
              <p:cNvSpPr>
                <a:spLocks noGrp="1"/>
              </p:cNvSpPr>
              <p:nvPr>
                <p:ph type="title"/>
              </p:nvPr>
            </p:nvSpPr>
            <p:spPr/>
            <p:txBody>
              <a:bodyPr/>
              <a:lstStyle/>
              <a:p>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𝜒</m:t>
                        </m:r>
                      </m:e>
                      <m:sup>
                        <m:r>
                          <a:rPr lang="en-US" altLang="zh-CN" b="0" i="1" smtClean="0">
                            <a:latin typeface="Cambria Math" panose="02040503050406030204" pitchFamily="18" charset="0"/>
                          </a:rPr>
                          <m:t>2</m:t>
                        </m:r>
                      </m:sup>
                    </m:sSup>
                  </m:oMath>
                </a14:m>
                <a:r>
                  <a:rPr lang="zh-CN" altLang="en-US" dirty="0"/>
                  <a:t>检验</a:t>
                </a:r>
              </a:p>
            </p:txBody>
          </p:sp>
        </mc:Choice>
        <mc:Fallback xmlns="">
          <p:sp>
            <p:nvSpPr>
              <p:cNvPr id="2" name="标题 1">
                <a:extLst>
                  <a:ext uri="{FF2B5EF4-FFF2-40B4-BE49-F238E27FC236}">
                    <a16:creationId xmlns:a16="http://schemas.microsoft.com/office/drawing/2014/main" id="{6DE92755-B9A4-04DD-D33A-80FDFCFC4CD8}"/>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8462D92-8636-0951-A6AB-337365F3F10D}"/>
                  </a:ext>
                </a:extLst>
              </p:cNvPr>
              <p:cNvSpPr>
                <a:spLocks noGrp="1"/>
              </p:cNvSpPr>
              <p:nvPr>
                <p:ph idx="1"/>
              </p:nvPr>
            </p:nvSpPr>
            <p:spPr/>
            <p:txBody>
              <a:bodyPr/>
              <a:lstStyle/>
              <a:p>
                <a:r>
                  <a:rPr lang="zh-CN" altLang="en-US" b="0" i="0" dirty="0">
                    <a:solidFill>
                      <a:srgbClr val="060607"/>
                    </a:solidFill>
                    <a:effectLst/>
                    <a:latin typeface="PingFang SC"/>
                  </a:rPr>
                  <a:t>用于检验观察频数与期望频数之间的差异是否具有统计显著性。</a:t>
                </a:r>
                <a:endParaRPr lang="en-US" altLang="zh-CN" b="0" i="0" dirty="0">
                  <a:solidFill>
                    <a:srgbClr val="060607"/>
                  </a:solidFill>
                  <a:effectLst/>
                  <a:latin typeface="PingFang SC"/>
                </a:endParaRPr>
              </a:p>
              <a:p>
                <a:r>
                  <a:rPr lang="zh-CN" altLang="en-US" b="0" i="0" dirty="0">
                    <a:solidFill>
                      <a:srgbClr val="060607"/>
                    </a:solidFill>
                    <a:effectLst/>
                    <a:latin typeface="PingFang SC"/>
                  </a:rPr>
                  <a:t>卡方检验的核心思想是比较一个或多个分类变量的实际观测频数与在无关联假设下的期望频数之间的差异。</a:t>
                </a:r>
                <a:endParaRPr lang="en-US" altLang="zh-CN" b="0" i="0" dirty="0">
                  <a:solidFill>
                    <a:srgbClr val="060607"/>
                  </a:solidFill>
                  <a:effectLst/>
                  <a:latin typeface="PingFang SC"/>
                </a:endParaRPr>
              </a:p>
              <a:p>
                <a:r>
                  <a:rPr lang="zh-CN" altLang="en-US" dirty="0">
                    <a:solidFill>
                      <a:srgbClr val="060607"/>
                    </a:solidFill>
                    <a:latin typeface="PingFang SC"/>
                  </a:rPr>
                  <a:t>计算卡方统计量</a:t>
                </a:r>
                <a:endParaRPr lang="en-US" altLang="zh-CN" dirty="0">
                  <a:solidFill>
                    <a:srgbClr val="060607"/>
                  </a:solidFill>
                  <a:latin typeface="PingFang SC"/>
                </a:endParaRPr>
              </a:p>
              <a:p>
                <a:pPr algn="ctr"/>
                <a14:m>
                  <m:oMath xmlns:m="http://schemas.openxmlformats.org/officeDocument/2006/math">
                    <m:sSup>
                      <m:sSupPr>
                        <m:ctrlPr>
                          <a:rPr lang="zh-CN" altLang="zh-CN" i="1" smtClean="0">
                            <a:effectLst/>
                            <a:latin typeface="Cambria Math" panose="02040503050406030204" pitchFamily="18" charset="0"/>
                            <a:ea typeface="Cambria Math" panose="02040503050406030204" pitchFamily="18" charset="0"/>
                          </a:rPr>
                        </m:ctrlPr>
                      </m:sSup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𝜒</m:t>
                        </m:r>
                      </m:e>
                      <m:sup>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𝛴</m:t>
                    </m:r>
                    <m:d>
                      <m:dPr>
                        <m:begChr m:val="["/>
                        <m:endChr m:val="]"/>
                        <m:ctrlPr>
                          <a:rPr lang="zh-CN" altLang="zh-CN" i="1">
                            <a:effectLst/>
                            <a:latin typeface="Cambria Math" panose="02040503050406030204" pitchFamily="18" charset="0"/>
                            <a:ea typeface="Cambria Math" panose="02040503050406030204" pitchFamily="18" charset="0"/>
                          </a:rPr>
                        </m:ctrlPr>
                      </m:dPr>
                      <m:e>
                        <m:d>
                          <m:dPr>
                            <m:ctrlPr>
                              <a:rPr lang="zh-CN" altLang="zh-CN" i="1">
                                <a:effectLst/>
                                <a:latin typeface="Cambria Math" panose="02040503050406030204" pitchFamily="18" charset="0"/>
                                <a:ea typeface="Cambria Math" panose="02040503050406030204" pitchFamily="18" charset="0"/>
                              </a:rPr>
                            </m:ctrlPr>
                          </m:dPr>
                          <m:e>
                            <m:sSub>
                              <m:sSubPr>
                                <m:ctrlPr>
                                  <a:rPr lang="en-GB" altLang="zh-CN" sz="1800" b="0"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e>
                        </m:d>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rPr>
                            </m:ctrlPr>
                          </m:dPr>
                          <m:e>
                            <m:sSubSup>
                              <m:sSubSupPr>
                                <m:ctrlPr>
                                  <a:rPr lang="en-GB" altLang="zh-CN" b="0" i="1" smtClean="0">
                                    <a:effectLst/>
                                    <a:latin typeface="Cambria Math" panose="02040503050406030204" pitchFamily="18" charset="0"/>
                                    <a:ea typeface="Cambria Math" panose="02040503050406030204" pitchFamily="18" charset="0"/>
                                  </a:rPr>
                                </m:ctrlPr>
                              </m:sSubSupPr>
                              <m:e>
                                <m:r>
                                  <a:rPr lang="en-GB" altLang="zh-CN" b="0" i="1" smtClean="0">
                                    <a:effectLst/>
                                    <a:latin typeface="Cambria Math" panose="02040503050406030204" pitchFamily="18" charset="0"/>
                                    <a:ea typeface="Cambria Math" panose="02040503050406030204" pitchFamily="18" charset="0"/>
                                  </a:rPr>
                                  <m:t>𝑠</m:t>
                                </m:r>
                              </m:e>
                              <m:sub>
                                <m:r>
                                  <a:rPr lang="en-GB" altLang="zh-CN" b="0" i="1" smtClean="0">
                                    <a:effectLst/>
                                    <a:latin typeface="Cambria Math" panose="02040503050406030204" pitchFamily="18" charset="0"/>
                                    <a:ea typeface="Cambria Math" panose="02040503050406030204" pitchFamily="18" charset="0"/>
                                  </a:rPr>
                                  <m:t>𝑖</m:t>
                                </m:r>
                              </m:sub>
                              <m:sup>
                                <m:r>
                                  <a:rPr lang="en-GB" altLang="zh-CN" b="0" i="1" smtClean="0">
                                    <a:effectLst/>
                                    <a:latin typeface="Cambria Math" panose="02040503050406030204" pitchFamily="18" charset="0"/>
                                    <a:ea typeface="Cambria Math" panose="02040503050406030204" pitchFamily="18" charset="0"/>
                                  </a:rPr>
                                  <m:t>2</m:t>
                                </m:r>
                              </m:sup>
                            </m:sSubSup>
                            <m:r>
                              <a:rPr lang="en-GB" altLang="zh-CN" b="0" i="1" smtClean="0">
                                <a:effectLst/>
                                <a:latin typeface="Cambria Math" panose="02040503050406030204" pitchFamily="18" charset="0"/>
                                <a:ea typeface="Cambria Math" panose="02040503050406030204" pitchFamily="18" charset="0"/>
                              </a:rPr>
                              <m:t>/</m:t>
                            </m:r>
                            <m:sSubSup>
                              <m:sSubSupPr>
                                <m:ctrlPr>
                                  <a:rPr lang="en-GB" altLang="zh-CN" b="0" i="1" smtClean="0">
                                    <a:effectLst/>
                                    <a:latin typeface="Cambria Math" panose="02040503050406030204" pitchFamily="18" charset="0"/>
                                    <a:ea typeface="Cambria Math" panose="02040503050406030204" pitchFamily="18" charset="0"/>
                                  </a:rPr>
                                </m:ctrlPr>
                              </m:sSubSupPr>
                              <m:e>
                                <m:r>
                                  <a:rPr lang="zh-CN" altLang="en-GB" i="1">
                                    <a:latin typeface="Cambria Math" panose="02040503050406030204" pitchFamily="18" charset="0"/>
                                    <a:ea typeface="Cambria Math" panose="02040503050406030204" pitchFamily="18" charset="0"/>
                                  </a:rPr>
                                  <m:t>𝑠</m:t>
                                </m:r>
                              </m:e>
                              <m:sub>
                                <m:r>
                                  <a:rPr lang="zh-CN" altLang="en-GB" i="1">
                                    <a:latin typeface="Cambria Math" panose="02040503050406030204" pitchFamily="18" charset="0"/>
                                    <a:ea typeface="Cambria Math" panose="02040503050406030204" pitchFamily="18" charset="0"/>
                                  </a:rPr>
                                  <m:t>𝑝</m:t>
                                </m:r>
                              </m:sub>
                              <m:sup>
                                <m:r>
                                  <a:rPr lang="en-GB" altLang="zh-CN" i="1">
                                    <a:latin typeface="Cambria Math" panose="02040503050406030204" pitchFamily="18" charset="0"/>
                                    <a:ea typeface="Cambria Math" panose="02040503050406030204" pitchFamily="18" charset="0"/>
                                  </a:rPr>
                                  <m:t>2</m:t>
                                </m:r>
                              </m:sup>
                            </m:sSubSup>
                          </m:e>
                        </m:d>
                      </m:e>
                    </m:d>
                  </m:oMath>
                </a14:m>
                <a:endParaRPr lang="en-US" altLang="zh-CN" dirty="0"/>
              </a:p>
              <a:p>
                <a:r>
                  <a:rPr lang="zh-CN" altLang="en-US" b="0" i="0" dirty="0">
                    <a:solidFill>
                      <a:srgbClr val="060607"/>
                    </a:solidFill>
                    <a:effectLst/>
                    <a:latin typeface="PingFang SC"/>
                  </a:rPr>
                  <a:t>其中，</a:t>
                </a:r>
                <a:r>
                  <a:rPr lang="en-US" altLang="zh-CN" b="0" i="1" dirty="0">
                    <a:solidFill>
                      <a:srgbClr val="060607"/>
                    </a:solidFill>
                    <a:effectLst/>
                    <a:latin typeface="KaTeX_Math"/>
                  </a:rPr>
                  <a:t>N</a:t>
                </a:r>
                <a:r>
                  <a:rPr lang="en-US" altLang="zh-CN" b="0" i="1" baseline="-25000" dirty="0">
                    <a:solidFill>
                      <a:srgbClr val="060607"/>
                    </a:solidFill>
                    <a:effectLst/>
                    <a:latin typeface="KaTeX_Math"/>
                  </a:rPr>
                  <a:t>i</a:t>
                </a:r>
                <a:r>
                  <a:rPr lang="zh-CN" altLang="en-US" b="0" i="0" dirty="0">
                    <a:solidFill>
                      <a:srgbClr val="060607"/>
                    </a:solidFill>
                    <a:effectLst/>
                    <a:latin typeface="PingFang SC"/>
                  </a:rPr>
                  <a:t> 是第 </a:t>
                </a:r>
                <a:r>
                  <a:rPr lang="en-US" altLang="zh-CN" b="0" i="1" dirty="0" err="1">
                    <a:solidFill>
                      <a:srgbClr val="060607"/>
                    </a:solidFill>
                    <a:effectLst/>
                    <a:latin typeface="KaTeX_Math"/>
                  </a:rPr>
                  <a:t>i</a:t>
                </a:r>
                <a:r>
                  <a:rPr lang="zh-CN" altLang="en-US" b="0" i="0" dirty="0">
                    <a:solidFill>
                      <a:srgbClr val="060607"/>
                    </a:solidFill>
                    <a:effectLst/>
                    <a:latin typeface="PingFang SC"/>
                  </a:rPr>
                  <a:t> 组的样本量，</a:t>
                </a:r>
                <a:r>
                  <a:rPr lang="en-US" altLang="zh-CN" b="0" i="1" dirty="0">
                    <a:solidFill>
                      <a:srgbClr val="060607"/>
                    </a:solidFill>
                    <a:effectLst/>
                    <a:latin typeface="KaTeX_Math"/>
                  </a:rPr>
                  <a:t>s</a:t>
                </a:r>
                <a:r>
                  <a:rPr lang="en-US" altLang="zh-CN" b="0" i="1" baseline="-25000" dirty="0">
                    <a:solidFill>
                      <a:srgbClr val="060607"/>
                    </a:solidFill>
                    <a:effectLst/>
                    <a:latin typeface="KaTeX_Math"/>
                  </a:rPr>
                  <a:t>i</a:t>
                </a:r>
                <a:r>
                  <a:rPr lang="en-US" altLang="zh-CN" b="0" i="0" baseline="30000" dirty="0">
                    <a:solidFill>
                      <a:srgbClr val="060607"/>
                    </a:solidFill>
                    <a:effectLst/>
                    <a:latin typeface="KaTeX_Main"/>
                  </a:rPr>
                  <a:t>2</a:t>
                </a:r>
                <a:r>
                  <a:rPr lang="zh-CN" altLang="en-US" b="0" i="0" dirty="0">
                    <a:solidFill>
                      <a:srgbClr val="060607"/>
                    </a:solidFill>
                    <a:effectLst/>
                    <a:latin typeface="PingFang SC"/>
                  </a:rPr>
                  <a:t> 是第 </a:t>
                </a:r>
                <a:r>
                  <a:rPr lang="en-US" altLang="zh-CN" b="0" i="1" dirty="0" err="1">
                    <a:solidFill>
                      <a:srgbClr val="060607"/>
                    </a:solidFill>
                    <a:effectLst/>
                    <a:latin typeface="KaTeX_Math"/>
                  </a:rPr>
                  <a:t>i</a:t>
                </a:r>
                <a:r>
                  <a:rPr lang="zh-CN" altLang="en-US" b="0" i="0" dirty="0">
                    <a:solidFill>
                      <a:srgbClr val="060607"/>
                    </a:solidFill>
                    <a:effectLst/>
                    <a:latin typeface="PingFang SC"/>
                  </a:rPr>
                  <a:t> 组的样本方差，</a:t>
                </a:r>
                <a:r>
                  <a:rPr lang="en-US" altLang="zh-CN" b="0" i="1" dirty="0">
                    <a:solidFill>
                      <a:srgbClr val="060607"/>
                    </a:solidFill>
                    <a:effectLst/>
                    <a:latin typeface="KaTeX_Math"/>
                  </a:rPr>
                  <a:t>s</a:t>
                </a:r>
                <a:r>
                  <a:rPr lang="en-US" altLang="zh-CN" b="0" i="1" baseline="-25000" dirty="0">
                    <a:solidFill>
                      <a:srgbClr val="060607"/>
                    </a:solidFill>
                    <a:effectLst/>
                    <a:latin typeface="KaTeX_Math"/>
                  </a:rPr>
                  <a:t>p</a:t>
                </a:r>
                <a:r>
                  <a:rPr lang="en-US" altLang="zh-CN" b="0" i="0" baseline="30000" dirty="0">
                    <a:solidFill>
                      <a:srgbClr val="060607"/>
                    </a:solidFill>
                    <a:effectLst/>
                    <a:latin typeface="KaTeX_Main"/>
                  </a:rPr>
                  <a:t>2</a:t>
                </a:r>
                <a:r>
                  <a:rPr lang="zh-CN" altLang="en-US" b="0" i="0" dirty="0">
                    <a:solidFill>
                      <a:srgbClr val="060607"/>
                    </a:solidFill>
                    <a:effectLst/>
                    <a:latin typeface="PingFang SC"/>
                  </a:rPr>
                  <a:t> 是所有样本的合并样本方差。</a:t>
                </a:r>
                <a:endParaRPr lang="zh-CN" altLang="en-US" dirty="0"/>
              </a:p>
            </p:txBody>
          </p:sp>
        </mc:Choice>
        <mc:Fallback>
          <p:sp>
            <p:nvSpPr>
              <p:cNvPr id="3" name="内容占位符 2">
                <a:extLst>
                  <a:ext uri="{FF2B5EF4-FFF2-40B4-BE49-F238E27FC236}">
                    <a16:creationId xmlns:a16="http://schemas.microsoft.com/office/drawing/2014/main" id="{F8462D92-8636-0951-A6AB-337365F3F10D}"/>
                  </a:ext>
                </a:extLst>
              </p:cNvPr>
              <p:cNvSpPr>
                <a:spLocks noGrp="1" noRot="1" noChangeAspect="1" noMove="1" noResize="1" noEditPoints="1" noAdjustHandles="1" noChangeArrowheads="1" noChangeShapeType="1" noTextEdit="1"/>
              </p:cNvSpPr>
              <p:nvPr>
                <p:ph idx="1"/>
              </p:nvPr>
            </p:nvSpPr>
            <p:spPr>
              <a:blipFill>
                <a:blip r:embed="rId3"/>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9497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9E1C46A5-BE0A-877F-9300-EC3A9334A795}"/>
                  </a:ext>
                </a:extLst>
              </p:cNvPr>
              <p:cNvSpPr>
                <a:spLocks noGrp="1"/>
              </p:cNvSpPr>
              <p:nvPr>
                <p:ph type="title"/>
              </p:nvPr>
            </p:nvSpPr>
            <p:spPr/>
            <p:txBody>
              <a:bodyPr/>
              <a:lstStyle/>
              <a:p>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𝜒</m:t>
                        </m:r>
                      </m:e>
                      <m:sup>
                        <m:r>
                          <a:rPr lang="en-US" altLang="zh-CN" b="0" i="1" smtClean="0">
                            <a:latin typeface="Cambria Math" panose="02040503050406030204" pitchFamily="18" charset="0"/>
                          </a:rPr>
                          <m:t>2</m:t>
                        </m:r>
                      </m:sup>
                    </m:sSup>
                  </m:oMath>
                </a14:m>
                <a:r>
                  <a:rPr lang="zh-CN" altLang="en-US" dirty="0"/>
                  <a:t>检验</a:t>
                </a:r>
              </a:p>
            </p:txBody>
          </p:sp>
        </mc:Choice>
        <mc:Fallback xmlns="">
          <p:sp>
            <p:nvSpPr>
              <p:cNvPr id="2" name="标题 1">
                <a:extLst>
                  <a:ext uri="{FF2B5EF4-FFF2-40B4-BE49-F238E27FC236}">
                    <a16:creationId xmlns:a16="http://schemas.microsoft.com/office/drawing/2014/main" id="{9E1C46A5-BE0A-877F-9300-EC3A9334A79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p:sp>
        <p:nvSpPr>
          <p:cNvPr id="3" name="内容占位符 2">
            <a:extLst>
              <a:ext uri="{FF2B5EF4-FFF2-40B4-BE49-F238E27FC236}">
                <a16:creationId xmlns:a16="http://schemas.microsoft.com/office/drawing/2014/main" id="{D1F621AB-AD6A-3FF0-B931-23D7381B1F6C}"/>
              </a:ext>
            </a:extLst>
          </p:cNvPr>
          <p:cNvSpPr>
            <a:spLocks noGrp="1"/>
          </p:cNvSpPr>
          <p:nvPr>
            <p:ph idx="1"/>
          </p:nvPr>
        </p:nvSpPr>
        <p:spPr/>
        <p:txBody>
          <a:bodyPr/>
          <a:lstStyle/>
          <a:p>
            <a:r>
              <a:rPr lang="zh-CN" altLang="en-US" dirty="0"/>
              <a:t>化肥厂用自动包装机包装化肥 </a:t>
            </a:r>
            <a:r>
              <a:rPr lang="en-US" altLang="zh-CN" dirty="0"/>
              <a:t>,</a:t>
            </a:r>
            <a:r>
              <a:rPr lang="zh-CN" altLang="en-US" dirty="0"/>
              <a:t>某 </a:t>
            </a:r>
            <a:r>
              <a:rPr lang="en-GB" altLang="zh-CN" dirty="0"/>
              <a:t>H </a:t>
            </a:r>
            <a:r>
              <a:rPr lang="zh-CN" altLang="en-US" dirty="0"/>
              <a:t>测得 </a:t>
            </a:r>
            <a:r>
              <a:rPr lang="en-US" altLang="zh-CN" dirty="0"/>
              <a:t>9 </a:t>
            </a:r>
            <a:r>
              <a:rPr lang="zh-CN" altLang="en-US" dirty="0"/>
              <a:t>包化肥的质量（单位：</a:t>
            </a:r>
            <a:r>
              <a:rPr lang="en-GB" altLang="zh-CN" dirty="0"/>
              <a:t>kg</a:t>
            </a:r>
            <a:r>
              <a:rPr lang="zh-CN" altLang="en-GB" dirty="0"/>
              <a:t>）</a:t>
            </a:r>
            <a:r>
              <a:rPr lang="zh-CN" altLang="en-US" dirty="0"/>
              <a:t>如下：</a:t>
            </a:r>
          </a:p>
          <a:p>
            <a:r>
              <a:rPr lang="en-US" altLang="zh-CN" dirty="0"/>
              <a:t>49.4    50.5    50.7    51. 7    49.8    47.9    49. 2    51.4    48.9</a:t>
            </a:r>
          </a:p>
          <a:p>
            <a:r>
              <a:rPr lang="zh-CN" altLang="en-US" dirty="0"/>
              <a:t>设每包化肥的质量服从正态分布，是否可以认为每包化肥的质量方差是否为</a:t>
            </a:r>
            <a:r>
              <a:rPr lang="en-US" altLang="zh-CN" dirty="0"/>
              <a:t>1.5</a:t>
            </a:r>
            <a:r>
              <a:rPr lang="en-GB" altLang="zh-CN" dirty="0"/>
              <a:t>? </a:t>
            </a:r>
            <a:r>
              <a:rPr lang="zh-CN" altLang="en-US" dirty="0"/>
              <a:t>取显著性水平 </a:t>
            </a:r>
            <a:r>
              <a:rPr lang="en-GB" altLang="zh-CN" dirty="0"/>
              <a:t>a=0.05</a:t>
            </a:r>
            <a:r>
              <a:rPr lang="zh-CN" altLang="en-GB" dirty="0"/>
              <a:t>。</a:t>
            </a:r>
            <a:endParaRPr lang="en-GB" altLang="zh-CN" dirty="0"/>
          </a:p>
          <a:p>
            <a:endParaRPr lang="zh-CN" altLang="en-US" dirty="0"/>
          </a:p>
        </p:txBody>
      </p:sp>
    </p:spTree>
    <p:extLst>
      <p:ext uri="{BB962C8B-B14F-4D97-AF65-F5344CB8AC3E}">
        <p14:creationId xmlns:p14="http://schemas.microsoft.com/office/powerpoint/2010/main" val="193731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3EBFEE57-DA97-9498-96EE-8851DCDC011E}"/>
                  </a:ext>
                </a:extLst>
              </p:cNvPr>
              <p:cNvSpPr>
                <a:spLocks noGrp="1"/>
              </p:cNvSpPr>
              <p:nvPr>
                <p:ph type="title"/>
              </p:nvPr>
            </p:nvSpPr>
            <p:spPr/>
            <p:txBody>
              <a:bodyPr/>
              <a:lstStyle/>
              <a:p>
                <a14:m>
                  <m:oMath xmlns:m="http://schemas.openxmlformats.org/officeDocument/2006/math">
                    <m:r>
                      <m:rPr>
                        <m:sty m:val="p"/>
                      </m:rPr>
                      <a:rPr lang="en-US" altLang="zh-CN" i="1">
                        <a:latin typeface="Cambria Math" panose="02040503050406030204" pitchFamily="18" charset="0"/>
                      </a:rPr>
                      <m:t>F</m:t>
                    </m:r>
                  </m:oMath>
                </a14:m>
                <a:r>
                  <a:rPr lang="zh-CN" altLang="en-US" dirty="0"/>
                  <a:t>检验</a:t>
                </a:r>
              </a:p>
            </p:txBody>
          </p:sp>
        </mc:Choice>
        <mc:Fallback xmlns="">
          <p:sp>
            <p:nvSpPr>
              <p:cNvPr id="2" name="标题 1">
                <a:extLst>
                  <a:ext uri="{FF2B5EF4-FFF2-40B4-BE49-F238E27FC236}">
                    <a16:creationId xmlns:a16="http://schemas.microsoft.com/office/drawing/2014/main" id="{3EBFEE57-DA97-9498-96EE-8851DCDC011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p:sp>
        <p:nvSpPr>
          <p:cNvPr id="3" name="内容占位符 2">
            <a:extLst>
              <a:ext uri="{FF2B5EF4-FFF2-40B4-BE49-F238E27FC236}">
                <a16:creationId xmlns:a16="http://schemas.microsoft.com/office/drawing/2014/main" id="{11B85A84-5D75-AC95-A23D-C28B41467A6B}"/>
              </a:ext>
            </a:extLst>
          </p:cNvPr>
          <p:cNvSpPr>
            <a:spLocks noGrp="1"/>
          </p:cNvSpPr>
          <p:nvPr>
            <p:ph idx="1"/>
          </p:nvPr>
        </p:nvSpPr>
        <p:spPr/>
        <p:txBody>
          <a:bodyPr>
            <a:normAutofit/>
          </a:bodyPr>
          <a:lstStyle/>
          <a:p>
            <a:r>
              <a:rPr lang="en-US" altLang="zh-CN" b="0" i="0" dirty="0">
                <a:solidFill>
                  <a:srgbClr val="060607"/>
                </a:solidFill>
                <a:effectLst/>
                <a:latin typeface="PingFang SC"/>
              </a:rPr>
              <a:t>F</a:t>
            </a:r>
            <a:r>
              <a:rPr lang="zh-CN" altLang="en-US" b="0" i="0" dirty="0">
                <a:solidFill>
                  <a:srgbClr val="060607"/>
                </a:solidFill>
                <a:effectLst/>
                <a:latin typeface="PingFang SC"/>
              </a:rPr>
              <a:t>检验（</a:t>
            </a:r>
            <a:r>
              <a:rPr lang="en-US" altLang="zh-CN" b="0" i="0" dirty="0">
                <a:solidFill>
                  <a:srgbClr val="060607"/>
                </a:solidFill>
                <a:effectLst/>
                <a:latin typeface="PingFang SC"/>
              </a:rPr>
              <a:t>F-test</a:t>
            </a:r>
            <a:r>
              <a:rPr lang="zh-CN" altLang="en-US" b="0" i="0" dirty="0">
                <a:solidFill>
                  <a:srgbClr val="060607"/>
                </a:solidFill>
                <a:effectLst/>
                <a:latin typeface="PingFang SC"/>
              </a:rPr>
              <a:t>）是一种统计检验，用于比较两组或多组数据的方差是否存在显著差异。</a:t>
            </a:r>
            <a:endParaRPr lang="en-US" altLang="zh-CN" b="0" i="0" dirty="0">
              <a:solidFill>
                <a:srgbClr val="060607"/>
              </a:solidFill>
              <a:effectLst/>
              <a:latin typeface="PingFang SC"/>
            </a:endParaRPr>
          </a:p>
          <a:p>
            <a:r>
              <a:rPr lang="en-US" altLang="zh-CN" b="0" i="0" dirty="0">
                <a:solidFill>
                  <a:srgbClr val="060607"/>
                </a:solidFill>
                <a:effectLst/>
                <a:latin typeface="PingFang SC"/>
              </a:rPr>
              <a:t>F</a:t>
            </a:r>
            <a:r>
              <a:rPr lang="zh-CN" altLang="en-US" b="0" i="0" dirty="0">
                <a:solidFill>
                  <a:srgbClr val="060607"/>
                </a:solidFill>
                <a:effectLst/>
                <a:latin typeface="PingFang SC"/>
              </a:rPr>
              <a:t>检验的基本思想是通过比较数据组内和组间的方差来判断各组之间是否存在显著的差异。</a:t>
            </a:r>
            <a:endParaRPr lang="en-US" altLang="zh-CN" b="0" i="0" dirty="0">
              <a:solidFill>
                <a:srgbClr val="060607"/>
              </a:solidFill>
              <a:effectLst/>
              <a:latin typeface="PingFang SC"/>
            </a:endParaRPr>
          </a:p>
          <a:p>
            <a:r>
              <a:rPr lang="zh-CN" altLang="en-US" b="0" i="0" dirty="0">
                <a:solidFill>
                  <a:srgbClr val="060607"/>
                </a:solidFill>
                <a:effectLst/>
                <a:latin typeface="PingFang SC"/>
              </a:rPr>
              <a:t>计算方法：</a:t>
            </a:r>
            <a:endParaRPr lang="en-US" altLang="zh-CN" b="0" i="0" dirty="0">
              <a:solidFill>
                <a:srgbClr val="060607"/>
              </a:solidFill>
              <a:effectLst/>
              <a:latin typeface="PingFang SC"/>
            </a:endParaRPr>
          </a:p>
          <a:p>
            <a:r>
              <a:rPr lang="zh-CN" altLang="en-US" dirty="0"/>
              <a:t>计算组内方差（每个组内数据与组均值的差的平方和的平均值）和组间方差（两组均值与总体均值的差的平方和的平均值）。</a:t>
            </a:r>
          </a:p>
          <a:p>
            <a:r>
              <a:rPr lang="en-US" altLang="zh-CN" dirty="0"/>
              <a:t>F</a:t>
            </a:r>
            <a:r>
              <a:rPr lang="zh-CN" altLang="en-US" dirty="0"/>
              <a:t>统计量是组间方差与组内方差之比，计算公式如下：</a:t>
            </a:r>
          </a:p>
          <a:p>
            <a:pPr algn="ctr"/>
            <a:r>
              <a:rPr lang="en-US" altLang="zh-CN" dirty="0"/>
              <a:t>F = </a:t>
            </a:r>
            <a:r>
              <a:rPr lang="zh-CN" altLang="en-US" dirty="0"/>
              <a:t>组间方差 </a:t>
            </a:r>
            <a:r>
              <a:rPr lang="en-US" altLang="zh-CN" dirty="0"/>
              <a:t>/ </a:t>
            </a:r>
            <a:r>
              <a:rPr lang="zh-CN" altLang="en-US" dirty="0"/>
              <a:t>组内方差</a:t>
            </a:r>
            <a:endParaRPr lang="en-US" altLang="zh-CN" dirty="0"/>
          </a:p>
          <a:p>
            <a:endParaRPr lang="zh-CN" altLang="en-US" dirty="0"/>
          </a:p>
        </p:txBody>
      </p:sp>
    </p:spTree>
    <p:extLst>
      <p:ext uri="{BB962C8B-B14F-4D97-AF65-F5344CB8AC3E}">
        <p14:creationId xmlns:p14="http://schemas.microsoft.com/office/powerpoint/2010/main" val="3579481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8EF5CBDE-918F-2D29-D305-147E596E7873}"/>
                  </a:ext>
                </a:extLst>
              </p:cNvPr>
              <p:cNvSpPr>
                <a:spLocks noGrp="1"/>
              </p:cNvSpPr>
              <p:nvPr>
                <p:ph type="title"/>
              </p:nvPr>
            </p:nvSpPr>
            <p:spPr/>
            <p:txBody>
              <a:bodyPr/>
              <a:lstStyle/>
              <a:p>
                <a14:m>
                  <m:oMath xmlns:m="http://schemas.openxmlformats.org/officeDocument/2006/math">
                    <m:r>
                      <m:rPr>
                        <m:sty m:val="p"/>
                      </m:rPr>
                      <a:rPr lang="en-US" altLang="zh-CN" i="1" smtClean="0">
                        <a:latin typeface="Cambria Math" panose="02040503050406030204" pitchFamily="18" charset="0"/>
                      </a:rPr>
                      <m:t>F</m:t>
                    </m:r>
                  </m:oMath>
                </a14:m>
                <a:r>
                  <a:rPr lang="zh-CN" altLang="en-US" dirty="0"/>
                  <a:t>检验</a:t>
                </a:r>
                <a:endParaRPr lang="zh-CN" altLang="en-US"/>
              </a:p>
            </p:txBody>
          </p:sp>
        </mc:Choice>
        <mc:Fallback xmlns="">
          <p:sp>
            <p:nvSpPr>
              <p:cNvPr id="2" name="标题 1">
                <a:extLst>
                  <a:ext uri="{FF2B5EF4-FFF2-40B4-BE49-F238E27FC236}">
                    <a16:creationId xmlns:a16="http://schemas.microsoft.com/office/drawing/2014/main" id="{8EF5CBDE-918F-2D29-D305-147E596E7873}"/>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A6F3C15-3F97-5015-BCD7-DFE3381EAD15}"/>
                  </a:ext>
                </a:extLst>
              </p:cNvPr>
              <p:cNvSpPr>
                <a:spLocks noGrp="1"/>
              </p:cNvSpPr>
              <p:nvPr>
                <p:ph idx="1"/>
              </p:nvPr>
            </p:nvSpPr>
            <p:spPr/>
            <p:txBody>
              <a:bodyPr/>
              <a:lstStyle/>
              <a:p>
                <a:r>
                  <a:rPr lang="en-US" altLang="zh-CN" b="0" dirty="0"/>
                  <a:t> </a:t>
                </a:r>
                <a:r>
                  <a:rPr lang="zh-CN" altLang="en-US" b="0" dirty="0"/>
                  <a:t>甲、乙两台机床加工同一种产品，从这两台机床加</a:t>
                </a:r>
                <a:r>
                  <a:rPr lang="en-US" altLang="zh-CN" b="0" dirty="0"/>
                  <a:t>T•</a:t>
                </a:r>
                <a:r>
                  <a:rPr lang="zh-CN" altLang="en-US" b="0" dirty="0"/>
                  <a:t>的产品中随机抽取若干件，测得产品直径（单位：</a:t>
                </a:r>
                <a:r>
                  <a:rPr lang="en-US" altLang="zh-CN" b="0" dirty="0"/>
                  <a:t>mm</a:t>
                </a:r>
                <a:r>
                  <a:rPr lang="zh-CN" altLang="en-US" b="0" dirty="0"/>
                  <a:t>）为</a:t>
                </a:r>
              </a:p>
              <a:p>
                <a:r>
                  <a:rPr lang="zh-CN" altLang="en-US" b="0" dirty="0"/>
                  <a:t>甲机床：</a:t>
                </a:r>
                <a:r>
                  <a:rPr lang="en-US" altLang="zh-CN" sz="2400" b="0" dirty="0"/>
                  <a:t>20.1   20.0   19.3   20.6   20.2   19.9   20.0   19.9   19.1   19.9</a:t>
                </a:r>
              </a:p>
              <a:p>
                <a:r>
                  <a:rPr lang="zh-CN" altLang="en-US" b="0" dirty="0"/>
                  <a:t>乙机床：</a:t>
                </a:r>
                <a:r>
                  <a:rPr lang="en-US" altLang="zh-CN" b="0" dirty="0"/>
                  <a:t>18.6   19.1   20.0   20.0   20.0   19.7   19.9   19.6   20.2</a:t>
                </a:r>
              </a:p>
              <a:p>
                <a:r>
                  <a:rPr lang="zh-CN" altLang="en-US" b="0" dirty="0"/>
                  <a:t>设甲、乙两机床加工的产品的直径分别服从正态分布 </a:t>
                </a:r>
                <a14:m>
                  <m:oMath xmlns:m="http://schemas.openxmlformats.org/officeDocument/2006/math">
                    <m:r>
                      <a:rPr lang="en-GB" altLang="zh-CN" b="0" i="1" smtClean="0">
                        <a:latin typeface="Cambria Math" panose="02040503050406030204" pitchFamily="18" charset="0"/>
                      </a:rPr>
                      <m:t>𝑁</m:t>
                    </m:r>
                    <m:r>
                      <a:rPr lang="en-GB"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oMath>
                </a14:m>
                <a:r>
                  <a:rPr lang="zh-CN" altLang="en-US" b="0" dirty="0"/>
                  <a:t>和 </a:t>
                </a:r>
                <a14:m>
                  <m:oMath xmlns:m="http://schemas.openxmlformats.org/officeDocument/2006/math">
                    <m:r>
                      <a:rPr lang="en-GB" altLang="zh-CN" i="1">
                        <a:latin typeface="Cambria Math" panose="02040503050406030204" pitchFamily="18" charset="0"/>
                      </a:rPr>
                      <m:t>𝑁</m:t>
                    </m:r>
                    <m:r>
                      <a:rPr lang="en-GB"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𝜇</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b="0" i="1" smtClean="0">
                            <a:latin typeface="Cambria Math" panose="02040503050406030204" pitchFamily="18" charset="0"/>
                          </a:rPr>
                          <m:t>2</m:t>
                        </m:r>
                      </m:sub>
                      <m:sup>
                        <m:r>
                          <a:rPr lang="en-US" altLang="zh-CN" i="1">
                            <a:latin typeface="Cambria Math" panose="02040503050406030204" pitchFamily="18" charset="0"/>
                          </a:rPr>
                          <m:t>2</m:t>
                        </m:r>
                      </m:sup>
                    </m:sSubSup>
                    <m:r>
                      <a:rPr lang="en-US" altLang="zh-CN" i="1">
                        <a:latin typeface="Cambria Math" panose="02040503050406030204" pitchFamily="18" charset="0"/>
                      </a:rPr>
                      <m:t>)</m:t>
                    </m:r>
                  </m:oMath>
                </a14:m>
                <a:r>
                  <a:rPr lang="zh-CN" altLang="en-US" b="0" dirty="0"/>
                  <a:t>，试比较甲、乙两台机床加工的产品的直径</a:t>
                </a:r>
                <a:r>
                  <a:rPr lang="zh-CN" altLang="en-US" dirty="0"/>
                  <a:t>的方差是否相等</a:t>
                </a:r>
                <a:r>
                  <a:rPr lang="zh-CN" altLang="en-US" b="0" dirty="0"/>
                  <a:t>？取显著性水平 </a:t>
                </a:r>
                <a:r>
                  <a:rPr lang="en-US" altLang="zh-CN" b="0" dirty="0"/>
                  <a:t>a=0.05</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5A6F3C15-3F97-5015-BCD7-DFE3381EAD15}"/>
                  </a:ext>
                </a:extLst>
              </p:cNvPr>
              <p:cNvSpPr>
                <a:spLocks noGrp="1" noRot="1" noChangeAspect="1" noMove="1" noResize="1" noEditPoints="1" noAdjustHandles="1" noChangeArrowheads="1" noChangeShapeType="1" noTextEdit="1"/>
              </p:cNvSpPr>
              <p:nvPr>
                <p:ph idx="1"/>
              </p:nvPr>
            </p:nvSpPr>
            <p:spPr>
              <a:blipFill>
                <a:blip r:embed="rId3"/>
                <a:stretch>
                  <a:fillRect l="-1043" t="-2521" r="-9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5367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a:extLst>
                  <a:ext uri="{FF2B5EF4-FFF2-40B4-BE49-F238E27FC236}">
                    <a16:creationId xmlns:a16="http://schemas.microsoft.com/office/drawing/2014/main" id="{355E48EF-E339-98BB-869B-6FEA985FE883}"/>
                  </a:ext>
                </a:extLst>
              </p:cNvPr>
              <p:cNvSpPr>
                <a:spLocks noGrp="1"/>
              </p:cNvSpPr>
              <p:nvPr>
                <p:ph type="title"/>
              </p:nvPr>
            </p:nvSpPr>
            <p:spPr/>
            <p:txBody>
              <a:bodyPr/>
              <a:lstStyle/>
              <a:p>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𝜒</m:t>
                        </m:r>
                      </m:e>
                      <m:sup>
                        <m:r>
                          <a:rPr lang="en-US" altLang="zh-CN" b="0" i="1" smtClean="0">
                            <a:latin typeface="Cambria Math" panose="02040503050406030204" pitchFamily="18" charset="0"/>
                          </a:rPr>
                          <m:t>2</m:t>
                        </m:r>
                      </m:sup>
                    </m:sSup>
                  </m:oMath>
                </a14:m>
                <a:r>
                  <a:rPr lang="zh-CN" altLang="en-US" dirty="0"/>
                  <a:t>检验和</a:t>
                </a:r>
                <a:r>
                  <a:rPr lang="en-US" altLang="zh-CN" dirty="0"/>
                  <a:t>F</a:t>
                </a:r>
                <a:r>
                  <a:rPr lang="zh-CN" altLang="en-US" dirty="0"/>
                  <a:t>检验的区别</a:t>
                </a:r>
              </a:p>
            </p:txBody>
          </p:sp>
        </mc:Choice>
        <mc:Fallback>
          <p:sp>
            <p:nvSpPr>
              <p:cNvPr id="2" name="标题 1">
                <a:extLst>
                  <a:ext uri="{FF2B5EF4-FFF2-40B4-BE49-F238E27FC236}">
                    <a16:creationId xmlns:a16="http://schemas.microsoft.com/office/drawing/2014/main" id="{355E48EF-E339-98BB-869B-6FEA985FE883}"/>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p:sp>
        <p:nvSpPr>
          <p:cNvPr id="3" name="内容占位符 2">
            <a:extLst>
              <a:ext uri="{FF2B5EF4-FFF2-40B4-BE49-F238E27FC236}">
                <a16:creationId xmlns:a16="http://schemas.microsoft.com/office/drawing/2014/main" id="{C26A3E2D-6233-CCB2-BB59-4F09E412AD7B}"/>
              </a:ext>
            </a:extLst>
          </p:cNvPr>
          <p:cNvSpPr>
            <a:spLocks noGrp="1"/>
          </p:cNvSpPr>
          <p:nvPr>
            <p:ph idx="1"/>
          </p:nvPr>
        </p:nvSpPr>
        <p:spPr/>
        <p:txBody>
          <a:bodyPr/>
          <a:lstStyle/>
          <a:p>
            <a:pPr algn="l">
              <a:buFont typeface="+mj-lt"/>
              <a:buAutoNum type="arabicPeriod"/>
            </a:pPr>
            <a:r>
              <a:rPr lang="zh-CN" altLang="en-US" b="0" i="0" dirty="0">
                <a:solidFill>
                  <a:srgbClr val="060607"/>
                </a:solidFill>
                <a:effectLst/>
                <a:latin typeface="PingFang SC"/>
              </a:rPr>
              <a:t>卡方检验用于分类数据，而</a:t>
            </a:r>
            <a:r>
              <a:rPr lang="en-US" altLang="zh-CN" b="0" i="0" dirty="0">
                <a:solidFill>
                  <a:srgbClr val="060607"/>
                </a:solidFill>
                <a:effectLst/>
                <a:latin typeface="PingFang SC"/>
              </a:rPr>
              <a:t>F</a:t>
            </a:r>
            <a:r>
              <a:rPr lang="zh-CN" altLang="en-US" b="0" i="0" dirty="0">
                <a:solidFill>
                  <a:srgbClr val="060607"/>
                </a:solidFill>
                <a:effectLst/>
                <a:latin typeface="PingFang SC"/>
              </a:rPr>
              <a:t>检验用于连续数据。</a:t>
            </a:r>
          </a:p>
          <a:p>
            <a:pPr algn="l">
              <a:buFont typeface="+mj-lt"/>
              <a:buAutoNum type="arabicPeriod"/>
            </a:pPr>
            <a:r>
              <a:rPr lang="zh-CN" altLang="en-US" b="0" i="0" dirty="0">
                <a:solidFill>
                  <a:srgbClr val="060607"/>
                </a:solidFill>
                <a:effectLst/>
                <a:latin typeface="PingFang SC"/>
              </a:rPr>
              <a:t>卡方检验用于检验独立性或拟合优度，</a:t>
            </a:r>
            <a:r>
              <a:rPr lang="en-US" altLang="zh-CN" b="0" i="0" dirty="0">
                <a:solidFill>
                  <a:srgbClr val="060607"/>
                </a:solidFill>
                <a:effectLst/>
                <a:latin typeface="PingFang SC"/>
              </a:rPr>
              <a:t>F</a:t>
            </a:r>
            <a:r>
              <a:rPr lang="zh-CN" altLang="en-US" b="0" i="0" dirty="0">
                <a:solidFill>
                  <a:srgbClr val="060607"/>
                </a:solidFill>
                <a:effectLst/>
                <a:latin typeface="PingFang SC"/>
              </a:rPr>
              <a:t>检验用于检验方差的显著性。</a:t>
            </a:r>
          </a:p>
          <a:p>
            <a:pPr algn="l">
              <a:buFont typeface="+mj-lt"/>
              <a:buAutoNum type="arabicPeriod"/>
            </a:pPr>
            <a:r>
              <a:rPr lang="zh-CN" altLang="en-US" b="0" i="0" dirty="0">
                <a:solidFill>
                  <a:srgbClr val="060607"/>
                </a:solidFill>
                <a:effectLst/>
                <a:latin typeface="PingFang SC"/>
              </a:rPr>
              <a:t>卡方检验对数据分布的要求较低，而</a:t>
            </a:r>
            <a:r>
              <a:rPr lang="en-US" altLang="zh-CN" b="0" i="0" dirty="0">
                <a:solidFill>
                  <a:srgbClr val="060607"/>
                </a:solidFill>
                <a:effectLst/>
                <a:latin typeface="PingFang SC"/>
              </a:rPr>
              <a:t>F</a:t>
            </a:r>
            <a:r>
              <a:rPr lang="zh-CN" altLang="en-US" b="0" i="0" dirty="0">
                <a:solidFill>
                  <a:srgbClr val="060607"/>
                </a:solidFill>
                <a:effectLst/>
                <a:latin typeface="PingFang SC"/>
              </a:rPr>
              <a:t>检验通常要求数据满足正态分布的假设。</a:t>
            </a:r>
          </a:p>
          <a:p>
            <a:endParaRPr lang="zh-CN" altLang="en-US" dirty="0"/>
          </a:p>
        </p:txBody>
      </p:sp>
    </p:spTree>
    <p:extLst>
      <p:ext uri="{BB962C8B-B14F-4D97-AF65-F5344CB8AC3E}">
        <p14:creationId xmlns:p14="http://schemas.microsoft.com/office/powerpoint/2010/main" val="3952534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5ECAD-A9E5-B8D4-FB39-543CF1CC82FC}"/>
              </a:ext>
            </a:extLst>
          </p:cNvPr>
          <p:cNvSpPr>
            <a:spLocks noGrp="1"/>
          </p:cNvSpPr>
          <p:nvPr>
            <p:ph type="title"/>
          </p:nvPr>
        </p:nvSpPr>
        <p:spPr/>
        <p:txBody>
          <a:bodyPr/>
          <a:lstStyle/>
          <a:p>
            <a:r>
              <a:rPr lang="zh-CN" altLang="en-US" dirty="0"/>
              <a:t>符号检验</a:t>
            </a:r>
          </a:p>
        </p:txBody>
      </p:sp>
      <p:sp>
        <p:nvSpPr>
          <p:cNvPr id="3" name="内容占位符 2">
            <a:extLst>
              <a:ext uri="{FF2B5EF4-FFF2-40B4-BE49-F238E27FC236}">
                <a16:creationId xmlns:a16="http://schemas.microsoft.com/office/drawing/2014/main" id="{8A44F502-7D3A-0696-4D81-B9009AE2EB6F}"/>
              </a:ext>
            </a:extLst>
          </p:cNvPr>
          <p:cNvSpPr>
            <a:spLocks noGrp="1"/>
          </p:cNvSpPr>
          <p:nvPr>
            <p:ph idx="1"/>
          </p:nvPr>
        </p:nvSpPr>
        <p:spPr/>
        <p:txBody>
          <a:bodyPr/>
          <a:lstStyle/>
          <a:p>
            <a:r>
              <a:rPr lang="zh-CN" altLang="en-US" b="0" i="0" dirty="0">
                <a:solidFill>
                  <a:srgbClr val="060607"/>
                </a:solidFill>
                <a:effectLst/>
                <a:latin typeface="PingFang SC"/>
              </a:rPr>
              <a:t>符号检验（</a:t>
            </a:r>
            <a:r>
              <a:rPr lang="en-US" altLang="zh-CN" b="0" i="0" dirty="0">
                <a:solidFill>
                  <a:srgbClr val="060607"/>
                </a:solidFill>
                <a:effectLst/>
                <a:latin typeface="PingFang SC"/>
              </a:rPr>
              <a:t>Sign Test</a:t>
            </a:r>
            <a:r>
              <a:rPr lang="zh-CN" altLang="en-US" b="0" i="0" dirty="0">
                <a:solidFill>
                  <a:srgbClr val="060607"/>
                </a:solidFill>
                <a:effectLst/>
                <a:latin typeface="PingFang SC"/>
              </a:rPr>
              <a:t>）是一种非参数统计检验方法，用于比较两个相关样本的中位数是否存在显著差异。</a:t>
            </a:r>
            <a:endParaRPr lang="en-US" altLang="zh-CN" b="0" i="0" dirty="0">
              <a:solidFill>
                <a:srgbClr val="060607"/>
              </a:solidFill>
              <a:effectLst/>
              <a:latin typeface="PingFang SC"/>
            </a:endParaRPr>
          </a:p>
          <a:p>
            <a:r>
              <a:rPr lang="zh-CN" altLang="en-US" b="0" i="0" dirty="0">
                <a:solidFill>
                  <a:srgbClr val="060607"/>
                </a:solidFill>
                <a:effectLst/>
                <a:latin typeface="PingFang SC"/>
              </a:rPr>
              <a:t>它是一种非常简单的检验，不需要计算标准差或方差，适用于样本量较小或数据不满足正态分布假设的情况。</a:t>
            </a:r>
            <a:endParaRPr lang="zh-CN" altLang="en-US" dirty="0"/>
          </a:p>
        </p:txBody>
      </p:sp>
    </p:spTree>
    <p:extLst>
      <p:ext uri="{BB962C8B-B14F-4D97-AF65-F5344CB8AC3E}">
        <p14:creationId xmlns:p14="http://schemas.microsoft.com/office/powerpoint/2010/main" val="4134103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1CA6A0-9CAA-AF79-79AF-DC1E7F88AACD}"/>
              </a:ext>
            </a:extLst>
          </p:cNvPr>
          <p:cNvSpPr>
            <a:spLocks noGrp="1"/>
          </p:cNvSpPr>
          <p:nvPr>
            <p:ph type="title"/>
          </p:nvPr>
        </p:nvSpPr>
        <p:spPr/>
        <p:txBody>
          <a:bodyPr/>
          <a:lstStyle/>
          <a:p>
            <a:r>
              <a:rPr lang="zh-CN" altLang="en-US" dirty="0"/>
              <a:t>符号检验</a:t>
            </a:r>
          </a:p>
        </p:txBody>
      </p:sp>
      <p:sp>
        <p:nvSpPr>
          <p:cNvPr id="3" name="内容占位符 2">
            <a:extLst>
              <a:ext uri="{FF2B5EF4-FFF2-40B4-BE49-F238E27FC236}">
                <a16:creationId xmlns:a16="http://schemas.microsoft.com/office/drawing/2014/main" id="{02456925-795D-11B2-83D1-CBA4C54C27AD}"/>
              </a:ext>
            </a:extLst>
          </p:cNvPr>
          <p:cNvSpPr>
            <a:spLocks noGrp="1"/>
          </p:cNvSpPr>
          <p:nvPr>
            <p:ph idx="1"/>
          </p:nvPr>
        </p:nvSpPr>
        <p:spPr/>
        <p:txBody>
          <a:bodyPr/>
          <a:lstStyle/>
          <a:p>
            <a:r>
              <a:rPr lang="zh-CN" altLang="en-US" dirty="0"/>
              <a:t>计算方法：</a:t>
            </a:r>
            <a:endParaRPr lang="en-US" altLang="zh-CN" dirty="0"/>
          </a:p>
          <a:p>
            <a:pPr algn="l">
              <a:buFont typeface="+mj-lt"/>
              <a:buAutoNum type="arabicPeriod"/>
            </a:pPr>
            <a:r>
              <a:rPr lang="zh-CN" altLang="en-US" i="0" dirty="0">
                <a:solidFill>
                  <a:srgbClr val="060607"/>
                </a:solidFill>
                <a:effectLst/>
                <a:latin typeface="PingFang SC"/>
              </a:rPr>
              <a:t>计算差异： </a:t>
            </a:r>
            <a:r>
              <a:rPr lang="zh-CN" altLang="en-US" b="0" i="0" dirty="0">
                <a:solidFill>
                  <a:srgbClr val="060607"/>
                </a:solidFill>
                <a:effectLst/>
                <a:latin typeface="PingFang SC"/>
              </a:rPr>
              <a:t>计算每对相关样本之间的差异（不考虑正负号）。</a:t>
            </a:r>
          </a:p>
          <a:p>
            <a:pPr algn="l">
              <a:buFont typeface="+mj-lt"/>
              <a:buAutoNum type="arabicPeriod"/>
            </a:pPr>
            <a:r>
              <a:rPr lang="zh-CN" altLang="en-US" i="0" dirty="0">
                <a:solidFill>
                  <a:srgbClr val="060607"/>
                </a:solidFill>
                <a:effectLst/>
                <a:latin typeface="PingFang SC"/>
              </a:rPr>
              <a:t>确定符号： </a:t>
            </a:r>
            <a:r>
              <a:rPr lang="zh-CN" altLang="en-US" b="0" i="0" dirty="0">
                <a:solidFill>
                  <a:srgbClr val="060607"/>
                </a:solidFill>
                <a:effectLst/>
                <a:latin typeface="PingFang SC"/>
              </a:rPr>
              <a:t>对于每一对差异，确定差异的符号（正或负），并记录差异的符号数量。</a:t>
            </a:r>
          </a:p>
          <a:p>
            <a:pPr algn="l">
              <a:buFont typeface="+mj-lt"/>
              <a:buAutoNum type="arabicPeriod"/>
            </a:pPr>
            <a:r>
              <a:rPr lang="zh-CN" altLang="en-US" i="0" dirty="0">
                <a:solidFill>
                  <a:srgbClr val="060607"/>
                </a:solidFill>
                <a:effectLst/>
                <a:latin typeface="PingFang SC"/>
              </a:rPr>
              <a:t>计算符号检验统计量： </a:t>
            </a:r>
            <a:r>
              <a:rPr lang="zh-CN" altLang="en-US" b="0" i="0" dirty="0">
                <a:solidFill>
                  <a:srgbClr val="060607"/>
                </a:solidFill>
                <a:effectLst/>
                <a:latin typeface="PingFang SC"/>
              </a:rPr>
              <a:t>符号检验统计量（</a:t>
            </a:r>
            <a:r>
              <a:rPr lang="en-US" altLang="zh-CN" b="0" i="0" dirty="0">
                <a:solidFill>
                  <a:srgbClr val="060607"/>
                </a:solidFill>
                <a:effectLst/>
                <a:latin typeface="PingFang SC"/>
              </a:rPr>
              <a:t>S</a:t>
            </a:r>
            <a:r>
              <a:rPr lang="zh-CN" altLang="en-US" b="0" i="0" dirty="0">
                <a:solidFill>
                  <a:srgbClr val="060607"/>
                </a:solidFill>
                <a:effectLst/>
                <a:latin typeface="PingFang SC"/>
              </a:rPr>
              <a:t>）是正差异的数量减去负差异的数量的绝对值。</a:t>
            </a:r>
          </a:p>
          <a:p>
            <a:endParaRPr lang="zh-CN" altLang="en-US" dirty="0"/>
          </a:p>
        </p:txBody>
      </p:sp>
    </p:spTree>
    <p:extLst>
      <p:ext uri="{BB962C8B-B14F-4D97-AF65-F5344CB8AC3E}">
        <p14:creationId xmlns:p14="http://schemas.microsoft.com/office/powerpoint/2010/main" val="1106011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C8093-B18A-FF67-D6AB-5FDB64352A72}"/>
              </a:ext>
            </a:extLst>
          </p:cNvPr>
          <p:cNvSpPr>
            <a:spLocks noGrp="1"/>
          </p:cNvSpPr>
          <p:nvPr>
            <p:ph type="title"/>
          </p:nvPr>
        </p:nvSpPr>
        <p:spPr/>
        <p:txBody>
          <a:bodyPr/>
          <a:lstStyle/>
          <a:p>
            <a:r>
              <a:rPr lang="zh-CN" altLang="en-US" dirty="0"/>
              <a:t>符号检验</a:t>
            </a:r>
          </a:p>
        </p:txBody>
      </p:sp>
      <p:sp>
        <p:nvSpPr>
          <p:cNvPr id="3" name="内容占位符 2">
            <a:extLst>
              <a:ext uri="{FF2B5EF4-FFF2-40B4-BE49-F238E27FC236}">
                <a16:creationId xmlns:a16="http://schemas.microsoft.com/office/drawing/2014/main" id="{C09B1C78-D1F5-1E3C-895C-64DB363BD878}"/>
              </a:ext>
            </a:extLst>
          </p:cNvPr>
          <p:cNvSpPr>
            <a:spLocks noGrp="1"/>
          </p:cNvSpPr>
          <p:nvPr>
            <p:ph idx="1"/>
          </p:nvPr>
        </p:nvSpPr>
        <p:spPr/>
        <p:txBody>
          <a:bodyPr/>
          <a:lstStyle/>
          <a:p>
            <a:r>
              <a:rPr lang="zh-CN" altLang="en-US" dirty="0"/>
              <a:t>作出决策：</a:t>
            </a:r>
          </a:p>
          <a:p>
            <a:pPr lvl="1"/>
            <a:r>
              <a:rPr lang="zh-CN" altLang="en-US" dirty="0"/>
              <a:t>如果计算出的</a:t>
            </a:r>
            <a:r>
              <a:rPr lang="en-US" altLang="zh-CN" dirty="0"/>
              <a:t>S</a:t>
            </a:r>
            <a:r>
              <a:rPr lang="zh-CN" altLang="en-US" dirty="0"/>
              <a:t>值大于临界值，或者对应的</a:t>
            </a:r>
            <a:r>
              <a:rPr lang="en-US" altLang="zh-CN" dirty="0"/>
              <a:t>p</a:t>
            </a:r>
            <a:r>
              <a:rPr lang="zh-CN" altLang="en-US" dirty="0"/>
              <a:t>值小于显著性水平，则拒绝原假设，认为两个相关样本的中位数存在显著差异。</a:t>
            </a:r>
          </a:p>
          <a:p>
            <a:pPr lvl="1"/>
            <a:r>
              <a:rPr lang="zh-CN" altLang="en-US" dirty="0"/>
              <a:t>如果</a:t>
            </a:r>
            <a:r>
              <a:rPr lang="en-US" altLang="zh-CN" dirty="0"/>
              <a:t>S</a:t>
            </a:r>
            <a:r>
              <a:rPr lang="zh-CN" altLang="en-US" dirty="0"/>
              <a:t>值小于或等于临界值，或者</a:t>
            </a:r>
            <a:r>
              <a:rPr lang="en-US" altLang="zh-CN" dirty="0"/>
              <a:t>p</a:t>
            </a:r>
            <a:r>
              <a:rPr lang="zh-CN" altLang="en-US" dirty="0"/>
              <a:t>值大于显著性水平，则不能拒绝原假设，认为没有足够的证据表明两个相关样本的中位数存在显著差异。</a:t>
            </a:r>
            <a:endParaRPr lang="en-US" altLang="zh-CN" dirty="0"/>
          </a:p>
          <a:p>
            <a:endParaRPr lang="en-US" altLang="zh-CN" dirty="0"/>
          </a:p>
          <a:p>
            <a:r>
              <a:rPr lang="en-GB" altLang="zh-CN" dirty="0"/>
              <a:t>[p, h, stats] = </a:t>
            </a:r>
            <a:r>
              <a:rPr lang="en-GB" altLang="zh-CN" dirty="0" err="1"/>
              <a:t>signtest</a:t>
            </a:r>
            <a:r>
              <a:rPr lang="en-GB" altLang="zh-CN" dirty="0"/>
              <a:t>(x)</a:t>
            </a:r>
            <a:endParaRPr lang="zh-CN" altLang="en-US" dirty="0"/>
          </a:p>
        </p:txBody>
      </p:sp>
    </p:spTree>
    <p:extLst>
      <p:ext uri="{BB962C8B-B14F-4D97-AF65-F5344CB8AC3E}">
        <p14:creationId xmlns:p14="http://schemas.microsoft.com/office/powerpoint/2010/main" val="38080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5EA9DB-7207-021B-07F5-74A23EEF65F8}"/>
              </a:ext>
            </a:extLst>
          </p:cNvPr>
          <p:cNvSpPr>
            <a:spLocks noGrp="1"/>
          </p:cNvSpPr>
          <p:nvPr>
            <p:ph type="title"/>
          </p:nvPr>
        </p:nvSpPr>
        <p:spPr/>
        <p:txBody>
          <a:bodyPr/>
          <a:lstStyle/>
          <a:p>
            <a:r>
              <a:rPr lang="en-GB" altLang="zh-CN" dirty="0"/>
              <a:t>Wilcoxon</a:t>
            </a:r>
            <a:r>
              <a:rPr lang="zh-CN" altLang="en-US" dirty="0"/>
              <a:t>符号检验</a:t>
            </a:r>
          </a:p>
        </p:txBody>
      </p:sp>
      <p:sp>
        <p:nvSpPr>
          <p:cNvPr id="3" name="内容占位符 2">
            <a:extLst>
              <a:ext uri="{FF2B5EF4-FFF2-40B4-BE49-F238E27FC236}">
                <a16:creationId xmlns:a16="http://schemas.microsoft.com/office/drawing/2014/main" id="{AF7A87F1-868F-78FD-2421-F5A6814AA42E}"/>
              </a:ext>
            </a:extLst>
          </p:cNvPr>
          <p:cNvSpPr>
            <a:spLocks noGrp="1"/>
          </p:cNvSpPr>
          <p:nvPr>
            <p:ph idx="1"/>
          </p:nvPr>
        </p:nvSpPr>
        <p:spPr/>
        <p:txBody>
          <a:bodyPr/>
          <a:lstStyle/>
          <a:p>
            <a:r>
              <a:rPr lang="en-US" altLang="zh-CN" b="0" i="0" dirty="0">
                <a:solidFill>
                  <a:srgbClr val="060607"/>
                </a:solidFill>
                <a:effectLst/>
                <a:latin typeface="PingFang SC"/>
              </a:rPr>
              <a:t>Wilcoxon</a:t>
            </a:r>
            <a:r>
              <a:rPr lang="zh-CN" altLang="en-US" b="0" i="0" dirty="0">
                <a:solidFill>
                  <a:srgbClr val="060607"/>
                </a:solidFill>
                <a:effectLst/>
                <a:latin typeface="PingFang SC"/>
              </a:rPr>
              <a:t>符号检验（</a:t>
            </a:r>
            <a:r>
              <a:rPr lang="en-US" altLang="zh-CN" b="0" i="0" dirty="0">
                <a:solidFill>
                  <a:srgbClr val="060607"/>
                </a:solidFill>
                <a:effectLst/>
                <a:latin typeface="PingFang SC"/>
              </a:rPr>
              <a:t>Wilcoxon Signed-Rank Test</a:t>
            </a:r>
            <a:r>
              <a:rPr lang="zh-CN" altLang="en-US" b="0" i="0" dirty="0">
                <a:solidFill>
                  <a:srgbClr val="060607"/>
                </a:solidFill>
                <a:effectLst/>
                <a:latin typeface="PingFang SC"/>
              </a:rPr>
              <a:t>）是一种非参数统计检验方法，用于比较两个相关样本或一组配对观测值的中位数是否存在显著差异。</a:t>
            </a:r>
            <a:endParaRPr lang="en-US" altLang="zh-CN" b="0" i="0" dirty="0">
              <a:solidFill>
                <a:srgbClr val="060607"/>
              </a:solidFill>
              <a:effectLst/>
              <a:latin typeface="PingFang SC"/>
            </a:endParaRPr>
          </a:p>
          <a:p>
            <a:r>
              <a:rPr lang="zh-CN" altLang="en-US" b="0" i="0" dirty="0">
                <a:solidFill>
                  <a:srgbClr val="060607"/>
                </a:solidFill>
                <a:effectLst/>
                <a:latin typeface="PingFang SC"/>
              </a:rPr>
              <a:t>这种检验适用于小样本数据，特别是当数据不满足正态分布假设时。</a:t>
            </a:r>
            <a:endParaRPr lang="zh-CN" altLang="en-US" dirty="0"/>
          </a:p>
        </p:txBody>
      </p:sp>
    </p:spTree>
    <p:extLst>
      <p:ext uri="{BB962C8B-B14F-4D97-AF65-F5344CB8AC3E}">
        <p14:creationId xmlns:p14="http://schemas.microsoft.com/office/powerpoint/2010/main" val="3777309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227841-DA66-F010-491B-69C18EA40EAD}"/>
              </a:ext>
            </a:extLst>
          </p:cNvPr>
          <p:cNvSpPr>
            <a:spLocks noGrp="1"/>
          </p:cNvSpPr>
          <p:nvPr>
            <p:ph type="title"/>
          </p:nvPr>
        </p:nvSpPr>
        <p:spPr/>
        <p:txBody>
          <a:bodyPr/>
          <a:lstStyle/>
          <a:p>
            <a:r>
              <a:rPr lang="en-GB" altLang="zh-CN" dirty="0"/>
              <a:t>Wilcoxon</a:t>
            </a:r>
            <a:r>
              <a:rPr lang="zh-CN" altLang="en-US" dirty="0"/>
              <a:t>符号检验</a:t>
            </a:r>
          </a:p>
        </p:txBody>
      </p:sp>
      <p:sp>
        <p:nvSpPr>
          <p:cNvPr id="3" name="内容占位符 2">
            <a:extLst>
              <a:ext uri="{FF2B5EF4-FFF2-40B4-BE49-F238E27FC236}">
                <a16:creationId xmlns:a16="http://schemas.microsoft.com/office/drawing/2014/main" id="{341C7CEF-F43D-1768-34D5-D5CF5E60E4EB}"/>
              </a:ext>
            </a:extLst>
          </p:cNvPr>
          <p:cNvSpPr>
            <a:spLocks noGrp="1"/>
          </p:cNvSpPr>
          <p:nvPr>
            <p:ph idx="1"/>
          </p:nvPr>
        </p:nvSpPr>
        <p:spPr/>
        <p:txBody>
          <a:bodyPr>
            <a:normAutofit lnSpcReduction="10000"/>
          </a:bodyPr>
          <a:lstStyle/>
          <a:p>
            <a:pPr algn="l">
              <a:buFont typeface="+mj-lt"/>
              <a:buAutoNum type="arabicPeriod"/>
            </a:pPr>
            <a:r>
              <a:rPr lang="zh-CN" altLang="en-US" i="0" dirty="0">
                <a:solidFill>
                  <a:srgbClr val="060607"/>
                </a:solidFill>
                <a:effectLst/>
                <a:latin typeface="PingFang SC"/>
              </a:rPr>
              <a:t>计算差异： 对每一对观测值计算差异（后测值减去前测值）。</a:t>
            </a:r>
          </a:p>
          <a:p>
            <a:pPr algn="l">
              <a:buFont typeface="+mj-lt"/>
              <a:buAutoNum type="arabicPeriod"/>
            </a:pPr>
            <a:r>
              <a:rPr lang="zh-CN" altLang="en-US" i="0" dirty="0">
                <a:solidFill>
                  <a:srgbClr val="060607"/>
                </a:solidFill>
                <a:effectLst/>
                <a:latin typeface="PingFang SC"/>
              </a:rPr>
              <a:t>确定符号和绝对值： 对于每一对差异，确定差异的符号（正或负），并计算差异的绝对值。</a:t>
            </a:r>
          </a:p>
          <a:p>
            <a:pPr algn="l">
              <a:buFont typeface="+mj-lt"/>
              <a:buAutoNum type="arabicPeriod"/>
            </a:pPr>
            <a:r>
              <a:rPr lang="zh-CN" altLang="en-US" i="0" dirty="0">
                <a:solidFill>
                  <a:srgbClr val="060607"/>
                </a:solidFill>
                <a:effectLst/>
                <a:latin typeface="PingFang SC"/>
              </a:rPr>
              <a:t>排序和累计秩次： 将所有差异的绝对值从小到大排序，并为每个差异分配一个秩次。对于相同的绝对值，分配平均秩次。</a:t>
            </a:r>
          </a:p>
          <a:p>
            <a:pPr algn="l">
              <a:buFont typeface="+mj-lt"/>
              <a:buAutoNum type="arabicPeriod"/>
            </a:pPr>
            <a:r>
              <a:rPr lang="zh-CN" altLang="en-US" i="0" dirty="0">
                <a:solidFill>
                  <a:srgbClr val="060607"/>
                </a:solidFill>
                <a:effectLst/>
                <a:latin typeface="PingFang SC"/>
              </a:rPr>
              <a:t>计算统计量： </a:t>
            </a:r>
            <a:r>
              <a:rPr lang="en-US" altLang="zh-CN" i="0" dirty="0">
                <a:solidFill>
                  <a:srgbClr val="060607"/>
                </a:solidFill>
                <a:effectLst/>
                <a:latin typeface="PingFang SC"/>
              </a:rPr>
              <a:t>Wilcoxon</a:t>
            </a:r>
            <a:r>
              <a:rPr lang="zh-CN" altLang="en-US" i="0" dirty="0">
                <a:solidFill>
                  <a:srgbClr val="060607"/>
                </a:solidFill>
                <a:effectLst/>
                <a:latin typeface="PingFang SC"/>
              </a:rPr>
              <a:t>符号检验统计量是正差异和负差异的秩次之和的较小者。</a:t>
            </a:r>
          </a:p>
          <a:p>
            <a:pPr algn="l">
              <a:buFont typeface="+mj-lt"/>
              <a:buAutoNum type="arabicPeriod"/>
            </a:pPr>
            <a:r>
              <a:rPr lang="zh-CN" altLang="en-US" i="0" dirty="0">
                <a:solidFill>
                  <a:srgbClr val="060607"/>
                </a:solidFill>
                <a:effectLst/>
                <a:latin typeface="PingFang SC"/>
              </a:rPr>
              <a:t>确定显著性水平： 使用</a:t>
            </a:r>
            <a:r>
              <a:rPr lang="en-US" altLang="zh-CN" i="0" dirty="0">
                <a:solidFill>
                  <a:srgbClr val="060607"/>
                </a:solidFill>
                <a:effectLst/>
                <a:latin typeface="PingFang SC"/>
              </a:rPr>
              <a:t>Wilcoxon</a:t>
            </a:r>
            <a:r>
              <a:rPr lang="zh-CN" altLang="en-US" i="0" dirty="0">
                <a:solidFill>
                  <a:srgbClr val="060607"/>
                </a:solidFill>
                <a:effectLst/>
                <a:latin typeface="PingFang SC"/>
              </a:rPr>
              <a:t>符号检验的临界值表或统计软件来确定显著性水平，这通常取决于样本大小和选择的显著性水平（如</a:t>
            </a:r>
            <a:r>
              <a:rPr lang="en-US" altLang="zh-CN" i="0" dirty="0">
                <a:solidFill>
                  <a:srgbClr val="060607"/>
                </a:solidFill>
                <a:effectLst/>
                <a:latin typeface="PingFang SC"/>
              </a:rPr>
              <a:t>0.05</a:t>
            </a:r>
            <a:r>
              <a:rPr lang="zh-CN" altLang="en-US" i="0" dirty="0">
                <a:solidFill>
                  <a:srgbClr val="060607"/>
                </a:solidFill>
                <a:effectLst/>
                <a:latin typeface="PingFang SC"/>
              </a:rPr>
              <a:t>）。</a:t>
            </a:r>
          </a:p>
          <a:p>
            <a:endParaRPr lang="zh-CN" altLang="en-US" dirty="0"/>
          </a:p>
        </p:txBody>
      </p:sp>
    </p:spTree>
    <p:extLst>
      <p:ext uri="{BB962C8B-B14F-4D97-AF65-F5344CB8AC3E}">
        <p14:creationId xmlns:p14="http://schemas.microsoft.com/office/powerpoint/2010/main" val="2935502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1EF98-9897-E9F5-201C-EC00F2A6DE1E}"/>
              </a:ext>
            </a:extLst>
          </p:cNvPr>
          <p:cNvSpPr>
            <a:spLocks noGrp="1"/>
          </p:cNvSpPr>
          <p:nvPr>
            <p:ph type="title"/>
          </p:nvPr>
        </p:nvSpPr>
        <p:spPr/>
        <p:txBody>
          <a:bodyPr/>
          <a:lstStyle/>
          <a:p>
            <a:r>
              <a:rPr lang="en-GB" altLang="zh-CN" dirty="0"/>
              <a:t>Wilcoxon</a:t>
            </a:r>
            <a:r>
              <a:rPr lang="zh-CN" altLang="en-US" dirty="0"/>
              <a:t>符号检验</a:t>
            </a:r>
          </a:p>
        </p:txBody>
      </p:sp>
      <p:sp>
        <p:nvSpPr>
          <p:cNvPr id="3" name="内容占位符 2">
            <a:extLst>
              <a:ext uri="{FF2B5EF4-FFF2-40B4-BE49-F238E27FC236}">
                <a16:creationId xmlns:a16="http://schemas.microsoft.com/office/drawing/2014/main" id="{6DBEF52A-2602-1662-83EC-B24B2CA2BA9F}"/>
              </a:ext>
            </a:extLst>
          </p:cNvPr>
          <p:cNvSpPr>
            <a:spLocks noGrp="1"/>
          </p:cNvSpPr>
          <p:nvPr>
            <p:ph idx="1"/>
          </p:nvPr>
        </p:nvSpPr>
        <p:spPr/>
        <p:txBody>
          <a:bodyPr/>
          <a:lstStyle/>
          <a:p>
            <a:r>
              <a:rPr lang="zh-CN" altLang="en-US" dirty="0"/>
              <a:t>作出决策：</a:t>
            </a:r>
          </a:p>
          <a:p>
            <a:pPr lvl="1"/>
            <a:r>
              <a:rPr lang="zh-CN" altLang="en-US" dirty="0"/>
              <a:t>如果计算出的统计量大于临界值，或者对应的</a:t>
            </a:r>
            <a:r>
              <a:rPr lang="en-US" altLang="zh-CN" dirty="0"/>
              <a:t>p</a:t>
            </a:r>
            <a:r>
              <a:rPr lang="zh-CN" altLang="en-US" dirty="0"/>
              <a:t>值小于显著性水平，则拒绝原假设，认为两个相关样本的中位数存在显著差异。</a:t>
            </a:r>
          </a:p>
          <a:p>
            <a:pPr lvl="1"/>
            <a:r>
              <a:rPr lang="zh-CN" altLang="en-US" dirty="0"/>
              <a:t>如果统计量小于或等于临界值，或者</a:t>
            </a:r>
            <a:r>
              <a:rPr lang="en-US" altLang="zh-CN" dirty="0"/>
              <a:t>p</a:t>
            </a:r>
            <a:r>
              <a:rPr lang="zh-CN" altLang="en-US" dirty="0"/>
              <a:t>值大于显著性水平，则不能拒绝原假设，认为没有足够的证据表明两个相关样本的中位数存在显著差异。</a:t>
            </a:r>
          </a:p>
        </p:txBody>
      </p:sp>
    </p:spTree>
    <p:extLst>
      <p:ext uri="{BB962C8B-B14F-4D97-AF65-F5344CB8AC3E}">
        <p14:creationId xmlns:p14="http://schemas.microsoft.com/office/powerpoint/2010/main" val="188375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82784-6E0C-03FF-E0AE-2E64C2250E5C}"/>
              </a:ext>
            </a:extLst>
          </p:cNvPr>
          <p:cNvSpPr>
            <a:spLocks noGrp="1"/>
          </p:cNvSpPr>
          <p:nvPr>
            <p:ph type="title"/>
          </p:nvPr>
        </p:nvSpPr>
        <p:spPr/>
        <p:txBody>
          <a:bodyPr/>
          <a:lstStyle/>
          <a:p>
            <a:r>
              <a:rPr lang="en-GB" altLang="zh-CN" dirty="0"/>
              <a:t>Wilcoxon</a:t>
            </a:r>
            <a:r>
              <a:rPr lang="zh-CN" altLang="en-US" dirty="0"/>
              <a:t>符号检验与符号检验的区别</a:t>
            </a:r>
          </a:p>
        </p:txBody>
      </p:sp>
      <p:sp>
        <p:nvSpPr>
          <p:cNvPr id="3" name="内容占位符 2">
            <a:extLst>
              <a:ext uri="{FF2B5EF4-FFF2-40B4-BE49-F238E27FC236}">
                <a16:creationId xmlns:a16="http://schemas.microsoft.com/office/drawing/2014/main" id="{EFB18791-9E0A-D432-8FBB-356CE677DC33}"/>
              </a:ext>
            </a:extLst>
          </p:cNvPr>
          <p:cNvSpPr>
            <a:spLocks noGrp="1"/>
          </p:cNvSpPr>
          <p:nvPr>
            <p:ph idx="1"/>
          </p:nvPr>
        </p:nvSpPr>
        <p:spPr/>
        <p:txBody>
          <a:bodyPr/>
          <a:lstStyle/>
          <a:p>
            <a:pPr algn="l">
              <a:buFont typeface="+mj-lt"/>
              <a:buAutoNum type="arabicPeriod"/>
            </a:pPr>
            <a:r>
              <a:rPr lang="en-US" altLang="zh-CN" b="0" i="0" dirty="0">
                <a:solidFill>
                  <a:srgbClr val="060607"/>
                </a:solidFill>
                <a:effectLst/>
                <a:latin typeface="PingFang SC"/>
              </a:rPr>
              <a:t>Wilcoxon</a:t>
            </a:r>
            <a:r>
              <a:rPr lang="zh-CN" altLang="en-US" b="0" i="0" dirty="0">
                <a:solidFill>
                  <a:srgbClr val="060607"/>
                </a:solidFill>
                <a:effectLst/>
                <a:latin typeface="PingFang SC"/>
              </a:rPr>
              <a:t>符号检验用于成对数据的比较，而符号检验可以用于单个样本与已知中值的比较。</a:t>
            </a:r>
          </a:p>
          <a:p>
            <a:pPr algn="l">
              <a:buFont typeface="+mj-lt"/>
              <a:buAutoNum type="arabicPeriod"/>
            </a:pPr>
            <a:r>
              <a:rPr lang="en-US" altLang="zh-CN" b="0" i="0" dirty="0">
                <a:solidFill>
                  <a:srgbClr val="060607"/>
                </a:solidFill>
                <a:effectLst/>
                <a:latin typeface="PingFang SC"/>
              </a:rPr>
              <a:t>Wilcoxon</a:t>
            </a:r>
            <a:r>
              <a:rPr lang="zh-CN" altLang="en-US" b="0" i="0" dirty="0">
                <a:solidFill>
                  <a:srgbClr val="060607"/>
                </a:solidFill>
                <a:effectLst/>
                <a:latin typeface="PingFang SC"/>
              </a:rPr>
              <a:t>符号检验考虑了差异的大小和方向，而符号检验只关注差异的符号。</a:t>
            </a:r>
          </a:p>
          <a:p>
            <a:pPr algn="l">
              <a:buFont typeface="+mj-lt"/>
              <a:buAutoNum type="arabicPeriod"/>
            </a:pPr>
            <a:r>
              <a:rPr lang="zh-CN" altLang="en-US" b="0" i="0" dirty="0">
                <a:solidFill>
                  <a:srgbClr val="060607"/>
                </a:solidFill>
                <a:effectLst/>
                <a:latin typeface="PingFang SC"/>
              </a:rPr>
              <a:t>由于</a:t>
            </a:r>
            <a:r>
              <a:rPr lang="en-US" altLang="zh-CN" b="0" i="0" dirty="0">
                <a:solidFill>
                  <a:srgbClr val="060607"/>
                </a:solidFill>
                <a:effectLst/>
                <a:latin typeface="PingFang SC"/>
              </a:rPr>
              <a:t>Wilcoxon</a:t>
            </a:r>
            <a:r>
              <a:rPr lang="zh-CN" altLang="en-US" b="0" i="0" dirty="0">
                <a:solidFill>
                  <a:srgbClr val="060607"/>
                </a:solidFill>
                <a:effectLst/>
                <a:latin typeface="PingFang SC"/>
              </a:rPr>
              <a:t>符号检验使用了秩次信息，它通常比符号检验具有更高的统计功效，尤其是在样本量较小的情况下。</a:t>
            </a:r>
          </a:p>
          <a:p>
            <a:pPr algn="l">
              <a:buFont typeface="+mj-lt"/>
              <a:buAutoNum type="arabicPeriod"/>
            </a:pPr>
            <a:r>
              <a:rPr lang="en-US" altLang="zh-CN" b="0" i="0" dirty="0">
                <a:solidFill>
                  <a:srgbClr val="060607"/>
                </a:solidFill>
                <a:effectLst/>
                <a:latin typeface="PingFang SC"/>
              </a:rPr>
              <a:t>Wilcoxon</a:t>
            </a:r>
            <a:r>
              <a:rPr lang="zh-CN" altLang="en-US" b="0" i="0" dirty="0">
                <a:solidFill>
                  <a:srgbClr val="060607"/>
                </a:solidFill>
                <a:effectLst/>
                <a:latin typeface="PingFang SC"/>
              </a:rPr>
              <a:t>符号检验假设数据围绕中值对称分布，而符号检验没有这样的假设。</a:t>
            </a:r>
          </a:p>
          <a:p>
            <a:endParaRPr lang="zh-CN" altLang="en-US" dirty="0"/>
          </a:p>
        </p:txBody>
      </p:sp>
    </p:spTree>
    <p:extLst>
      <p:ext uri="{BB962C8B-B14F-4D97-AF65-F5344CB8AC3E}">
        <p14:creationId xmlns:p14="http://schemas.microsoft.com/office/powerpoint/2010/main" val="1715018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415A6-FF87-EEBA-6EAC-38FAE0BC2A1F}"/>
              </a:ext>
            </a:extLst>
          </p:cNvPr>
          <p:cNvSpPr>
            <a:spLocks noGrp="1"/>
          </p:cNvSpPr>
          <p:nvPr>
            <p:ph type="title"/>
          </p:nvPr>
        </p:nvSpPr>
        <p:spPr/>
        <p:txBody>
          <a:bodyPr/>
          <a:lstStyle/>
          <a:p>
            <a:r>
              <a:rPr lang="zh-CN" altLang="en-US" dirty="0"/>
              <a:t>假设检验的两类错误</a:t>
            </a:r>
          </a:p>
        </p:txBody>
      </p:sp>
      <p:sp>
        <p:nvSpPr>
          <p:cNvPr id="3" name="内容占位符 2">
            <a:extLst>
              <a:ext uri="{FF2B5EF4-FFF2-40B4-BE49-F238E27FC236}">
                <a16:creationId xmlns:a16="http://schemas.microsoft.com/office/drawing/2014/main" id="{FB943C43-222A-9E0F-0B84-BD8C7E291919}"/>
              </a:ext>
            </a:extLst>
          </p:cNvPr>
          <p:cNvSpPr>
            <a:spLocks noGrp="1"/>
          </p:cNvSpPr>
          <p:nvPr>
            <p:ph idx="1"/>
          </p:nvPr>
        </p:nvSpPr>
        <p:spPr/>
        <p:txBody>
          <a:bodyPr/>
          <a:lstStyle/>
          <a:p>
            <a:pPr algn="l"/>
            <a:r>
              <a:rPr lang="zh-CN" altLang="en-US" b="0" i="0" dirty="0">
                <a:solidFill>
                  <a:srgbClr val="060607"/>
                </a:solidFill>
                <a:effectLst/>
                <a:latin typeface="PingFang SC"/>
              </a:rPr>
              <a:t>在统计学中，假设检验的两类错误指的是在做出统计决策时可能犯的两种类型的错误：</a:t>
            </a:r>
          </a:p>
          <a:p>
            <a:pPr algn="l"/>
            <a:r>
              <a:rPr lang="zh-CN" altLang="en-US" b="1" i="0" dirty="0">
                <a:solidFill>
                  <a:srgbClr val="060607"/>
                </a:solidFill>
                <a:effectLst/>
                <a:latin typeface="PingFang SC"/>
              </a:rPr>
              <a:t>第一类错误（</a:t>
            </a:r>
            <a:r>
              <a:rPr lang="en-US" altLang="zh-CN" b="1" i="0" dirty="0">
                <a:solidFill>
                  <a:srgbClr val="060607"/>
                </a:solidFill>
                <a:effectLst/>
                <a:latin typeface="PingFang SC"/>
              </a:rPr>
              <a:t>Type I Error</a:t>
            </a:r>
            <a:r>
              <a:rPr lang="zh-CN" altLang="en-US" b="1" i="0" dirty="0">
                <a:solidFill>
                  <a:srgbClr val="060607"/>
                </a:solidFill>
                <a:effectLst/>
                <a:latin typeface="PingFang SC"/>
              </a:rPr>
              <a:t>）：</a:t>
            </a:r>
          </a:p>
          <a:p>
            <a:pPr lvl="1"/>
            <a:r>
              <a:rPr lang="zh-CN" altLang="en-US" b="0" i="0" dirty="0">
                <a:solidFill>
                  <a:srgbClr val="060607"/>
                </a:solidFill>
                <a:effectLst/>
                <a:latin typeface="PingFang SC"/>
              </a:rPr>
              <a:t>也称为“假阳性”（</a:t>
            </a:r>
            <a:r>
              <a:rPr lang="en-US" altLang="zh-CN" b="0" i="0" dirty="0">
                <a:solidFill>
                  <a:srgbClr val="060607"/>
                </a:solidFill>
                <a:effectLst/>
                <a:latin typeface="PingFang SC"/>
              </a:rPr>
              <a:t>False Positive</a:t>
            </a:r>
            <a:r>
              <a:rPr lang="zh-CN" altLang="en-US" b="0" i="0" dirty="0">
                <a:solidFill>
                  <a:srgbClr val="060607"/>
                </a:solidFill>
                <a:effectLst/>
                <a:latin typeface="PingFang SC"/>
              </a:rPr>
              <a:t>）。</a:t>
            </a:r>
          </a:p>
          <a:p>
            <a:pPr lvl="1"/>
            <a:r>
              <a:rPr lang="zh-CN" altLang="en-US" b="0" i="0" dirty="0">
                <a:solidFill>
                  <a:srgbClr val="060607"/>
                </a:solidFill>
                <a:effectLst/>
                <a:latin typeface="PingFang SC"/>
              </a:rPr>
              <a:t>发生在当我们错误地拒绝了一个真实的原假设（</a:t>
            </a:r>
            <a:r>
              <a:rPr lang="en-US" altLang="zh-CN" b="0" i="0" dirty="0">
                <a:solidFill>
                  <a:srgbClr val="060607"/>
                </a:solidFill>
                <a:effectLst/>
                <a:latin typeface="PingFang SC"/>
              </a:rPr>
              <a:t>H0</a:t>
            </a:r>
            <a:r>
              <a:rPr lang="zh-CN" altLang="en-US" b="0" i="0" dirty="0">
                <a:solidFill>
                  <a:srgbClr val="060607"/>
                </a:solidFill>
                <a:effectLst/>
                <a:latin typeface="PingFang SC"/>
              </a:rPr>
              <a:t>）时。</a:t>
            </a:r>
          </a:p>
          <a:p>
            <a:pPr lvl="1"/>
            <a:r>
              <a:rPr lang="zh-CN" altLang="en-US" b="0" i="0" dirty="0">
                <a:solidFill>
                  <a:srgbClr val="060607"/>
                </a:solidFill>
                <a:effectLst/>
                <a:latin typeface="PingFang SC"/>
              </a:rPr>
              <a:t>换句话说，当实际上没有效应或差异，但我们的检验结果却表明有效应或差异时，就犯了第一类错误。</a:t>
            </a:r>
          </a:p>
          <a:p>
            <a:pPr lvl="1"/>
            <a:r>
              <a:rPr lang="zh-CN" altLang="en-US" b="0" i="0" dirty="0">
                <a:solidFill>
                  <a:srgbClr val="060607"/>
                </a:solidFill>
                <a:effectLst/>
                <a:latin typeface="PingFang SC"/>
              </a:rPr>
              <a:t>第一类错误的概率通常用显著性水平（</a:t>
            </a:r>
            <a:r>
              <a:rPr lang="en-US" altLang="zh-CN" b="0" i="0" dirty="0">
                <a:solidFill>
                  <a:srgbClr val="060607"/>
                </a:solidFill>
                <a:effectLst/>
                <a:latin typeface="PingFang SC"/>
              </a:rPr>
              <a:t>α</a:t>
            </a:r>
            <a:r>
              <a:rPr lang="zh-CN" altLang="en-US" b="0" i="0" dirty="0">
                <a:solidFill>
                  <a:srgbClr val="060607"/>
                </a:solidFill>
                <a:effectLst/>
                <a:latin typeface="PingFang SC"/>
              </a:rPr>
              <a:t>）表示，例如，如果设定显著性水平为</a:t>
            </a:r>
            <a:r>
              <a:rPr lang="en-US" altLang="zh-CN" b="0" i="0" dirty="0">
                <a:solidFill>
                  <a:srgbClr val="060607"/>
                </a:solidFill>
                <a:effectLst/>
                <a:latin typeface="PingFang SC"/>
              </a:rPr>
              <a:t>0.05</a:t>
            </a:r>
            <a:r>
              <a:rPr lang="zh-CN" altLang="en-US" b="0" i="0" dirty="0">
                <a:solidFill>
                  <a:srgbClr val="060607"/>
                </a:solidFill>
                <a:effectLst/>
                <a:latin typeface="PingFang SC"/>
              </a:rPr>
              <a:t>，那么犯第一类错误的概率就是</a:t>
            </a:r>
            <a:r>
              <a:rPr lang="en-US" altLang="zh-CN" b="0" i="0" dirty="0">
                <a:solidFill>
                  <a:srgbClr val="060607"/>
                </a:solidFill>
                <a:effectLst/>
                <a:latin typeface="PingFang SC"/>
              </a:rPr>
              <a:t>5%</a:t>
            </a:r>
            <a:r>
              <a:rPr lang="zh-CN" altLang="en-US" b="0" i="0" dirty="0">
                <a:solidFill>
                  <a:srgbClr val="060607"/>
                </a:solidFill>
                <a:effectLst/>
                <a:latin typeface="PingFang SC"/>
              </a:rPr>
              <a:t>。</a:t>
            </a:r>
          </a:p>
          <a:p>
            <a:endParaRPr lang="zh-CN" altLang="en-US" dirty="0"/>
          </a:p>
        </p:txBody>
      </p:sp>
    </p:spTree>
    <p:extLst>
      <p:ext uri="{BB962C8B-B14F-4D97-AF65-F5344CB8AC3E}">
        <p14:creationId xmlns:p14="http://schemas.microsoft.com/office/powerpoint/2010/main" val="4116351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415A6-FF87-EEBA-6EAC-38FAE0BC2A1F}"/>
              </a:ext>
            </a:extLst>
          </p:cNvPr>
          <p:cNvSpPr>
            <a:spLocks noGrp="1"/>
          </p:cNvSpPr>
          <p:nvPr>
            <p:ph type="title"/>
          </p:nvPr>
        </p:nvSpPr>
        <p:spPr/>
        <p:txBody>
          <a:bodyPr/>
          <a:lstStyle/>
          <a:p>
            <a:r>
              <a:rPr lang="zh-CN" altLang="en-US" dirty="0"/>
              <a:t>假设检验的两类错误</a:t>
            </a:r>
          </a:p>
        </p:txBody>
      </p:sp>
      <p:sp>
        <p:nvSpPr>
          <p:cNvPr id="3" name="内容占位符 2">
            <a:extLst>
              <a:ext uri="{FF2B5EF4-FFF2-40B4-BE49-F238E27FC236}">
                <a16:creationId xmlns:a16="http://schemas.microsoft.com/office/drawing/2014/main" id="{FB943C43-222A-9E0F-0B84-BD8C7E291919}"/>
              </a:ext>
            </a:extLst>
          </p:cNvPr>
          <p:cNvSpPr>
            <a:spLocks noGrp="1"/>
          </p:cNvSpPr>
          <p:nvPr>
            <p:ph idx="1"/>
          </p:nvPr>
        </p:nvSpPr>
        <p:spPr/>
        <p:txBody>
          <a:bodyPr/>
          <a:lstStyle/>
          <a:p>
            <a:pPr algn="l"/>
            <a:r>
              <a:rPr lang="zh-CN" altLang="en-US" b="1" i="0" dirty="0">
                <a:solidFill>
                  <a:srgbClr val="060607"/>
                </a:solidFill>
                <a:effectLst/>
                <a:latin typeface="PingFang SC"/>
              </a:rPr>
              <a:t>第二类错误（</a:t>
            </a:r>
            <a:r>
              <a:rPr lang="en-US" altLang="zh-CN" b="1" i="0" dirty="0">
                <a:solidFill>
                  <a:srgbClr val="060607"/>
                </a:solidFill>
                <a:effectLst/>
                <a:latin typeface="PingFang SC"/>
              </a:rPr>
              <a:t>Type II Error</a:t>
            </a:r>
            <a:r>
              <a:rPr lang="zh-CN" altLang="en-US" b="1" i="0" dirty="0">
                <a:solidFill>
                  <a:srgbClr val="060607"/>
                </a:solidFill>
                <a:effectLst/>
                <a:latin typeface="PingFang SC"/>
              </a:rPr>
              <a:t>）：</a:t>
            </a:r>
          </a:p>
          <a:p>
            <a:pPr lvl="1"/>
            <a:r>
              <a:rPr lang="zh-CN" altLang="en-US" b="0" i="0" dirty="0">
                <a:solidFill>
                  <a:srgbClr val="060607"/>
                </a:solidFill>
                <a:effectLst/>
                <a:latin typeface="PingFang SC"/>
              </a:rPr>
              <a:t>也称为“假阴性”（</a:t>
            </a:r>
            <a:r>
              <a:rPr lang="en-US" altLang="zh-CN" b="0" i="0" dirty="0">
                <a:solidFill>
                  <a:srgbClr val="060607"/>
                </a:solidFill>
                <a:effectLst/>
                <a:latin typeface="PingFang SC"/>
              </a:rPr>
              <a:t>False Negative</a:t>
            </a:r>
            <a:r>
              <a:rPr lang="zh-CN" altLang="en-US" b="0" i="0" dirty="0">
                <a:solidFill>
                  <a:srgbClr val="060607"/>
                </a:solidFill>
                <a:effectLst/>
                <a:latin typeface="PingFang SC"/>
              </a:rPr>
              <a:t>）。</a:t>
            </a:r>
          </a:p>
          <a:p>
            <a:pPr lvl="1"/>
            <a:r>
              <a:rPr lang="zh-CN" altLang="en-US" b="0" i="0" dirty="0">
                <a:solidFill>
                  <a:srgbClr val="060607"/>
                </a:solidFill>
                <a:effectLst/>
                <a:latin typeface="PingFang SC"/>
              </a:rPr>
              <a:t>发生在当我们错误地接受了原假设（</a:t>
            </a:r>
            <a:r>
              <a:rPr lang="en-US" altLang="zh-CN" b="0" i="0" dirty="0">
                <a:solidFill>
                  <a:srgbClr val="060607"/>
                </a:solidFill>
                <a:effectLst/>
                <a:latin typeface="PingFang SC"/>
              </a:rPr>
              <a:t>H0</a:t>
            </a:r>
            <a:r>
              <a:rPr lang="zh-CN" altLang="en-US" b="0" i="0" dirty="0">
                <a:solidFill>
                  <a:srgbClr val="060607"/>
                </a:solidFill>
                <a:effectLst/>
                <a:latin typeface="PingFang SC"/>
              </a:rPr>
              <a:t>）时，实际上备择假设（</a:t>
            </a:r>
            <a:r>
              <a:rPr lang="en-US" altLang="zh-CN" b="0" i="0" dirty="0">
                <a:solidFill>
                  <a:srgbClr val="060607"/>
                </a:solidFill>
                <a:effectLst/>
                <a:latin typeface="PingFang SC"/>
              </a:rPr>
              <a:t>H1</a:t>
            </a:r>
            <a:r>
              <a:rPr lang="zh-CN" altLang="en-US" b="0" i="0" dirty="0">
                <a:solidFill>
                  <a:srgbClr val="060607"/>
                </a:solidFill>
                <a:effectLst/>
                <a:latin typeface="PingFang SC"/>
              </a:rPr>
              <a:t>）是真的。</a:t>
            </a:r>
          </a:p>
          <a:p>
            <a:pPr lvl="1"/>
            <a:r>
              <a:rPr lang="zh-CN" altLang="en-US" b="0" i="0" dirty="0">
                <a:solidFill>
                  <a:srgbClr val="060607"/>
                </a:solidFill>
                <a:effectLst/>
                <a:latin typeface="PingFang SC"/>
              </a:rPr>
              <a:t>也就是说，当实际上存在效应或差异，但我们的检验结果却表明没有效应或差异时，就犯了第二类错误。</a:t>
            </a:r>
          </a:p>
          <a:p>
            <a:pPr lvl="1"/>
            <a:r>
              <a:rPr lang="zh-CN" altLang="en-US" b="0" i="0" dirty="0">
                <a:solidFill>
                  <a:srgbClr val="060607"/>
                </a:solidFill>
                <a:effectLst/>
                <a:latin typeface="PingFang SC"/>
              </a:rPr>
              <a:t>第二类错误的概率用</a:t>
            </a:r>
            <a:r>
              <a:rPr lang="en-US" altLang="zh-CN" b="0" i="0" dirty="0">
                <a:solidFill>
                  <a:srgbClr val="060607"/>
                </a:solidFill>
                <a:effectLst/>
                <a:latin typeface="PingFang SC"/>
              </a:rPr>
              <a:t>β</a:t>
            </a:r>
            <a:r>
              <a:rPr lang="zh-CN" altLang="en-US" b="0" i="0" dirty="0">
                <a:solidFill>
                  <a:srgbClr val="060607"/>
                </a:solidFill>
                <a:effectLst/>
                <a:latin typeface="PingFang SC"/>
              </a:rPr>
              <a:t>（</a:t>
            </a:r>
            <a:r>
              <a:rPr lang="en-US" altLang="zh-CN" b="0" i="0" dirty="0">
                <a:solidFill>
                  <a:srgbClr val="060607"/>
                </a:solidFill>
                <a:effectLst/>
                <a:latin typeface="PingFang SC"/>
              </a:rPr>
              <a:t>beta</a:t>
            </a:r>
            <a:r>
              <a:rPr lang="zh-CN" altLang="en-US" b="0" i="0" dirty="0">
                <a:solidFill>
                  <a:srgbClr val="060607"/>
                </a:solidFill>
                <a:effectLst/>
                <a:latin typeface="PingFang SC"/>
              </a:rPr>
              <a:t>）表示，而检验的统计功效（</a:t>
            </a:r>
            <a:r>
              <a:rPr lang="en-US" altLang="zh-CN" b="0" i="0" dirty="0">
                <a:solidFill>
                  <a:srgbClr val="060607"/>
                </a:solidFill>
                <a:effectLst/>
                <a:latin typeface="PingFang SC"/>
              </a:rPr>
              <a:t>power of the test</a:t>
            </a:r>
            <a:r>
              <a:rPr lang="zh-CN" altLang="en-US" b="0" i="0" dirty="0">
                <a:solidFill>
                  <a:srgbClr val="060607"/>
                </a:solidFill>
                <a:effectLst/>
                <a:latin typeface="PingFang SC"/>
              </a:rPr>
              <a:t>）是</a:t>
            </a:r>
            <a:r>
              <a:rPr lang="en-US" altLang="zh-CN" b="0" i="0" dirty="0">
                <a:solidFill>
                  <a:srgbClr val="060607"/>
                </a:solidFill>
                <a:effectLst/>
                <a:latin typeface="PingFang SC"/>
              </a:rPr>
              <a:t>1-β</a:t>
            </a:r>
            <a:r>
              <a:rPr lang="zh-CN" altLang="en-US" b="0" i="0" dirty="0">
                <a:solidFill>
                  <a:srgbClr val="060607"/>
                </a:solidFill>
                <a:effectLst/>
                <a:latin typeface="PingFang SC"/>
              </a:rPr>
              <a:t>，表示正确检测到实际效应的概率。</a:t>
            </a:r>
          </a:p>
          <a:p>
            <a:endParaRPr lang="zh-CN" altLang="en-US" dirty="0"/>
          </a:p>
        </p:txBody>
      </p:sp>
    </p:spTree>
    <p:extLst>
      <p:ext uri="{BB962C8B-B14F-4D97-AF65-F5344CB8AC3E}">
        <p14:creationId xmlns:p14="http://schemas.microsoft.com/office/powerpoint/2010/main" val="3442970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60E87F-FFF8-73EF-C196-D39C10227CC2}"/>
              </a:ext>
            </a:extLst>
          </p:cNvPr>
          <p:cNvSpPr>
            <a:spLocks noGrp="1"/>
          </p:cNvSpPr>
          <p:nvPr>
            <p:ph type="title"/>
          </p:nvPr>
        </p:nvSpPr>
        <p:spPr/>
        <p:txBody>
          <a:bodyPr/>
          <a:lstStyle/>
          <a:p>
            <a:r>
              <a:rPr lang="zh-CN" altLang="en-US" b="1" i="0" dirty="0">
                <a:solidFill>
                  <a:srgbClr val="060607"/>
                </a:solidFill>
                <a:effectLst/>
                <a:latin typeface="PingFang SC"/>
              </a:rPr>
              <a:t>检验功效与样本容量</a:t>
            </a:r>
            <a:endParaRPr lang="zh-CN" altLang="en-US" dirty="0"/>
          </a:p>
        </p:txBody>
      </p:sp>
      <p:sp>
        <p:nvSpPr>
          <p:cNvPr id="3" name="内容占位符 2">
            <a:extLst>
              <a:ext uri="{FF2B5EF4-FFF2-40B4-BE49-F238E27FC236}">
                <a16:creationId xmlns:a16="http://schemas.microsoft.com/office/drawing/2014/main" id="{97A19550-AB76-1413-D0C1-C05105600780}"/>
              </a:ext>
            </a:extLst>
          </p:cNvPr>
          <p:cNvSpPr>
            <a:spLocks noGrp="1"/>
          </p:cNvSpPr>
          <p:nvPr>
            <p:ph idx="1"/>
          </p:nvPr>
        </p:nvSpPr>
        <p:spPr/>
        <p:txBody>
          <a:bodyPr/>
          <a:lstStyle/>
          <a:p>
            <a:r>
              <a:rPr lang="zh-CN" altLang="en-US" b="0" i="0" dirty="0">
                <a:solidFill>
                  <a:srgbClr val="060607"/>
                </a:solidFill>
                <a:effectLst/>
                <a:latin typeface="PingFang SC"/>
              </a:rPr>
              <a:t>检验的功效（</a:t>
            </a:r>
            <a:r>
              <a:rPr lang="en-US" altLang="zh-CN" b="0" i="0" dirty="0">
                <a:solidFill>
                  <a:srgbClr val="060607"/>
                </a:solidFill>
                <a:effectLst/>
                <a:latin typeface="PingFang SC"/>
              </a:rPr>
              <a:t>power of the test</a:t>
            </a:r>
            <a:r>
              <a:rPr lang="zh-CN" altLang="en-US" b="0" i="0" dirty="0">
                <a:solidFill>
                  <a:srgbClr val="060607"/>
                </a:solidFill>
                <a:effectLst/>
                <a:latin typeface="PingFang SC"/>
              </a:rPr>
              <a:t>）是指在原假设为假的情况下，正确拒绝原假设的概率，即检测到实际效应的能力。</a:t>
            </a:r>
            <a:endParaRPr lang="en-US" altLang="zh-CN" b="0" i="0" dirty="0">
              <a:solidFill>
                <a:srgbClr val="060607"/>
              </a:solidFill>
              <a:effectLst/>
              <a:latin typeface="PingFang SC"/>
            </a:endParaRPr>
          </a:p>
          <a:p>
            <a:r>
              <a:rPr lang="zh-CN" altLang="en-US" b="0" i="0" dirty="0">
                <a:solidFill>
                  <a:srgbClr val="060607"/>
                </a:solidFill>
                <a:effectLst/>
                <a:latin typeface="PingFang SC"/>
              </a:rPr>
              <a:t>检验的功效与样本容量之间存在直接的关系：</a:t>
            </a:r>
            <a:r>
              <a:rPr lang="zh-CN" altLang="en-US" b="1" i="0" dirty="0">
                <a:solidFill>
                  <a:srgbClr val="060607"/>
                </a:solidFill>
                <a:effectLst/>
                <a:latin typeface="PingFang SC"/>
              </a:rPr>
              <a:t>样本容量越大，检验的功效通常越高。</a:t>
            </a:r>
            <a:endParaRPr lang="zh-CN" altLang="en-US" b="1" dirty="0"/>
          </a:p>
        </p:txBody>
      </p:sp>
    </p:spTree>
    <p:extLst>
      <p:ext uri="{BB962C8B-B14F-4D97-AF65-F5344CB8AC3E}">
        <p14:creationId xmlns:p14="http://schemas.microsoft.com/office/powerpoint/2010/main" val="1769949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7E1C2-9CEC-0E12-531C-CB2A3C7FBDA7}"/>
              </a:ext>
            </a:extLst>
          </p:cNvPr>
          <p:cNvSpPr>
            <a:spLocks noGrp="1"/>
          </p:cNvSpPr>
          <p:nvPr>
            <p:ph type="title"/>
          </p:nvPr>
        </p:nvSpPr>
        <p:spPr/>
        <p:txBody>
          <a:bodyPr/>
          <a:lstStyle/>
          <a:p>
            <a:r>
              <a:rPr lang="zh-CN" altLang="en-US" dirty="0"/>
              <a:t>假设检验的两类错误</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1922D43-81B6-DDA7-F49E-DE941BC4ECDA}"/>
                  </a:ext>
                </a:extLst>
              </p:cNvPr>
              <p:cNvSpPr>
                <a:spLocks noGrp="1"/>
              </p:cNvSpPr>
              <p:nvPr>
                <p:ph idx="1"/>
              </p:nvPr>
            </p:nvSpPr>
            <p:spPr/>
            <p:txBody>
              <a:bodyPr/>
              <a:lstStyle/>
              <a:p>
                <a:r>
                  <a:rPr lang="zh-CN" altLang="en-US" dirty="0"/>
                  <a:t>假设</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𝐻</m:t>
                        </m:r>
                      </m:e>
                      <m:sub>
                        <m:r>
                          <a:rPr lang="en-GB" altLang="zh-CN" b="0" i="1" smtClean="0">
                            <a:latin typeface="Cambria Math" panose="02040503050406030204" pitchFamily="18" charset="0"/>
                          </a:rPr>
                          <m:t>0</m:t>
                        </m:r>
                      </m:sub>
                    </m:sSub>
                    <m:r>
                      <a:rPr lang="en-GB"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=30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𝐻</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=32</m:t>
                    </m:r>
                  </m:oMath>
                </a14:m>
                <a:endParaRPr lang="en-US" altLang="zh-CN" b="0" dirty="0"/>
              </a:p>
              <a:p>
                <a:endParaRPr lang="en-US" altLang="zh-CN" dirty="0"/>
              </a:p>
              <a:p>
                <a:endParaRPr lang="en-US" altLang="zh-CN" dirty="0"/>
              </a:p>
              <a:p>
                <a:endParaRPr lang="en-US" altLang="zh-CN" dirty="0"/>
              </a:p>
              <a:p>
                <a:endParaRPr lang="en-US" altLang="zh-CN" dirty="0"/>
              </a:p>
              <a:p>
                <a:endParaRPr lang="en-US" altLang="zh-CN" dirty="0"/>
              </a:p>
              <a:p>
                <a:r>
                  <a:rPr lang="zh-CN" altLang="en-US" b="1" dirty="0"/>
                  <a:t>检验的功效：</a:t>
                </a:r>
                <a:r>
                  <a:rPr lang="zh-CN" altLang="en-US" dirty="0"/>
                  <a:t>原假设不成立的条件下，拒绝原假设的概率</a:t>
                </a:r>
              </a:p>
            </p:txBody>
          </p:sp>
        </mc:Choice>
        <mc:Fallback xmlns="">
          <p:sp>
            <p:nvSpPr>
              <p:cNvPr id="3" name="内容占位符 2">
                <a:extLst>
                  <a:ext uri="{FF2B5EF4-FFF2-40B4-BE49-F238E27FC236}">
                    <a16:creationId xmlns:a16="http://schemas.microsoft.com/office/drawing/2014/main" id="{01922D43-81B6-DDA7-F49E-DE941BC4ECDA}"/>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E12869E3-FC8D-DA5B-A108-8E460A1116C0}"/>
                  </a:ext>
                </a:extLst>
              </p:cNvPr>
              <p:cNvGraphicFramePr>
                <a:graphicFrameLocks noGrp="1"/>
              </p:cNvGraphicFramePr>
              <p:nvPr>
                <p:extLst>
                  <p:ext uri="{D42A27DB-BD31-4B8C-83A1-F6EECF244321}">
                    <p14:modId xmlns:p14="http://schemas.microsoft.com/office/powerpoint/2010/main" val="3615700143"/>
                  </p:ext>
                </p:extLst>
              </p:nvPr>
            </p:nvGraphicFramePr>
            <p:xfrm>
              <a:off x="1690029" y="2875569"/>
              <a:ext cx="8127999" cy="1554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978438209"/>
                        </a:ext>
                      </a:extLst>
                    </a:gridCol>
                    <a:gridCol w="2709333">
                      <a:extLst>
                        <a:ext uri="{9D8B030D-6E8A-4147-A177-3AD203B41FA5}">
                          <a16:colId xmlns:a16="http://schemas.microsoft.com/office/drawing/2014/main" val="1247667865"/>
                        </a:ext>
                      </a:extLst>
                    </a:gridCol>
                    <a:gridCol w="2709333">
                      <a:extLst>
                        <a:ext uri="{9D8B030D-6E8A-4147-A177-3AD203B41FA5}">
                          <a16:colId xmlns:a16="http://schemas.microsoft.com/office/drawing/2014/main" val="2546849060"/>
                        </a:ext>
                      </a:extLst>
                    </a:gridCol>
                  </a:tblGrid>
                  <a:tr h="481723">
                    <a:tc>
                      <a:txBody>
                        <a:bodyPr/>
                        <a:lstStyle/>
                        <a:p>
                          <a:pPr algn="ctr"/>
                          <a:r>
                            <a:rPr lang="zh-CN" altLang="en-US" sz="2800" dirty="0"/>
                            <a:t>决策</a:t>
                          </a:r>
                        </a:p>
                      </a:txBody>
                      <a:tcPr/>
                    </a:tc>
                    <a:tc>
                      <a:txBody>
                        <a:bodyPr/>
                        <a:lstStyle/>
                        <a:p>
                          <a:pPr algn="ctr"/>
                          <a:r>
                            <a:rPr lang="en-US" altLang="zh-CN" sz="2800" dirty="0"/>
                            <a:t>H0</a:t>
                          </a:r>
                          <a:r>
                            <a:rPr lang="zh-CN" altLang="en-US" sz="2800" dirty="0"/>
                            <a:t>为真</a:t>
                          </a:r>
                        </a:p>
                      </a:txBody>
                      <a:tcPr/>
                    </a:tc>
                    <a:tc>
                      <a:txBody>
                        <a:bodyPr/>
                        <a:lstStyle/>
                        <a:p>
                          <a:pPr algn="ctr"/>
                          <a:r>
                            <a:rPr lang="en-US" altLang="zh-CN" sz="2800" dirty="0"/>
                            <a:t>H1</a:t>
                          </a:r>
                          <a:r>
                            <a:rPr lang="zh-CN" altLang="en-US" sz="2800" dirty="0"/>
                            <a:t>为真</a:t>
                          </a:r>
                        </a:p>
                      </a:txBody>
                      <a:tcPr/>
                    </a:tc>
                    <a:extLst>
                      <a:ext uri="{0D108BD9-81ED-4DB2-BD59-A6C34878D82A}">
                        <a16:rowId xmlns:a16="http://schemas.microsoft.com/office/drawing/2014/main" val="403542597"/>
                      </a:ext>
                    </a:extLst>
                  </a:tr>
                  <a:tr h="481723">
                    <a:tc>
                      <a:txBody>
                        <a:bodyPr/>
                        <a:lstStyle/>
                        <a:p>
                          <a:pPr algn="ctr"/>
                          <a:r>
                            <a:rPr lang="zh-CN" altLang="en-US" sz="2800" dirty="0"/>
                            <a:t>接受</a:t>
                          </a:r>
                          <a:r>
                            <a:rPr lang="en-US" altLang="zh-CN" sz="2800" dirty="0"/>
                            <a:t>H0</a:t>
                          </a:r>
                          <a:endParaRPr lang="zh-CN" altLang="en-US" sz="2800"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𝛼</m:t>
                                </m:r>
                              </m:oMath>
                            </m:oMathPara>
                          </a14:m>
                          <a:endParaRPr lang="zh-CN" altLang="en-US" sz="2800" dirty="0"/>
                        </a:p>
                      </a:txBody>
                      <a:tcPr/>
                    </a:tc>
                    <a:tc>
                      <a:txBody>
                        <a:bodyPr/>
                        <a:lstStyle/>
                        <a:p>
                          <a:pPr algn="ctr"/>
                          <a:r>
                            <a:rPr lang="zh-CN" altLang="en-US" sz="2800" dirty="0"/>
                            <a:t>第二类错误</a:t>
                          </a:r>
                          <a:r>
                            <a:rPr lang="en-US" altLang="zh-CN" sz="2800" dirty="0"/>
                            <a:t>(</a:t>
                          </a:r>
                          <a14:m>
                            <m:oMath xmlns:m="http://schemas.openxmlformats.org/officeDocument/2006/math">
                              <m:r>
                                <a:rPr lang="en-US" altLang="zh-CN" sz="2800" b="0" i="1" smtClean="0">
                                  <a:latin typeface="Cambria Math" panose="02040503050406030204" pitchFamily="18" charset="0"/>
                                </a:rPr>
                                <m:t>𝛽</m:t>
                              </m:r>
                              <m:r>
                                <a:rPr lang="en-US" altLang="zh-CN" sz="2800" b="0" i="1" smtClean="0">
                                  <a:latin typeface="Cambria Math" panose="02040503050406030204" pitchFamily="18" charset="0"/>
                                </a:rPr>
                                <m:t>)</m:t>
                              </m:r>
                            </m:oMath>
                          </a14:m>
                          <a:endParaRPr lang="zh-CN" altLang="en-US" sz="2800" dirty="0"/>
                        </a:p>
                      </a:txBody>
                      <a:tcPr/>
                    </a:tc>
                    <a:extLst>
                      <a:ext uri="{0D108BD9-81ED-4DB2-BD59-A6C34878D82A}">
                        <a16:rowId xmlns:a16="http://schemas.microsoft.com/office/drawing/2014/main" val="4194944625"/>
                      </a:ext>
                    </a:extLst>
                  </a:tr>
                  <a:tr h="481723">
                    <a:tc>
                      <a:txBody>
                        <a:bodyPr/>
                        <a:lstStyle/>
                        <a:p>
                          <a:pPr algn="ctr"/>
                          <a:r>
                            <a:rPr lang="zh-CN" altLang="en-US" sz="2800" dirty="0"/>
                            <a:t>拒绝</a:t>
                          </a:r>
                          <a:r>
                            <a:rPr lang="en-US" altLang="zh-CN" sz="2800" dirty="0"/>
                            <a:t>H0</a:t>
                          </a:r>
                          <a:endParaRPr lang="zh-CN" altLang="en-US" sz="2800" dirty="0"/>
                        </a:p>
                      </a:txBody>
                      <a:tcPr/>
                    </a:tc>
                    <a:tc>
                      <a:txBody>
                        <a:bodyPr/>
                        <a:lstStyle/>
                        <a:p>
                          <a:pPr algn="ctr"/>
                          <a:r>
                            <a:rPr lang="zh-CN" altLang="en-US" sz="2800" b="0" dirty="0"/>
                            <a:t>第一类</a:t>
                          </a:r>
                          <a14:m>
                            <m:oMath xmlns:m="http://schemas.openxmlformats.org/officeDocument/2006/math">
                              <m:r>
                                <a:rPr lang="zh-CN" altLang="en-US" sz="2800" b="0" i="1" smtClean="0">
                                  <a:latin typeface="Cambria Math" panose="02040503050406030204" pitchFamily="18" charset="0"/>
                                </a:rPr>
                                <m:t>错误</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𝛼</m:t>
                              </m:r>
                              <m:r>
                                <a:rPr lang="en-US" altLang="zh-CN" sz="2800" b="0" i="1" smtClean="0">
                                  <a:latin typeface="Cambria Math" panose="02040503050406030204" pitchFamily="18" charset="0"/>
                                </a:rPr>
                                <m:t>)</m:t>
                              </m:r>
                            </m:oMath>
                          </a14:m>
                          <a:endParaRPr lang="zh-CN" altLang="en-US" sz="2800" dirty="0"/>
                        </a:p>
                      </a:txBody>
                      <a:tcPr/>
                    </a:tc>
                    <a:tc>
                      <a:txBody>
                        <a:bodyPr/>
                        <a:lstStyle/>
                        <a:p>
                          <a:pPr algn="ctr"/>
                          <a:r>
                            <a:rPr lang="zh-CN" altLang="en-US" sz="2800" dirty="0"/>
                            <a:t>功效</a:t>
                          </a:r>
                          <a:r>
                            <a:rPr lang="en-US" altLang="zh-CN" sz="2800" dirty="0"/>
                            <a:t>(</a:t>
                          </a:r>
                          <a14:m>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𝛽</m:t>
                              </m:r>
                            </m:oMath>
                          </a14:m>
                          <a:r>
                            <a:rPr lang="en-US" altLang="zh-CN" sz="2800" dirty="0"/>
                            <a:t>)</a:t>
                          </a:r>
                          <a:endParaRPr lang="zh-CN" altLang="en-US" sz="2800" dirty="0"/>
                        </a:p>
                      </a:txBody>
                      <a:tcPr/>
                    </a:tc>
                    <a:extLst>
                      <a:ext uri="{0D108BD9-81ED-4DB2-BD59-A6C34878D82A}">
                        <a16:rowId xmlns:a16="http://schemas.microsoft.com/office/drawing/2014/main" val="218443869"/>
                      </a:ext>
                    </a:extLst>
                  </a:tr>
                </a:tbl>
              </a:graphicData>
            </a:graphic>
          </p:graphicFrame>
        </mc:Choice>
        <mc:Fallback xmlns="">
          <p:graphicFrame>
            <p:nvGraphicFramePr>
              <p:cNvPr id="4" name="表格 3">
                <a:extLst>
                  <a:ext uri="{FF2B5EF4-FFF2-40B4-BE49-F238E27FC236}">
                    <a16:creationId xmlns:a16="http://schemas.microsoft.com/office/drawing/2014/main" id="{E12869E3-FC8D-DA5B-A108-8E460A1116C0}"/>
                  </a:ext>
                </a:extLst>
              </p:cNvPr>
              <p:cNvGraphicFramePr>
                <a:graphicFrameLocks noGrp="1"/>
              </p:cNvGraphicFramePr>
              <p:nvPr>
                <p:extLst>
                  <p:ext uri="{D42A27DB-BD31-4B8C-83A1-F6EECF244321}">
                    <p14:modId xmlns:p14="http://schemas.microsoft.com/office/powerpoint/2010/main" val="3615700143"/>
                  </p:ext>
                </p:extLst>
              </p:nvPr>
            </p:nvGraphicFramePr>
            <p:xfrm>
              <a:off x="1690029" y="2875569"/>
              <a:ext cx="8127999" cy="1554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978438209"/>
                        </a:ext>
                      </a:extLst>
                    </a:gridCol>
                    <a:gridCol w="2709333">
                      <a:extLst>
                        <a:ext uri="{9D8B030D-6E8A-4147-A177-3AD203B41FA5}">
                          <a16:colId xmlns:a16="http://schemas.microsoft.com/office/drawing/2014/main" val="1247667865"/>
                        </a:ext>
                      </a:extLst>
                    </a:gridCol>
                    <a:gridCol w="2709333">
                      <a:extLst>
                        <a:ext uri="{9D8B030D-6E8A-4147-A177-3AD203B41FA5}">
                          <a16:colId xmlns:a16="http://schemas.microsoft.com/office/drawing/2014/main" val="2546849060"/>
                        </a:ext>
                      </a:extLst>
                    </a:gridCol>
                  </a:tblGrid>
                  <a:tr h="518160">
                    <a:tc>
                      <a:txBody>
                        <a:bodyPr/>
                        <a:lstStyle/>
                        <a:p>
                          <a:pPr algn="ctr"/>
                          <a:r>
                            <a:rPr lang="zh-CN" altLang="en-US" sz="2800" dirty="0"/>
                            <a:t>决策</a:t>
                          </a:r>
                        </a:p>
                      </a:txBody>
                      <a:tcPr/>
                    </a:tc>
                    <a:tc>
                      <a:txBody>
                        <a:bodyPr/>
                        <a:lstStyle/>
                        <a:p>
                          <a:pPr algn="ctr"/>
                          <a:r>
                            <a:rPr lang="en-US" altLang="zh-CN" sz="2800" dirty="0"/>
                            <a:t>H0</a:t>
                          </a:r>
                          <a:r>
                            <a:rPr lang="zh-CN" altLang="en-US" sz="2800" dirty="0"/>
                            <a:t>为真</a:t>
                          </a:r>
                        </a:p>
                      </a:txBody>
                      <a:tcPr/>
                    </a:tc>
                    <a:tc>
                      <a:txBody>
                        <a:bodyPr/>
                        <a:lstStyle/>
                        <a:p>
                          <a:pPr algn="ctr"/>
                          <a:r>
                            <a:rPr lang="en-US" altLang="zh-CN" sz="2800" dirty="0"/>
                            <a:t>H1</a:t>
                          </a:r>
                          <a:r>
                            <a:rPr lang="zh-CN" altLang="en-US" sz="2800" dirty="0"/>
                            <a:t>为真</a:t>
                          </a:r>
                        </a:p>
                      </a:txBody>
                      <a:tcPr/>
                    </a:tc>
                    <a:extLst>
                      <a:ext uri="{0D108BD9-81ED-4DB2-BD59-A6C34878D82A}">
                        <a16:rowId xmlns:a16="http://schemas.microsoft.com/office/drawing/2014/main" val="403542597"/>
                      </a:ext>
                    </a:extLst>
                  </a:tr>
                  <a:tr h="518160">
                    <a:tc>
                      <a:txBody>
                        <a:bodyPr/>
                        <a:lstStyle/>
                        <a:p>
                          <a:pPr algn="ctr"/>
                          <a:r>
                            <a:rPr lang="zh-CN" altLang="en-US" sz="2800" dirty="0"/>
                            <a:t>接受</a:t>
                          </a:r>
                          <a:r>
                            <a:rPr lang="en-US" altLang="zh-CN" sz="2800" dirty="0"/>
                            <a:t>H0</a:t>
                          </a:r>
                          <a:endParaRPr lang="zh-CN" altLang="en-US" sz="2800" dirty="0"/>
                        </a:p>
                      </a:txBody>
                      <a:tcPr/>
                    </a:tc>
                    <a:tc>
                      <a:txBody>
                        <a:bodyPr/>
                        <a:lstStyle/>
                        <a:p>
                          <a:endParaRPr lang="zh-CN"/>
                        </a:p>
                      </a:txBody>
                      <a:tcPr>
                        <a:blipFill>
                          <a:blip r:embed="rId4"/>
                          <a:stretch>
                            <a:fillRect l="-100450" t="-111628" r="-101126" b="-131395"/>
                          </a:stretch>
                        </a:blipFill>
                      </a:tcPr>
                    </a:tc>
                    <a:tc>
                      <a:txBody>
                        <a:bodyPr/>
                        <a:lstStyle/>
                        <a:p>
                          <a:endParaRPr lang="zh-CN"/>
                        </a:p>
                      </a:txBody>
                      <a:tcPr>
                        <a:blipFill>
                          <a:blip r:embed="rId4"/>
                          <a:stretch>
                            <a:fillRect l="-200000" t="-111628" r="-899" b="-131395"/>
                          </a:stretch>
                        </a:blipFill>
                      </a:tcPr>
                    </a:tc>
                    <a:extLst>
                      <a:ext uri="{0D108BD9-81ED-4DB2-BD59-A6C34878D82A}">
                        <a16:rowId xmlns:a16="http://schemas.microsoft.com/office/drawing/2014/main" val="4194944625"/>
                      </a:ext>
                    </a:extLst>
                  </a:tr>
                  <a:tr h="518160">
                    <a:tc>
                      <a:txBody>
                        <a:bodyPr/>
                        <a:lstStyle/>
                        <a:p>
                          <a:pPr algn="ctr"/>
                          <a:r>
                            <a:rPr lang="zh-CN" altLang="en-US" sz="2800" dirty="0"/>
                            <a:t>拒绝</a:t>
                          </a:r>
                          <a:r>
                            <a:rPr lang="en-US" altLang="zh-CN" sz="2800" dirty="0"/>
                            <a:t>H0</a:t>
                          </a:r>
                          <a:endParaRPr lang="zh-CN" altLang="en-US" sz="2800" dirty="0"/>
                        </a:p>
                      </a:txBody>
                      <a:tcPr/>
                    </a:tc>
                    <a:tc>
                      <a:txBody>
                        <a:bodyPr/>
                        <a:lstStyle/>
                        <a:p>
                          <a:endParaRPr lang="zh-CN"/>
                        </a:p>
                      </a:txBody>
                      <a:tcPr>
                        <a:blipFill>
                          <a:blip r:embed="rId4"/>
                          <a:stretch>
                            <a:fillRect l="-100450" t="-214118" r="-101126" b="-32941"/>
                          </a:stretch>
                        </a:blipFill>
                      </a:tcPr>
                    </a:tc>
                    <a:tc>
                      <a:txBody>
                        <a:bodyPr/>
                        <a:lstStyle/>
                        <a:p>
                          <a:endParaRPr lang="zh-CN"/>
                        </a:p>
                      </a:txBody>
                      <a:tcPr>
                        <a:blipFill>
                          <a:blip r:embed="rId4"/>
                          <a:stretch>
                            <a:fillRect l="-200000" t="-214118" r="-899" b="-32941"/>
                          </a:stretch>
                        </a:blipFill>
                      </a:tcPr>
                    </a:tc>
                    <a:extLst>
                      <a:ext uri="{0D108BD9-81ED-4DB2-BD59-A6C34878D82A}">
                        <a16:rowId xmlns:a16="http://schemas.microsoft.com/office/drawing/2014/main" val="218443869"/>
                      </a:ext>
                    </a:extLst>
                  </a:tr>
                </a:tbl>
              </a:graphicData>
            </a:graphic>
          </p:graphicFrame>
        </mc:Fallback>
      </mc:AlternateContent>
    </p:spTree>
    <p:extLst>
      <p:ext uri="{BB962C8B-B14F-4D97-AF65-F5344CB8AC3E}">
        <p14:creationId xmlns:p14="http://schemas.microsoft.com/office/powerpoint/2010/main" val="857617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DA5AB-5544-B66C-6EEF-5C893A35A9E1}"/>
              </a:ext>
            </a:extLst>
          </p:cNvPr>
          <p:cNvSpPr>
            <a:spLocks noGrp="1"/>
          </p:cNvSpPr>
          <p:nvPr>
            <p:ph type="title"/>
          </p:nvPr>
        </p:nvSpPr>
        <p:spPr/>
        <p:txBody>
          <a:bodyPr/>
          <a:lstStyle/>
          <a:p>
            <a:r>
              <a:rPr lang="zh-CN" altLang="en-US" dirty="0"/>
              <a:t>假设检验的两类错误</a:t>
            </a:r>
          </a:p>
        </p:txBody>
      </p:sp>
      <p:pic>
        <p:nvPicPr>
          <p:cNvPr id="1028" name="Picture 4" descr="假设检验的两类错误-功效分析和样本量预估| 学习随记">
            <a:extLst>
              <a:ext uri="{FF2B5EF4-FFF2-40B4-BE49-F238E27FC236}">
                <a16:creationId xmlns:a16="http://schemas.microsoft.com/office/drawing/2014/main" id="{3A4FBDD2-5C62-4F64-BB38-752BA8C0643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7890" y="1825625"/>
            <a:ext cx="761622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307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6FE70-E43B-ECC4-1366-72BD54975C05}"/>
              </a:ext>
            </a:extLst>
          </p:cNvPr>
          <p:cNvSpPr>
            <a:spLocks noGrp="1"/>
          </p:cNvSpPr>
          <p:nvPr>
            <p:ph type="title"/>
          </p:nvPr>
        </p:nvSpPr>
        <p:spPr/>
        <p:txBody>
          <a:bodyPr/>
          <a:lstStyle/>
          <a:p>
            <a:r>
              <a:rPr lang="zh-CN" altLang="en-US" b="1" i="0" dirty="0">
                <a:solidFill>
                  <a:srgbClr val="060607"/>
                </a:solidFill>
                <a:effectLst/>
                <a:latin typeface="PingFang SC"/>
              </a:rPr>
              <a:t>避免错误的策略：</a:t>
            </a:r>
            <a:endParaRPr lang="zh-CN" altLang="en-US" dirty="0"/>
          </a:p>
        </p:txBody>
      </p:sp>
      <p:sp>
        <p:nvSpPr>
          <p:cNvPr id="3" name="内容占位符 2">
            <a:extLst>
              <a:ext uri="{FF2B5EF4-FFF2-40B4-BE49-F238E27FC236}">
                <a16:creationId xmlns:a16="http://schemas.microsoft.com/office/drawing/2014/main" id="{A8FCF8A2-D7F9-1DB9-2276-6E228E75F4A9}"/>
              </a:ext>
            </a:extLst>
          </p:cNvPr>
          <p:cNvSpPr>
            <a:spLocks noGrp="1"/>
          </p:cNvSpPr>
          <p:nvPr>
            <p:ph idx="1"/>
          </p:nvPr>
        </p:nvSpPr>
        <p:spPr/>
        <p:txBody>
          <a:bodyPr/>
          <a:lstStyle/>
          <a:p>
            <a:pPr algn="l">
              <a:buFont typeface="Arial" panose="020B0604020202020204" pitchFamily="34" charset="0"/>
              <a:buChar char="•"/>
            </a:pPr>
            <a:r>
              <a:rPr lang="zh-CN" altLang="en-US" b="1" i="0" dirty="0">
                <a:solidFill>
                  <a:srgbClr val="060607"/>
                </a:solidFill>
                <a:effectLst/>
                <a:latin typeface="PingFang SC"/>
              </a:rPr>
              <a:t>提高样本量</a:t>
            </a:r>
            <a:r>
              <a:rPr lang="zh-CN" altLang="en-US" b="0" i="0" dirty="0">
                <a:solidFill>
                  <a:srgbClr val="060607"/>
                </a:solidFill>
                <a:effectLst/>
                <a:latin typeface="PingFang SC"/>
              </a:rPr>
              <a:t>：增加样本量可以提高检验的统计功效，减少第二类错误的概率。</a:t>
            </a:r>
          </a:p>
          <a:p>
            <a:pPr algn="l">
              <a:buFont typeface="Arial" panose="020B0604020202020204" pitchFamily="34" charset="0"/>
              <a:buChar char="•"/>
            </a:pPr>
            <a:r>
              <a:rPr lang="zh-CN" altLang="en-US" b="1" i="0" dirty="0">
                <a:solidFill>
                  <a:srgbClr val="060607"/>
                </a:solidFill>
                <a:effectLst/>
                <a:latin typeface="PingFang SC"/>
              </a:rPr>
              <a:t>选择合适的显著性水平</a:t>
            </a:r>
            <a:r>
              <a:rPr lang="zh-CN" altLang="en-US" b="0" i="0" dirty="0">
                <a:solidFill>
                  <a:srgbClr val="060607"/>
                </a:solidFill>
                <a:effectLst/>
                <a:latin typeface="PingFang SC"/>
              </a:rPr>
              <a:t>：根据研究的重要性和可接受的错误风险来设定显著性水平。</a:t>
            </a:r>
          </a:p>
          <a:p>
            <a:pPr algn="l">
              <a:buFont typeface="Arial" panose="020B0604020202020204" pitchFamily="34" charset="0"/>
              <a:buChar char="•"/>
            </a:pPr>
            <a:r>
              <a:rPr lang="zh-CN" altLang="en-US" b="1" i="0" dirty="0">
                <a:solidFill>
                  <a:srgbClr val="060607"/>
                </a:solidFill>
                <a:effectLst/>
                <a:latin typeface="PingFang SC"/>
              </a:rPr>
              <a:t>使用多种检验方法</a:t>
            </a:r>
            <a:r>
              <a:rPr lang="zh-CN" altLang="en-US" b="0" i="0" dirty="0">
                <a:solidFill>
                  <a:srgbClr val="060607"/>
                </a:solidFill>
                <a:effectLst/>
                <a:latin typeface="PingFang SC"/>
              </a:rPr>
              <a:t>：选择能够更好地检测效应的统计方法，或用多种检验方法进行测试横向比较，以提高检验的功效。</a:t>
            </a:r>
          </a:p>
          <a:p>
            <a:endParaRPr lang="zh-CN" altLang="en-US" dirty="0"/>
          </a:p>
        </p:txBody>
      </p:sp>
    </p:spTree>
    <p:extLst>
      <p:ext uri="{BB962C8B-B14F-4D97-AF65-F5344CB8AC3E}">
        <p14:creationId xmlns:p14="http://schemas.microsoft.com/office/powerpoint/2010/main" val="4281113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C17F2E-3200-86FE-F90C-8BCB991606FB}"/>
              </a:ext>
            </a:extLst>
          </p:cNvPr>
          <p:cNvSpPr>
            <a:spLocks noGrp="1"/>
          </p:cNvSpPr>
          <p:nvPr>
            <p:ph type="title"/>
          </p:nvPr>
        </p:nvSpPr>
        <p:spPr/>
        <p:txBody>
          <a:bodyPr/>
          <a:lstStyle/>
          <a:p>
            <a:r>
              <a:rPr lang="en-US" altLang="zh-CN" b="0" i="0" dirty="0">
                <a:solidFill>
                  <a:srgbClr val="060607"/>
                </a:solidFill>
                <a:effectLst/>
                <a:latin typeface="PingFang SC"/>
              </a:rPr>
              <a:t>Mann-Whitney</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75885CDA-8BE6-F435-15BF-76E29F4D84D8}"/>
              </a:ext>
            </a:extLst>
          </p:cNvPr>
          <p:cNvSpPr>
            <a:spLocks noGrp="1"/>
          </p:cNvSpPr>
          <p:nvPr>
            <p:ph idx="1"/>
          </p:nvPr>
        </p:nvSpPr>
        <p:spPr/>
        <p:txBody>
          <a:bodyPr>
            <a:normAutofit/>
          </a:bodyPr>
          <a:lstStyle/>
          <a:p>
            <a:r>
              <a:rPr lang="en-US" altLang="zh-CN" b="0" i="0" dirty="0">
                <a:solidFill>
                  <a:srgbClr val="060607"/>
                </a:solidFill>
                <a:effectLst/>
                <a:latin typeface="PingFang SC"/>
              </a:rPr>
              <a:t>Mann-Whitney</a:t>
            </a:r>
            <a:r>
              <a:rPr lang="zh-CN" altLang="en-US" b="0" i="0" dirty="0">
                <a:solidFill>
                  <a:srgbClr val="060607"/>
                </a:solidFill>
                <a:effectLst/>
                <a:latin typeface="PingFang SC"/>
              </a:rPr>
              <a:t>检验，也称为</a:t>
            </a:r>
            <a:r>
              <a:rPr lang="en-US" altLang="zh-CN" b="0" i="0" dirty="0">
                <a:solidFill>
                  <a:srgbClr val="060607"/>
                </a:solidFill>
                <a:effectLst/>
                <a:latin typeface="PingFang SC"/>
              </a:rPr>
              <a:t>Wilcoxon</a:t>
            </a:r>
            <a:r>
              <a:rPr lang="zh-CN" altLang="en-US" b="0" i="0" dirty="0">
                <a:solidFill>
                  <a:srgbClr val="060607"/>
                </a:solidFill>
                <a:effectLst/>
                <a:latin typeface="PingFang SC"/>
              </a:rPr>
              <a:t>秩和检验，是一种非参数统计检验方法，用于</a:t>
            </a:r>
            <a:r>
              <a:rPr lang="zh-CN" altLang="en-US" b="0" i="0" u="sng" dirty="0">
                <a:solidFill>
                  <a:srgbClr val="060607"/>
                </a:solidFill>
                <a:effectLst/>
                <a:latin typeface="PingFang SC"/>
              </a:rPr>
              <a:t>比较两个独立样本的中位数是否存在显著差异</a:t>
            </a:r>
            <a:r>
              <a:rPr lang="zh-CN" altLang="en-US" b="0" i="0" dirty="0">
                <a:solidFill>
                  <a:srgbClr val="060607"/>
                </a:solidFill>
                <a:effectLst/>
                <a:latin typeface="PingFang SC"/>
              </a:rPr>
              <a:t>。</a:t>
            </a:r>
            <a:endParaRPr lang="en-US" altLang="zh-CN" b="0" i="0" dirty="0">
              <a:solidFill>
                <a:srgbClr val="060607"/>
              </a:solidFill>
              <a:effectLst/>
              <a:latin typeface="PingFang SC"/>
            </a:endParaRPr>
          </a:p>
          <a:p>
            <a:endParaRPr lang="en-US" altLang="zh-CN" b="0" i="0" dirty="0">
              <a:solidFill>
                <a:srgbClr val="060607"/>
              </a:solidFill>
              <a:effectLst/>
              <a:latin typeface="PingFang SC"/>
            </a:endParaRPr>
          </a:p>
          <a:p>
            <a:r>
              <a:rPr lang="en-GB" altLang="zh-CN" b="1" i="0" dirty="0">
                <a:solidFill>
                  <a:srgbClr val="060607"/>
                </a:solidFill>
                <a:effectLst/>
                <a:latin typeface="PingFang SC"/>
              </a:rPr>
              <a:t>Mann-Whitney</a:t>
            </a:r>
            <a:r>
              <a:rPr lang="zh-CN" altLang="en-US" b="1" i="0" dirty="0">
                <a:solidFill>
                  <a:srgbClr val="060607"/>
                </a:solidFill>
                <a:effectLst/>
                <a:latin typeface="PingFang SC"/>
              </a:rPr>
              <a:t>检验的假设条件：</a:t>
            </a:r>
            <a:endParaRPr lang="en-US" altLang="zh-CN" b="1" i="0" dirty="0">
              <a:solidFill>
                <a:srgbClr val="060607"/>
              </a:solidFill>
              <a:effectLst/>
              <a:latin typeface="PingFang SC"/>
            </a:endParaRPr>
          </a:p>
          <a:p>
            <a:pPr algn="l">
              <a:buFont typeface="Arial" panose="020B0604020202020204" pitchFamily="34" charset="0"/>
              <a:buChar char="•"/>
            </a:pPr>
            <a:r>
              <a:rPr lang="zh-CN" altLang="en-US" b="1" i="0" dirty="0">
                <a:solidFill>
                  <a:srgbClr val="060607"/>
                </a:solidFill>
                <a:effectLst/>
                <a:latin typeface="PingFang SC"/>
              </a:rPr>
              <a:t>普通变量或连续变量</a:t>
            </a:r>
            <a:r>
              <a:rPr lang="zh-CN" altLang="en-US" b="0" i="0" dirty="0">
                <a:solidFill>
                  <a:srgbClr val="060607"/>
                </a:solidFill>
                <a:effectLst/>
                <a:latin typeface="PingFang SC"/>
              </a:rPr>
              <a:t>：分析的变量是有序变量或连续变量。</a:t>
            </a:r>
          </a:p>
          <a:p>
            <a:pPr algn="l">
              <a:buFont typeface="Arial" panose="020B0604020202020204" pitchFamily="34" charset="0"/>
              <a:buChar char="•"/>
            </a:pPr>
            <a:r>
              <a:rPr lang="zh-CN" altLang="en-US" b="1" i="0" dirty="0">
                <a:solidFill>
                  <a:srgbClr val="060607"/>
                </a:solidFill>
                <a:effectLst/>
                <a:latin typeface="PingFang SC"/>
              </a:rPr>
              <a:t>独立性</a:t>
            </a:r>
            <a:r>
              <a:rPr lang="zh-CN" altLang="en-US" b="0" i="0" dirty="0">
                <a:solidFill>
                  <a:srgbClr val="060607"/>
                </a:solidFill>
                <a:effectLst/>
                <a:latin typeface="PingFang SC"/>
              </a:rPr>
              <a:t>：两组的所有观察结果都是相互独立的。</a:t>
            </a:r>
          </a:p>
          <a:p>
            <a:pPr algn="l">
              <a:buFont typeface="Arial" panose="020B0604020202020204" pitchFamily="34" charset="0"/>
              <a:buChar char="•"/>
            </a:pPr>
            <a:r>
              <a:rPr lang="zh-CN" altLang="en-US" b="1" i="0" dirty="0">
                <a:solidFill>
                  <a:srgbClr val="060607"/>
                </a:solidFill>
                <a:effectLst/>
                <a:latin typeface="PingFang SC"/>
              </a:rPr>
              <a:t>形状</a:t>
            </a:r>
            <a:r>
              <a:rPr lang="zh-CN" altLang="en-US" b="0" i="0" dirty="0">
                <a:solidFill>
                  <a:srgbClr val="060607"/>
                </a:solidFill>
                <a:effectLst/>
                <a:latin typeface="PingFang SC"/>
              </a:rPr>
              <a:t>：两组的分布形状大致相同。</a:t>
            </a:r>
          </a:p>
          <a:p>
            <a:endParaRPr lang="zh-CN" altLang="en-US" dirty="0"/>
          </a:p>
        </p:txBody>
      </p:sp>
    </p:spTree>
    <p:extLst>
      <p:ext uri="{BB962C8B-B14F-4D97-AF65-F5344CB8AC3E}">
        <p14:creationId xmlns:p14="http://schemas.microsoft.com/office/powerpoint/2010/main" val="2956831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84850-E272-2D9E-1864-17DB657F8E12}"/>
              </a:ext>
            </a:extLst>
          </p:cNvPr>
          <p:cNvSpPr>
            <a:spLocks noGrp="1"/>
          </p:cNvSpPr>
          <p:nvPr>
            <p:ph type="title"/>
          </p:nvPr>
        </p:nvSpPr>
        <p:spPr/>
        <p:txBody>
          <a:bodyPr/>
          <a:lstStyle/>
          <a:p>
            <a:r>
              <a:rPr lang="en-US" altLang="zh-CN" b="0" i="0" dirty="0">
                <a:solidFill>
                  <a:srgbClr val="060607"/>
                </a:solidFill>
                <a:effectLst/>
                <a:latin typeface="PingFang SC"/>
              </a:rPr>
              <a:t>Mann-Whitney</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5563C463-8765-37B9-0E2A-399F340DBB74}"/>
              </a:ext>
            </a:extLst>
          </p:cNvPr>
          <p:cNvSpPr>
            <a:spLocks noGrp="1"/>
          </p:cNvSpPr>
          <p:nvPr>
            <p:ph idx="1"/>
          </p:nvPr>
        </p:nvSpPr>
        <p:spPr/>
        <p:txBody>
          <a:bodyPr>
            <a:normAutofit lnSpcReduction="10000"/>
          </a:bodyPr>
          <a:lstStyle/>
          <a:p>
            <a:r>
              <a:rPr lang="en-GB" altLang="zh-CN" b="1" i="0" dirty="0">
                <a:solidFill>
                  <a:srgbClr val="060607"/>
                </a:solidFill>
                <a:effectLst/>
                <a:latin typeface="PingFang SC"/>
              </a:rPr>
              <a:t>Mann-Whitney</a:t>
            </a:r>
            <a:r>
              <a:rPr lang="zh-CN" altLang="en-US" b="1" i="0" dirty="0">
                <a:solidFill>
                  <a:srgbClr val="060607"/>
                </a:solidFill>
                <a:effectLst/>
                <a:latin typeface="PingFang SC"/>
              </a:rPr>
              <a:t>检验的应用场景：</a:t>
            </a:r>
          </a:p>
          <a:p>
            <a:pPr algn="l">
              <a:buFont typeface="Arial" panose="020B0604020202020204" pitchFamily="34" charset="0"/>
              <a:buChar char="•"/>
            </a:pPr>
            <a:r>
              <a:rPr lang="zh-CN" altLang="en-US" b="0" i="0" dirty="0">
                <a:solidFill>
                  <a:srgbClr val="060607"/>
                </a:solidFill>
                <a:effectLst/>
                <a:latin typeface="PingFang SC"/>
              </a:rPr>
              <a:t>当样本分布不呈正态分布且样本量较小时，</a:t>
            </a:r>
            <a:r>
              <a:rPr lang="en-US" altLang="zh-CN" b="0" i="0" dirty="0">
                <a:solidFill>
                  <a:srgbClr val="060607"/>
                </a:solidFill>
                <a:effectLst/>
                <a:latin typeface="PingFang SC"/>
              </a:rPr>
              <a:t>Mann-Whitney U</a:t>
            </a:r>
            <a:r>
              <a:rPr lang="zh-CN" altLang="en-US" b="0" i="0" dirty="0">
                <a:solidFill>
                  <a:srgbClr val="060607"/>
                </a:solidFill>
                <a:effectLst/>
                <a:latin typeface="PingFang SC"/>
              </a:rPr>
              <a:t>检验是独立双样本</a:t>
            </a:r>
            <a:r>
              <a:rPr lang="en-US" altLang="zh-CN" b="0" i="0" dirty="0">
                <a:solidFill>
                  <a:srgbClr val="060607"/>
                </a:solidFill>
                <a:effectLst/>
                <a:latin typeface="PingFang SC"/>
              </a:rPr>
              <a:t>t</a:t>
            </a:r>
            <a:r>
              <a:rPr lang="zh-CN" altLang="en-US" b="0" i="0" dirty="0">
                <a:solidFill>
                  <a:srgbClr val="060607"/>
                </a:solidFill>
                <a:effectLst/>
                <a:latin typeface="PingFang SC"/>
              </a:rPr>
              <a:t>检验的非参数等效项。</a:t>
            </a:r>
          </a:p>
          <a:p>
            <a:pPr algn="l">
              <a:buFont typeface="Arial" panose="020B0604020202020204" pitchFamily="34" charset="0"/>
              <a:buChar char="•"/>
            </a:pPr>
            <a:r>
              <a:rPr lang="zh-CN" altLang="en-US" b="0" i="0" dirty="0">
                <a:solidFill>
                  <a:srgbClr val="060607"/>
                </a:solidFill>
                <a:effectLst/>
                <a:latin typeface="PingFang SC"/>
              </a:rPr>
              <a:t>适用于有序变量或连续变量的比较，例如比较两组人的工资、体重减轻或考试成绩等。</a:t>
            </a:r>
          </a:p>
          <a:p>
            <a:pPr algn="l"/>
            <a:r>
              <a:rPr lang="zh-CN" altLang="en-US" b="1" i="0" dirty="0">
                <a:solidFill>
                  <a:srgbClr val="060607"/>
                </a:solidFill>
                <a:effectLst/>
                <a:latin typeface="PingFang SC"/>
              </a:rPr>
              <a:t>结果解释：</a:t>
            </a:r>
          </a:p>
          <a:p>
            <a:pPr algn="l">
              <a:buFont typeface="Arial" panose="020B0604020202020204" pitchFamily="34" charset="0"/>
              <a:buChar char="•"/>
            </a:pPr>
            <a:r>
              <a:rPr lang="zh-CN" altLang="en-US" b="0" i="0" dirty="0">
                <a:solidFill>
                  <a:srgbClr val="060607"/>
                </a:solidFill>
                <a:effectLst/>
                <a:latin typeface="PingFang SC"/>
              </a:rPr>
              <a:t>如果</a:t>
            </a:r>
            <a:r>
              <a:rPr lang="en-US" altLang="zh-CN" b="0" i="0" dirty="0">
                <a:solidFill>
                  <a:srgbClr val="060607"/>
                </a:solidFill>
                <a:effectLst/>
                <a:latin typeface="PingFang SC"/>
              </a:rPr>
              <a:t>P</a:t>
            </a:r>
            <a:r>
              <a:rPr lang="zh-CN" altLang="en-US" b="0" i="0" dirty="0">
                <a:solidFill>
                  <a:srgbClr val="060607"/>
                </a:solidFill>
                <a:effectLst/>
                <a:latin typeface="PingFang SC"/>
              </a:rPr>
              <a:t>值较小，表明有足够的证据拒绝原假设，认为两个样本的中位数存在显著差异。</a:t>
            </a:r>
          </a:p>
          <a:p>
            <a:pPr algn="l">
              <a:buFont typeface="Arial" panose="020B0604020202020204" pitchFamily="34" charset="0"/>
              <a:buChar char="•"/>
            </a:pPr>
            <a:r>
              <a:rPr lang="zh-CN" altLang="en-US" b="0" i="0" dirty="0">
                <a:solidFill>
                  <a:srgbClr val="060607"/>
                </a:solidFill>
                <a:effectLst/>
                <a:latin typeface="PingFang SC"/>
              </a:rPr>
              <a:t>如果</a:t>
            </a:r>
            <a:r>
              <a:rPr lang="en-US" altLang="zh-CN" b="0" i="0" dirty="0">
                <a:solidFill>
                  <a:srgbClr val="060607"/>
                </a:solidFill>
                <a:effectLst/>
                <a:latin typeface="PingFang SC"/>
              </a:rPr>
              <a:t>P</a:t>
            </a:r>
            <a:r>
              <a:rPr lang="zh-CN" altLang="en-US" b="0" i="0" dirty="0">
                <a:solidFill>
                  <a:srgbClr val="060607"/>
                </a:solidFill>
                <a:effectLst/>
                <a:latin typeface="PingFang SC"/>
              </a:rPr>
              <a:t>值较大，表明没有足够的证据拒绝原假设，即没有证据表明两个样本的中位数有显著差异。</a:t>
            </a:r>
          </a:p>
          <a:p>
            <a:endParaRPr lang="zh-CN" altLang="en-US" dirty="0"/>
          </a:p>
        </p:txBody>
      </p:sp>
    </p:spTree>
    <p:extLst>
      <p:ext uri="{BB962C8B-B14F-4D97-AF65-F5344CB8AC3E}">
        <p14:creationId xmlns:p14="http://schemas.microsoft.com/office/powerpoint/2010/main" val="420106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968E2-892A-688B-C847-0B9630B7778D}"/>
              </a:ext>
            </a:extLst>
          </p:cNvPr>
          <p:cNvSpPr>
            <a:spLocks noGrp="1"/>
          </p:cNvSpPr>
          <p:nvPr>
            <p:ph type="title"/>
          </p:nvPr>
        </p:nvSpPr>
        <p:spPr/>
        <p:txBody>
          <a:bodyPr/>
          <a:lstStyle/>
          <a:p>
            <a:r>
              <a:rPr lang="en-US" altLang="zh-CN" b="0" i="0" dirty="0">
                <a:solidFill>
                  <a:srgbClr val="060607"/>
                </a:solidFill>
                <a:effectLst/>
                <a:latin typeface="PingFang SC"/>
              </a:rPr>
              <a:t>Mann-Whitney</a:t>
            </a:r>
            <a:r>
              <a:rPr lang="zh-CN" altLang="en-US" b="0" i="0" dirty="0">
                <a:solidFill>
                  <a:srgbClr val="060607"/>
                </a:solidFill>
                <a:effectLst/>
                <a:latin typeface="PingFang SC"/>
              </a:rPr>
              <a:t>检验</a:t>
            </a:r>
            <a:endParaRPr lang="zh-CN" altLang="en-US" dirty="0"/>
          </a:p>
        </p:txBody>
      </p:sp>
      <p:sp>
        <p:nvSpPr>
          <p:cNvPr id="6" name="内容占位符 5">
            <a:extLst>
              <a:ext uri="{FF2B5EF4-FFF2-40B4-BE49-F238E27FC236}">
                <a16:creationId xmlns:a16="http://schemas.microsoft.com/office/drawing/2014/main" id="{FF1AE8FC-24A4-7F98-79F1-5BE3E51CE0F9}"/>
              </a:ext>
            </a:extLst>
          </p:cNvPr>
          <p:cNvSpPr>
            <a:spLocks noGrp="1"/>
          </p:cNvSpPr>
          <p:nvPr>
            <p:ph idx="1"/>
          </p:nvPr>
        </p:nvSpPr>
        <p:spPr/>
        <p:txBody>
          <a:bodyPr/>
          <a:lstStyle/>
          <a:p>
            <a:r>
              <a:rPr lang="zh-CN" altLang="en-US" dirty="0"/>
              <a:t>某科研团队研究两种饲料对白鼠体重的影响，记录了两组老鼠</a:t>
            </a:r>
            <a:r>
              <a:rPr lang="en-US" altLang="zh-CN" dirty="0"/>
              <a:t>8</a:t>
            </a:r>
            <a:r>
              <a:rPr lang="zh-CN" altLang="en-US" dirty="0"/>
              <a:t>周内体重的增加量。问不同饲料喂养的老鼠体重增加量是否存在差异？显著性水平取</a:t>
            </a:r>
            <a:r>
              <a:rPr lang="en-US" altLang="zh-CN" dirty="0"/>
              <a:t>α=0.05</a:t>
            </a:r>
            <a:endParaRPr lang="zh-CN" altLang="en-US" dirty="0"/>
          </a:p>
        </p:txBody>
      </p:sp>
      <p:graphicFrame>
        <p:nvGraphicFramePr>
          <p:cNvPr id="7" name="内容占位符 3">
            <a:extLst>
              <a:ext uri="{FF2B5EF4-FFF2-40B4-BE49-F238E27FC236}">
                <a16:creationId xmlns:a16="http://schemas.microsoft.com/office/drawing/2014/main" id="{75F1DF85-19A7-BCD4-D610-8EAC502ABA0D}"/>
              </a:ext>
            </a:extLst>
          </p:cNvPr>
          <p:cNvGraphicFramePr>
            <a:graphicFrameLocks/>
          </p:cNvGraphicFramePr>
          <p:nvPr>
            <p:extLst>
              <p:ext uri="{D42A27DB-BD31-4B8C-83A1-F6EECF244321}">
                <p14:modId xmlns:p14="http://schemas.microsoft.com/office/powerpoint/2010/main" val="435761302"/>
              </p:ext>
            </p:extLst>
          </p:nvPr>
        </p:nvGraphicFramePr>
        <p:xfrm>
          <a:off x="689956" y="3554672"/>
          <a:ext cx="10965965" cy="1112520"/>
        </p:xfrm>
        <a:graphic>
          <a:graphicData uri="http://schemas.openxmlformats.org/drawingml/2006/table">
            <a:tbl>
              <a:tblPr firstRow="1" bandRow="1">
                <a:tableStyleId>{5C22544A-7EE6-4342-B048-85BDC9FD1C3A}</a:tableStyleId>
              </a:tblPr>
              <a:tblGrid>
                <a:gridCol w="930593">
                  <a:extLst>
                    <a:ext uri="{9D8B030D-6E8A-4147-A177-3AD203B41FA5}">
                      <a16:colId xmlns:a16="http://schemas.microsoft.com/office/drawing/2014/main" val="2364030749"/>
                    </a:ext>
                  </a:extLst>
                </a:gridCol>
                <a:gridCol w="836281">
                  <a:extLst>
                    <a:ext uri="{9D8B030D-6E8A-4147-A177-3AD203B41FA5}">
                      <a16:colId xmlns:a16="http://schemas.microsoft.com/office/drawing/2014/main" val="1759449266"/>
                    </a:ext>
                  </a:extLst>
                </a:gridCol>
                <a:gridCol w="836281">
                  <a:extLst>
                    <a:ext uri="{9D8B030D-6E8A-4147-A177-3AD203B41FA5}">
                      <a16:colId xmlns:a16="http://schemas.microsoft.com/office/drawing/2014/main" val="2576230195"/>
                    </a:ext>
                  </a:extLst>
                </a:gridCol>
                <a:gridCol w="836281">
                  <a:extLst>
                    <a:ext uri="{9D8B030D-6E8A-4147-A177-3AD203B41FA5}">
                      <a16:colId xmlns:a16="http://schemas.microsoft.com/office/drawing/2014/main" val="3237129232"/>
                    </a:ext>
                  </a:extLst>
                </a:gridCol>
                <a:gridCol w="836281">
                  <a:extLst>
                    <a:ext uri="{9D8B030D-6E8A-4147-A177-3AD203B41FA5}">
                      <a16:colId xmlns:a16="http://schemas.microsoft.com/office/drawing/2014/main" val="2517612972"/>
                    </a:ext>
                  </a:extLst>
                </a:gridCol>
                <a:gridCol w="836281">
                  <a:extLst>
                    <a:ext uri="{9D8B030D-6E8A-4147-A177-3AD203B41FA5}">
                      <a16:colId xmlns:a16="http://schemas.microsoft.com/office/drawing/2014/main" val="3950021712"/>
                    </a:ext>
                  </a:extLst>
                </a:gridCol>
                <a:gridCol w="836281">
                  <a:extLst>
                    <a:ext uri="{9D8B030D-6E8A-4147-A177-3AD203B41FA5}">
                      <a16:colId xmlns:a16="http://schemas.microsoft.com/office/drawing/2014/main" val="1239646952"/>
                    </a:ext>
                  </a:extLst>
                </a:gridCol>
                <a:gridCol w="836281">
                  <a:extLst>
                    <a:ext uri="{9D8B030D-6E8A-4147-A177-3AD203B41FA5}">
                      <a16:colId xmlns:a16="http://schemas.microsoft.com/office/drawing/2014/main" val="3608663143"/>
                    </a:ext>
                  </a:extLst>
                </a:gridCol>
                <a:gridCol w="836281">
                  <a:extLst>
                    <a:ext uri="{9D8B030D-6E8A-4147-A177-3AD203B41FA5}">
                      <a16:colId xmlns:a16="http://schemas.microsoft.com/office/drawing/2014/main" val="2981259320"/>
                    </a:ext>
                  </a:extLst>
                </a:gridCol>
                <a:gridCol w="836281">
                  <a:extLst>
                    <a:ext uri="{9D8B030D-6E8A-4147-A177-3AD203B41FA5}">
                      <a16:colId xmlns:a16="http://schemas.microsoft.com/office/drawing/2014/main" val="831557156"/>
                    </a:ext>
                  </a:extLst>
                </a:gridCol>
                <a:gridCol w="836281">
                  <a:extLst>
                    <a:ext uri="{9D8B030D-6E8A-4147-A177-3AD203B41FA5}">
                      <a16:colId xmlns:a16="http://schemas.microsoft.com/office/drawing/2014/main" val="3395533576"/>
                    </a:ext>
                  </a:extLst>
                </a:gridCol>
                <a:gridCol w="836281">
                  <a:extLst>
                    <a:ext uri="{9D8B030D-6E8A-4147-A177-3AD203B41FA5}">
                      <a16:colId xmlns:a16="http://schemas.microsoft.com/office/drawing/2014/main" val="3460345206"/>
                    </a:ext>
                  </a:extLst>
                </a:gridCol>
                <a:gridCol w="836281">
                  <a:extLst>
                    <a:ext uri="{9D8B030D-6E8A-4147-A177-3AD203B41FA5}">
                      <a16:colId xmlns:a16="http://schemas.microsoft.com/office/drawing/2014/main" val="2213064301"/>
                    </a:ext>
                  </a:extLst>
                </a:gridCol>
              </a:tblGrid>
              <a:tr h="370840">
                <a:tc>
                  <a:txBody>
                    <a:bodyPr/>
                    <a:lstStyle/>
                    <a:p>
                      <a:r>
                        <a:rPr lang="zh-CN" altLang="en-US" dirty="0"/>
                        <a:t>饲料</a:t>
                      </a:r>
                    </a:p>
                  </a:txBody>
                  <a:tcPr/>
                </a:tc>
                <a:tc gridSpan="12">
                  <a:txBody>
                    <a:bodyPr/>
                    <a:lstStyle/>
                    <a:p>
                      <a:pPr algn="ctr"/>
                      <a:r>
                        <a:rPr lang="zh-CN" altLang="en-US" dirty="0"/>
                        <a:t>增加的体重</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757931383"/>
                  </a:ext>
                </a:extLst>
              </a:tr>
              <a:tr h="370840">
                <a:tc>
                  <a:txBody>
                    <a:bodyPr/>
                    <a:lstStyle/>
                    <a:p>
                      <a:r>
                        <a:rPr lang="zh-CN" altLang="en-US" dirty="0"/>
                        <a:t>高蛋白</a:t>
                      </a:r>
                    </a:p>
                  </a:txBody>
                  <a:tcPr/>
                </a:tc>
                <a:tc>
                  <a:txBody>
                    <a:bodyPr/>
                    <a:lstStyle/>
                    <a:p>
                      <a:r>
                        <a:rPr lang="en-US" altLang="zh-CN" dirty="0"/>
                        <a:t>133</a:t>
                      </a:r>
                      <a:endParaRPr lang="zh-CN" altLang="en-US" dirty="0"/>
                    </a:p>
                  </a:txBody>
                  <a:tcPr/>
                </a:tc>
                <a:tc>
                  <a:txBody>
                    <a:bodyPr/>
                    <a:lstStyle/>
                    <a:p>
                      <a:r>
                        <a:rPr lang="en-US" altLang="zh-CN" dirty="0"/>
                        <a:t>112</a:t>
                      </a:r>
                      <a:endParaRPr lang="zh-CN" altLang="en-US" dirty="0"/>
                    </a:p>
                  </a:txBody>
                  <a:tcPr/>
                </a:tc>
                <a:tc>
                  <a:txBody>
                    <a:bodyPr/>
                    <a:lstStyle/>
                    <a:p>
                      <a:r>
                        <a:rPr lang="en-US" altLang="zh-CN" dirty="0"/>
                        <a:t>102</a:t>
                      </a:r>
                      <a:endParaRPr lang="zh-CN" altLang="en-US" dirty="0"/>
                    </a:p>
                  </a:txBody>
                  <a:tcPr/>
                </a:tc>
                <a:tc>
                  <a:txBody>
                    <a:bodyPr/>
                    <a:lstStyle/>
                    <a:p>
                      <a:r>
                        <a:rPr lang="en-US" altLang="zh-CN" dirty="0"/>
                        <a:t>129</a:t>
                      </a:r>
                      <a:endParaRPr lang="zh-CN" altLang="en-US" dirty="0"/>
                    </a:p>
                  </a:txBody>
                  <a:tcPr/>
                </a:tc>
                <a:tc>
                  <a:txBody>
                    <a:bodyPr/>
                    <a:lstStyle/>
                    <a:p>
                      <a:r>
                        <a:rPr lang="en-US" altLang="zh-CN" dirty="0"/>
                        <a:t>121</a:t>
                      </a:r>
                      <a:endParaRPr lang="zh-CN" altLang="en-US" dirty="0"/>
                    </a:p>
                  </a:txBody>
                  <a:tcPr/>
                </a:tc>
                <a:tc>
                  <a:txBody>
                    <a:bodyPr/>
                    <a:lstStyle/>
                    <a:p>
                      <a:r>
                        <a:rPr lang="en-US" altLang="zh-CN" dirty="0"/>
                        <a:t>161</a:t>
                      </a:r>
                      <a:endParaRPr lang="zh-CN" altLang="en-US" dirty="0"/>
                    </a:p>
                  </a:txBody>
                  <a:tcPr/>
                </a:tc>
                <a:tc>
                  <a:txBody>
                    <a:bodyPr/>
                    <a:lstStyle/>
                    <a:p>
                      <a:r>
                        <a:rPr lang="en-US" altLang="zh-CN" dirty="0"/>
                        <a:t>142</a:t>
                      </a:r>
                      <a:endParaRPr lang="zh-CN" altLang="en-US" dirty="0"/>
                    </a:p>
                  </a:txBody>
                  <a:tcPr/>
                </a:tc>
                <a:tc>
                  <a:txBody>
                    <a:bodyPr/>
                    <a:lstStyle/>
                    <a:p>
                      <a:r>
                        <a:rPr lang="en-US" altLang="zh-CN" dirty="0"/>
                        <a:t>88</a:t>
                      </a:r>
                      <a:endParaRPr lang="zh-CN" altLang="en-US" dirty="0"/>
                    </a:p>
                  </a:txBody>
                  <a:tcPr/>
                </a:tc>
                <a:tc>
                  <a:txBody>
                    <a:bodyPr/>
                    <a:lstStyle/>
                    <a:p>
                      <a:r>
                        <a:rPr lang="en-US" altLang="zh-CN" dirty="0"/>
                        <a:t>115</a:t>
                      </a:r>
                      <a:endParaRPr lang="zh-CN" altLang="en-US" dirty="0"/>
                    </a:p>
                  </a:txBody>
                  <a:tcPr/>
                </a:tc>
                <a:tc>
                  <a:txBody>
                    <a:bodyPr/>
                    <a:lstStyle/>
                    <a:p>
                      <a:r>
                        <a:rPr lang="en-US" altLang="zh-CN" dirty="0"/>
                        <a:t>127</a:t>
                      </a:r>
                      <a:endParaRPr lang="zh-CN" altLang="en-US" dirty="0"/>
                    </a:p>
                  </a:txBody>
                  <a:tcPr/>
                </a:tc>
                <a:tc>
                  <a:txBody>
                    <a:bodyPr/>
                    <a:lstStyle/>
                    <a:p>
                      <a:r>
                        <a:rPr lang="en-US" altLang="zh-CN" dirty="0"/>
                        <a:t>96</a:t>
                      </a:r>
                      <a:endParaRPr lang="zh-CN" altLang="en-US" dirty="0"/>
                    </a:p>
                  </a:txBody>
                  <a:tcPr/>
                </a:tc>
                <a:tc>
                  <a:txBody>
                    <a:bodyPr/>
                    <a:lstStyle/>
                    <a:p>
                      <a:r>
                        <a:rPr lang="en-US" altLang="zh-CN" dirty="0"/>
                        <a:t>125</a:t>
                      </a:r>
                      <a:endParaRPr lang="zh-CN" altLang="en-US" dirty="0"/>
                    </a:p>
                  </a:txBody>
                  <a:tcPr/>
                </a:tc>
                <a:extLst>
                  <a:ext uri="{0D108BD9-81ED-4DB2-BD59-A6C34878D82A}">
                    <a16:rowId xmlns:a16="http://schemas.microsoft.com/office/drawing/2014/main" val="1257226368"/>
                  </a:ext>
                </a:extLst>
              </a:tr>
              <a:tr h="370840">
                <a:tc>
                  <a:txBody>
                    <a:bodyPr/>
                    <a:lstStyle/>
                    <a:p>
                      <a:r>
                        <a:rPr lang="zh-CN" altLang="en-US" dirty="0"/>
                        <a:t>低蛋白</a:t>
                      </a:r>
                    </a:p>
                  </a:txBody>
                  <a:tcPr/>
                </a:tc>
                <a:tc>
                  <a:txBody>
                    <a:bodyPr/>
                    <a:lstStyle/>
                    <a:p>
                      <a:r>
                        <a:rPr lang="en-US" altLang="zh-CN" dirty="0"/>
                        <a:t>71</a:t>
                      </a:r>
                      <a:endParaRPr lang="zh-CN" altLang="en-US" dirty="0"/>
                    </a:p>
                  </a:txBody>
                  <a:tcPr/>
                </a:tc>
                <a:tc>
                  <a:txBody>
                    <a:bodyPr/>
                    <a:lstStyle/>
                    <a:p>
                      <a:r>
                        <a:rPr lang="en-US" altLang="zh-CN" dirty="0"/>
                        <a:t>119</a:t>
                      </a:r>
                      <a:endParaRPr lang="zh-CN" altLang="en-US" dirty="0"/>
                    </a:p>
                  </a:txBody>
                  <a:tcPr/>
                </a:tc>
                <a:tc>
                  <a:txBody>
                    <a:bodyPr/>
                    <a:lstStyle/>
                    <a:p>
                      <a:r>
                        <a:rPr lang="en-US" altLang="zh-CN" dirty="0"/>
                        <a:t>101</a:t>
                      </a:r>
                      <a:endParaRPr lang="zh-CN" altLang="en-US" dirty="0"/>
                    </a:p>
                  </a:txBody>
                  <a:tcPr/>
                </a:tc>
                <a:tc>
                  <a:txBody>
                    <a:bodyPr/>
                    <a:lstStyle/>
                    <a:p>
                      <a:r>
                        <a:rPr lang="en-US" altLang="zh-CN" dirty="0"/>
                        <a:t>83</a:t>
                      </a:r>
                      <a:endParaRPr lang="zh-CN" altLang="en-US" dirty="0"/>
                    </a:p>
                  </a:txBody>
                  <a:tcPr/>
                </a:tc>
                <a:tc>
                  <a:txBody>
                    <a:bodyPr/>
                    <a:lstStyle/>
                    <a:p>
                      <a:r>
                        <a:rPr lang="en-US" altLang="zh-CN" dirty="0"/>
                        <a:t>107</a:t>
                      </a:r>
                      <a:endParaRPr lang="zh-CN" altLang="en-US" dirty="0"/>
                    </a:p>
                  </a:txBody>
                  <a:tcPr/>
                </a:tc>
                <a:tc>
                  <a:txBody>
                    <a:bodyPr/>
                    <a:lstStyle/>
                    <a:p>
                      <a:r>
                        <a:rPr lang="en-US" altLang="zh-CN" dirty="0"/>
                        <a:t>134</a:t>
                      </a:r>
                      <a:endParaRPr lang="zh-CN" altLang="en-US" dirty="0"/>
                    </a:p>
                  </a:txBody>
                  <a:tcPr/>
                </a:tc>
                <a:tc>
                  <a:txBody>
                    <a:bodyPr/>
                    <a:lstStyle/>
                    <a:p>
                      <a:r>
                        <a:rPr lang="en-US" altLang="zh-CN" dirty="0"/>
                        <a:t>92</a:t>
                      </a:r>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615410218"/>
                  </a:ext>
                </a:extLst>
              </a:tr>
            </a:tbl>
          </a:graphicData>
        </a:graphic>
      </p:graphicFrame>
    </p:spTree>
    <p:extLst>
      <p:ext uri="{BB962C8B-B14F-4D97-AF65-F5344CB8AC3E}">
        <p14:creationId xmlns:p14="http://schemas.microsoft.com/office/powerpoint/2010/main" val="2598403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4E6B53-166C-13D8-E2BD-30E25F4CA6FA}"/>
              </a:ext>
            </a:extLst>
          </p:cNvPr>
          <p:cNvSpPr>
            <a:spLocks noGrp="1"/>
          </p:cNvSpPr>
          <p:nvPr>
            <p:ph type="title"/>
          </p:nvPr>
        </p:nvSpPr>
        <p:spPr/>
        <p:txBody>
          <a:bodyPr/>
          <a:lstStyle/>
          <a:p>
            <a:r>
              <a:rPr lang="zh-CN" altLang="en-US" dirty="0"/>
              <a:t>分布拟合的检验</a:t>
            </a:r>
          </a:p>
        </p:txBody>
      </p:sp>
      <p:sp>
        <p:nvSpPr>
          <p:cNvPr id="3" name="内容占位符 2">
            <a:extLst>
              <a:ext uri="{FF2B5EF4-FFF2-40B4-BE49-F238E27FC236}">
                <a16:creationId xmlns:a16="http://schemas.microsoft.com/office/drawing/2014/main" id="{5266ED86-D556-926E-3D81-B1CF46555685}"/>
              </a:ext>
            </a:extLst>
          </p:cNvPr>
          <p:cNvSpPr>
            <a:spLocks noGrp="1"/>
          </p:cNvSpPr>
          <p:nvPr>
            <p:ph idx="1"/>
          </p:nvPr>
        </p:nvSpPr>
        <p:spPr/>
        <p:txBody>
          <a:bodyPr/>
          <a:lstStyle/>
          <a:p>
            <a:r>
              <a:rPr lang="zh-CN" altLang="en-US" b="0" i="0" dirty="0">
                <a:solidFill>
                  <a:srgbClr val="060607"/>
                </a:solidFill>
                <a:effectLst/>
                <a:latin typeface="PingFang SC"/>
              </a:rPr>
              <a:t>卡方拟合优度检验</a:t>
            </a:r>
            <a:endParaRPr lang="en-US" altLang="zh-CN" b="0" i="0" dirty="0">
              <a:solidFill>
                <a:srgbClr val="060607"/>
              </a:solidFill>
              <a:effectLst/>
              <a:latin typeface="PingFang SC"/>
            </a:endParaRPr>
          </a:p>
          <a:p>
            <a:r>
              <a:rPr lang="en-US" altLang="zh-CN" dirty="0">
                <a:solidFill>
                  <a:srgbClr val="060607"/>
                </a:solidFill>
                <a:latin typeface="PingFang SC"/>
              </a:rPr>
              <a:t>Jarque-Bera</a:t>
            </a:r>
            <a:r>
              <a:rPr lang="zh-CN" altLang="en-US" dirty="0">
                <a:solidFill>
                  <a:srgbClr val="060607"/>
                </a:solidFill>
                <a:latin typeface="PingFang SC"/>
              </a:rPr>
              <a:t>检验</a:t>
            </a:r>
            <a:endParaRPr lang="en-US" altLang="zh-CN" dirty="0">
              <a:solidFill>
                <a:srgbClr val="060607"/>
              </a:solidFill>
              <a:latin typeface="PingFang SC"/>
            </a:endParaRPr>
          </a:p>
          <a:p>
            <a:r>
              <a:rPr lang="en-US" altLang="zh-CN" dirty="0">
                <a:solidFill>
                  <a:srgbClr val="060607"/>
                </a:solidFill>
                <a:latin typeface="PingFang SC"/>
              </a:rPr>
              <a:t>Kolmogorov-Smirnov</a:t>
            </a:r>
            <a:r>
              <a:rPr lang="zh-CN" altLang="en-US" dirty="0">
                <a:solidFill>
                  <a:srgbClr val="060607"/>
                </a:solidFill>
                <a:latin typeface="PingFang SC"/>
              </a:rPr>
              <a:t>检验</a:t>
            </a:r>
            <a:endParaRPr lang="en-US" altLang="zh-CN" dirty="0">
              <a:solidFill>
                <a:srgbClr val="060607"/>
              </a:solidFill>
              <a:latin typeface="PingFang SC"/>
            </a:endParaRPr>
          </a:p>
          <a:p>
            <a:r>
              <a:rPr lang="en-US" altLang="zh-CN" dirty="0">
                <a:solidFill>
                  <a:srgbClr val="060607"/>
                </a:solidFill>
                <a:latin typeface="PingFang SC"/>
              </a:rPr>
              <a:t>Lilliefors</a:t>
            </a:r>
            <a:r>
              <a:rPr lang="zh-CN" altLang="en-US" dirty="0">
                <a:solidFill>
                  <a:srgbClr val="060607"/>
                </a:solidFill>
                <a:latin typeface="PingFang SC"/>
              </a:rPr>
              <a:t>检验</a:t>
            </a:r>
            <a:endParaRPr lang="en-GB" altLang="zh-CN" dirty="0"/>
          </a:p>
          <a:p>
            <a:endParaRPr lang="en-GB" altLang="zh-CN" dirty="0"/>
          </a:p>
          <a:p>
            <a:endParaRPr lang="en-GB" altLang="zh-CN" dirty="0"/>
          </a:p>
          <a:p>
            <a:endParaRPr lang="zh-CN" altLang="en-US" dirty="0"/>
          </a:p>
        </p:txBody>
      </p:sp>
    </p:spTree>
    <p:extLst>
      <p:ext uri="{BB962C8B-B14F-4D97-AF65-F5344CB8AC3E}">
        <p14:creationId xmlns:p14="http://schemas.microsoft.com/office/powerpoint/2010/main" val="2686067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FE8C5-A2E5-7816-7EB3-73F04136C002}"/>
              </a:ext>
            </a:extLst>
          </p:cNvPr>
          <p:cNvSpPr>
            <a:spLocks noGrp="1"/>
          </p:cNvSpPr>
          <p:nvPr>
            <p:ph type="title"/>
          </p:nvPr>
        </p:nvSpPr>
        <p:spPr>
          <a:xfrm>
            <a:off x="838200" y="356812"/>
            <a:ext cx="10515600" cy="1325563"/>
          </a:xfrm>
        </p:spPr>
        <p:txBody>
          <a:bodyPr/>
          <a:lstStyle/>
          <a:p>
            <a:r>
              <a:rPr lang="zh-CN" altLang="en-US" b="0" i="0" dirty="0">
                <a:solidFill>
                  <a:srgbClr val="060607"/>
                </a:solidFill>
                <a:effectLst/>
                <a:latin typeface="PingFang SC"/>
              </a:rPr>
              <a:t>卡方拟合优度检验</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AA94258-86B0-CEB2-1F8B-CF17FB4C6C00}"/>
                  </a:ext>
                </a:extLst>
              </p:cNvPr>
              <p:cNvSpPr>
                <a:spLocks noGrp="1"/>
              </p:cNvSpPr>
              <p:nvPr>
                <p:ph idx="1"/>
              </p:nvPr>
            </p:nvSpPr>
            <p:spPr/>
            <p:txBody>
              <a:bodyPr>
                <a:normAutofit/>
              </a:bodyPr>
              <a:lstStyle/>
              <a:p>
                <a:r>
                  <a:rPr lang="zh-CN" altLang="en-US" b="0" i="0" dirty="0">
                    <a:solidFill>
                      <a:srgbClr val="060607"/>
                    </a:solidFill>
                    <a:effectLst/>
                    <a:latin typeface="PingFang SC"/>
                  </a:rPr>
                  <a:t>用于检验观测频数与期望频数之间的差异是否具有统计显著性。</a:t>
                </a:r>
                <a:endParaRPr lang="it-IT" altLang="zh-CN" dirty="0">
                  <a:solidFill>
                    <a:srgbClr val="212121"/>
                  </a:solidFill>
                  <a:latin typeface="Menlo"/>
                </a:endParaRPr>
              </a:p>
              <a:p>
                <a:r>
                  <a:rPr lang="zh-CN" altLang="en-US" b="1" i="0" dirty="0">
                    <a:solidFill>
                      <a:srgbClr val="212121"/>
                    </a:solidFill>
                    <a:effectLst/>
                    <a:latin typeface="Menlo"/>
                  </a:rPr>
                  <a:t>计算方法：</a:t>
                </a:r>
                <a:endParaRPr lang="en-US" altLang="zh-CN" b="1" i="0" dirty="0">
                  <a:solidFill>
                    <a:srgbClr val="212121"/>
                  </a:solidFill>
                  <a:effectLst/>
                  <a:latin typeface="Menlo"/>
                </a:endParaRPr>
              </a:p>
              <a:p>
                <a:r>
                  <a:rPr lang="zh-CN" altLang="en-US" b="0" i="0" dirty="0">
                    <a:solidFill>
                      <a:srgbClr val="060607"/>
                    </a:solidFill>
                    <a:effectLst/>
                    <a:latin typeface="PingFang SC"/>
                  </a:rPr>
                  <a:t>根据理论分布或预期分布，计算每个分类的期望频数。期望频数通常是总频数乘以每个分类的理论概率或预期概率。</a:t>
                </a:r>
                <a:endParaRPr lang="it-IT" altLang="zh-CN" b="0" i="0" dirty="0">
                  <a:solidFill>
                    <a:srgbClr val="212121"/>
                  </a:solidFill>
                  <a:effectLst/>
                  <a:latin typeface="Menlo"/>
                </a:endParaRPr>
              </a:p>
              <a:p>
                <a:pPr algn="ctr"/>
                <a14:m>
                  <m:oMath xmlns:m="http://schemas.openxmlformats.org/officeDocument/2006/math">
                    <m:sSup>
                      <m:sSupPr>
                        <m:ctrlPr>
                          <a:rPr lang="el-GR" altLang="zh-CN" i="1" dirty="0">
                            <a:solidFill>
                              <a:srgbClr val="212121"/>
                            </a:solidFill>
                            <a:latin typeface="Cambria Math" panose="02040503050406030204" pitchFamily="18" charset="0"/>
                          </a:rPr>
                        </m:ctrlPr>
                      </m:sSupPr>
                      <m:e>
                        <m:r>
                          <a:rPr lang="el-GR" altLang="zh-CN" i="1" dirty="0">
                            <a:solidFill>
                              <a:srgbClr val="212121"/>
                            </a:solidFill>
                            <a:latin typeface="Cambria Math" panose="02040503050406030204" pitchFamily="18" charset="0"/>
                          </a:rPr>
                          <m:t>𝜒</m:t>
                        </m:r>
                      </m:e>
                      <m:sup>
                        <m:r>
                          <a:rPr lang="el-GR" altLang="zh-CN" i="1" dirty="0">
                            <a:solidFill>
                              <a:srgbClr val="212121"/>
                            </a:solidFill>
                            <a:latin typeface="Cambria Math" panose="02040503050406030204" pitchFamily="18" charset="0"/>
                          </a:rPr>
                          <m:t>2</m:t>
                        </m:r>
                      </m:sup>
                    </m:sSup>
                    <m:r>
                      <a:rPr lang="el-GR" altLang="zh-CN" i="1" dirty="0">
                        <a:solidFill>
                          <a:srgbClr val="212121"/>
                        </a:solidFill>
                        <a:latin typeface="Cambria Math" panose="02040503050406030204" pitchFamily="18" charset="0"/>
                      </a:rPr>
                      <m:t>= </m:t>
                    </m:r>
                    <m:f>
                      <m:fPr>
                        <m:ctrlPr>
                          <a:rPr lang="it-IT" altLang="zh-CN" i="1" dirty="0" smtClean="0">
                            <a:solidFill>
                              <a:srgbClr val="212121"/>
                            </a:solidFill>
                            <a:latin typeface="Cambria Math" panose="02040503050406030204" pitchFamily="18" charset="0"/>
                          </a:rPr>
                        </m:ctrlPr>
                      </m:fPr>
                      <m:num>
                        <m:nary>
                          <m:naryPr>
                            <m:chr m:val="∑"/>
                            <m:subHide m:val="on"/>
                            <m:supHide m:val="on"/>
                            <m:ctrlPr>
                              <a:rPr lang="el-GR" altLang="zh-CN" i="1" dirty="0" smtClean="0">
                                <a:solidFill>
                                  <a:srgbClr val="212121"/>
                                </a:solidFill>
                                <a:latin typeface="Cambria Math" panose="02040503050406030204" pitchFamily="18" charset="0"/>
                              </a:rPr>
                            </m:ctrlPr>
                          </m:naryPr>
                          <m:sub/>
                          <m:sup/>
                          <m:e>
                            <m:sSup>
                              <m:sSupPr>
                                <m:ctrlPr>
                                  <a:rPr lang="it-IT" altLang="zh-CN" i="1" dirty="0">
                                    <a:solidFill>
                                      <a:srgbClr val="212121"/>
                                    </a:solidFill>
                                    <a:latin typeface="Cambria Math" panose="02040503050406030204" pitchFamily="18" charset="0"/>
                                  </a:rPr>
                                </m:ctrlPr>
                              </m:sSupPr>
                              <m:e>
                                <m:d>
                                  <m:dPr>
                                    <m:ctrlPr>
                                      <a:rPr lang="el-GR" altLang="zh-CN" i="1" dirty="0">
                                        <a:solidFill>
                                          <a:srgbClr val="212121"/>
                                        </a:solidFill>
                                        <a:latin typeface="Cambria Math" panose="02040503050406030204" pitchFamily="18" charset="0"/>
                                      </a:rPr>
                                    </m:ctrlPr>
                                  </m:dPr>
                                  <m:e>
                                    <m:sSub>
                                      <m:sSubPr>
                                        <m:ctrlPr>
                                          <a:rPr lang="it-IT" altLang="zh-CN" i="1" dirty="0">
                                            <a:solidFill>
                                              <a:srgbClr val="212121"/>
                                            </a:solidFill>
                                            <a:latin typeface="Cambria Math" panose="02040503050406030204" pitchFamily="18" charset="0"/>
                                          </a:rPr>
                                        </m:ctrlPr>
                                      </m:sSubPr>
                                      <m:e>
                                        <m:r>
                                          <a:rPr lang="it-IT" altLang="zh-CN" i="1" dirty="0">
                                            <a:solidFill>
                                              <a:srgbClr val="212121"/>
                                            </a:solidFill>
                                            <a:latin typeface="Cambria Math" panose="02040503050406030204" pitchFamily="18" charset="0"/>
                                          </a:rPr>
                                          <m:t>𝑂</m:t>
                                        </m:r>
                                      </m:e>
                                      <m:sub>
                                        <m:r>
                                          <a:rPr lang="it-IT" altLang="zh-CN" i="1" dirty="0">
                                            <a:solidFill>
                                              <a:srgbClr val="212121"/>
                                            </a:solidFill>
                                            <a:latin typeface="Cambria Math" panose="02040503050406030204" pitchFamily="18" charset="0"/>
                                          </a:rPr>
                                          <m:t>𝑖</m:t>
                                        </m:r>
                                      </m:sub>
                                    </m:sSub>
                                    <m:r>
                                      <a:rPr lang="it-IT" altLang="zh-CN" i="1" dirty="0">
                                        <a:solidFill>
                                          <a:srgbClr val="212121"/>
                                        </a:solidFill>
                                        <a:latin typeface="Cambria Math" panose="02040503050406030204" pitchFamily="18" charset="0"/>
                                      </a:rPr>
                                      <m:t> − </m:t>
                                    </m:r>
                                    <m:sSub>
                                      <m:sSubPr>
                                        <m:ctrlPr>
                                          <a:rPr lang="it-IT" altLang="zh-CN" i="1" dirty="0">
                                            <a:solidFill>
                                              <a:srgbClr val="212121"/>
                                            </a:solidFill>
                                            <a:latin typeface="Cambria Math" panose="02040503050406030204" pitchFamily="18" charset="0"/>
                                          </a:rPr>
                                        </m:ctrlPr>
                                      </m:sSubPr>
                                      <m:e>
                                        <m:r>
                                          <a:rPr lang="it-IT" altLang="zh-CN" i="1" dirty="0">
                                            <a:solidFill>
                                              <a:srgbClr val="212121"/>
                                            </a:solidFill>
                                            <a:latin typeface="Cambria Math" panose="02040503050406030204" pitchFamily="18" charset="0"/>
                                          </a:rPr>
                                          <m:t>𝐸</m:t>
                                        </m:r>
                                      </m:e>
                                      <m:sub>
                                        <m:r>
                                          <a:rPr lang="it-IT" altLang="zh-CN" i="1" dirty="0">
                                            <a:solidFill>
                                              <a:srgbClr val="212121"/>
                                            </a:solidFill>
                                            <a:latin typeface="Cambria Math" panose="02040503050406030204" pitchFamily="18" charset="0"/>
                                          </a:rPr>
                                          <m:t>𝑖</m:t>
                                        </m:r>
                                      </m:sub>
                                    </m:sSub>
                                  </m:e>
                                </m:d>
                              </m:e>
                              <m:sup>
                                <m:r>
                                  <a:rPr lang="it-IT" altLang="zh-CN" i="1" dirty="0">
                                    <a:solidFill>
                                      <a:srgbClr val="212121"/>
                                    </a:solidFill>
                                    <a:latin typeface="Cambria Math" panose="02040503050406030204" pitchFamily="18" charset="0"/>
                                  </a:rPr>
                                  <m:t>2</m:t>
                                </m:r>
                              </m:sup>
                            </m:sSup>
                          </m:e>
                        </m:nary>
                      </m:num>
                      <m:den>
                        <m:sSub>
                          <m:sSubPr>
                            <m:ctrlPr>
                              <a:rPr lang="it-IT" altLang="zh-CN" i="1" dirty="0">
                                <a:solidFill>
                                  <a:srgbClr val="212121"/>
                                </a:solidFill>
                                <a:latin typeface="Cambria Math" panose="02040503050406030204" pitchFamily="18" charset="0"/>
                              </a:rPr>
                            </m:ctrlPr>
                          </m:sSubPr>
                          <m:e>
                            <m:r>
                              <a:rPr lang="it-IT" altLang="zh-CN" i="1" dirty="0">
                                <a:solidFill>
                                  <a:srgbClr val="212121"/>
                                </a:solidFill>
                                <a:latin typeface="Cambria Math" panose="02040503050406030204" pitchFamily="18" charset="0"/>
                              </a:rPr>
                              <m:t>𝐸</m:t>
                            </m:r>
                          </m:e>
                          <m:sub>
                            <m:r>
                              <a:rPr lang="it-IT" altLang="zh-CN" i="1" dirty="0">
                                <a:solidFill>
                                  <a:srgbClr val="212121"/>
                                </a:solidFill>
                                <a:latin typeface="Cambria Math" panose="02040503050406030204" pitchFamily="18" charset="0"/>
                              </a:rPr>
                              <m:t>𝑖</m:t>
                            </m:r>
                          </m:sub>
                        </m:sSub>
                      </m:den>
                    </m:f>
                  </m:oMath>
                </a14:m>
                <a:endParaRPr lang="it-IT" altLang="zh-CN" dirty="0">
                  <a:solidFill>
                    <a:srgbClr val="212121"/>
                  </a:solidFill>
                  <a:latin typeface="Menlo"/>
                </a:endParaRPr>
              </a:p>
              <a:p>
                <a:r>
                  <a:rPr lang="zh-CN" altLang="en-US" dirty="0">
                    <a:solidFill>
                      <a:srgbClr val="212121"/>
                    </a:solidFill>
                    <a:latin typeface="Menlo"/>
                  </a:rPr>
                  <a:t>其中，</a:t>
                </a:r>
                <a14:m>
                  <m:oMath xmlns:m="http://schemas.openxmlformats.org/officeDocument/2006/math">
                    <m:sSub>
                      <m:sSubPr>
                        <m:ctrlPr>
                          <a:rPr lang="it-IT" altLang="zh-CN" i="1" dirty="0" smtClean="0">
                            <a:solidFill>
                              <a:srgbClr val="212121"/>
                            </a:solidFill>
                            <a:latin typeface="Cambria Math" panose="02040503050406030204" pitchFamily="18" charset="0"/>
                          </a:rPr>
                        </m:ctrlPr>
                      </m:sSubPr>
                      <m:e>
                        <m:r>
                          <a:rPr lang="it-IT" altLang="zh-CN" i="1" dirty="0" smtClean="0">
                            <a:solidFill>
                              <a:srgbClr val="212121"/>
                            </a:solidFill>
                            <a:latin typeface="Cambria Math" panose="02040503050406030204" pitchFamily="18" charset="0"/>
                          </a:rPr>
                          <m:t>𝑂</m:t>
                        </m:r>
                      </m:e>
                      <m:sub>
                        <m:r>
                          <a:rPr lang="it-IT" altLang="zh-CN" i="1" dirty="0" smtClean="0">
                            <a:solidFill>
                              <a:srgbClr val="212121"/>
                            </a:solidFill>
                            <a:latin typeface="Cambria Math" panose="02040503050406030204" pitchFamily="18" charset="0"/>
                          </a:rPr>
                          <m:t>𝑖</m:t>
                        </m:r>
                      </m:sub>
                    </m:sSub>
                  </m:oMath>
                </a14:m>
                <a:r>
                  <a:rPr lang="it-IT" altLang="zh-CN" dirty="0">
                    <a:solidFill>
                      <a:srgbClr val="212121"/>
                    </a:solidFill>
                    <a:latin typeface="Menlo"/>
                  </a:rPr>
                  <a:t> </a:t>
                </a:r>
                <a:r>
                  <a:rPr lang="zh-CN" altLang="en-US" dirty="0">
                    <a:solidFill>
                      <a:srgbClr val="212121"/>
                    </a:solidFill>
                    <a:latin typeface="Menlo"/>
                  </a:rPr>
                  <a:t>是观测频数，</a:t>
                </a:r>
                <a14:m>
                  <m:oMath xmlns:m="http://schemas.openxmlformats.org/officeDocument/2006/math">
                    <m:sSub>
                      <m:sSubPr>
                        <m:ctrlPr>
                          <a:rPr lang="it-IT" altLang="zh-CN" i="1" dirty="0" smtClean="0">
                            <a:solidFill>
                              <a:srgbClr val="212121"/>
                            </a:solidFill>
                            <a:latin typeface="Cambria Math" panose="02040503050406030204" pitchFamily="18" charset="0"/>
                          </a:rPr>
                        </m:ctrlPr>
                      </m:sSubPr>
                      <m:e>
                        <m:r>
                          <a:rPr lang="it-IT" altLang="zh-CN" i="1" dirty="0" smtClean="0">
                            <a:solidFill>
                              <a:srgbClr val="212121"/>
                            </a:solidFill>
                            <a:latin typeface="Cambria Math" panose="02040503050406030204" pitchFamily="18" charset="0"/>
                          </a:rPr>
                          <m:t>𝐸</m:t>
                        </m:r>
                      </m:e>
                      <m:sub>
                        <m:r>
                          <a:rPr lang="it-IT" altLang="zh-CN" i="1" dirty="0" smtClean="0">
                            <a:solidFill>
                              <a:srgbClr val="212121"/>
                            </a:solidFill>
                            <a:latin typeface="Cambria Math" panose="02040503050406030204" pitchFamily="18" charset="0"/>
                          </a:rPr>
                          <m:t>𝑖</m:t>
                        </m:r>
                      </m:sub>
                    </m:sSub>
                  </m:oMath>
                </a14:m>
                <a:r>
                  <a:rPr lang="it-IT" altLang="zh-CN" dirty="0">
                    <a:solidFill>
                      <a:srgbClr val="212121"/>
                    </a:solidFill>
                    <a:latin typeface="Menlo"/>
                  </a:rPr>
                  <a:t> </a:t>
                </a:r>
                <a:r>
                  <a:rPr lang="zh-CN" altLang="en-US" dirty="0">
                    <a:solidFill>
                      <a:srgbClr val="212121"/>
                    </a:solidFill>
                    <a:latin typeface="Menlo"/>
                  </a:rPr>
                  <a:t>是期望频数。</a:t>
                </a:r>
                <a:endParaRPr lang="it-IT" altLang="zh-CN" dirty="0">
                  <a:solidFill>
                    <a:srgbClr val="212121"/>
                  </a:solidFill>
                  <a:latin typeface="Menlo"/>
                </a:endParaRPr>
              </a:p>
              <a:p>
                <a:r>
                  <a:rPr lang="zh-CN" altLang="en-US" b="0" i="0" dirty="0">
                    <a:solidFill>
                      <a:srgbClr val="060607"/>
                    </a:solidFill>
                    <a:effectLst/>
                    <a:latin typeface="PingFang SC"/>
                  </a:rPr>
                  <a:t>自由度（</a:t>
                </a:r>
                <a:r>
                  <a:rPr lang="en-US" altLang="zh-CN" b="0" i="0" dirty="0" err="1">
                    <a:solidFill>
                      <a:srgbClr val="060607"/>
                    </a:solidFill>
                    <a:effectLst/>
                    <a:latin typeface="PingFang SC"/>
                  </a:rPr>
                  <a:t>df</a:t>
                </a:r>
                <a:r>
                  <a:rPr lang="zh-CN" altLang="en-US" b="0" i="0" dirty="0">
                    <a:solidFill>
                      <a:srgbClr val="060607"/>
                    </a:solidFill>
                    <a:effectLst/>
                    <a:latin typeface="PingFang SC"/>
                  </a:rPr>
                  <a:t>）通常是分类的数量减去</a:t>
                </a:r>
                <a:r>
                  <a:rPr lang="en-US" altLang="zh-CN" b="0" i="0" dirty="0">
                    <a:solidFill>
                      <a:srgbClr val="060607"/>
                    </a:solidFill>
                    <a:effectLst/>
                    <a:latin typeface="PingFang SC"/>
                  </a:rPr>
                  <a:t>1</a:t>
                </a:r>
                <a:r>
                  <a:rPr lang="zh-CN" altLang="en-US" b="0" i="0" dirty="0">
                    <a:solidFill>
                      <a:srgbClr val="060607"/>
                    </a:solidFill>
                    <a:effectLst/>
                    <a:latin typeface="PingFang SC"/>
                  </a:rPr>
                  <a:t>（对于单个分类变量）。</a:t>
                </a:r>
                <a:endParaRPr lang="it-IT" altLang="zh-CN" b="0" i="0" dirty="0">
                  <a:solidFill>
                    <a:srgbClr val="212121"/>
                  </a:solidFill>
                  <a:effectLst/>
                  <a:latin typeface="Menlo"/>
                </a:endParaRPr>
              </a:p>
              <a:p>
                <a:r>
                  <a:rPr lang="zh-CN" altLang="en-US" b="0" i="0" dirty="0">
                    <a:solidFill>
                      <a:srgbClr val="060607"/>
                    </a:solidFill>
                    <a:effectLst/>
                    <a:latin typeface="PingFang SC"/>
                  </a:rPr>
                  <a:t>根据计算出的卡方值和自由度，查找卡方分布表得到相应的</a:t>
                </a:r>
                <a:r>
                  <a:rPr lang="en-US" altLang="zh-CN" b="0" i="0" dirty="0">
                    <a:solidFill>
                      <a:srgbClr val="060607"/>
                    </a:solidFill>
                    <a:effectLst/>
                    <a:latin typeface="PingFang SC"/>
                  </a:rPr>
                  <a:t>p</a:t>
                </a:r>
                <a:r>
                  <a:rPr lang="zh-CN" altLang="en-US" b="0" i="0" dirty="0">
                    <a:solidFill>
                      <a:srgbClr val="060607"/>
                    </a:solidFill>
                    <a:effectLst/>
                    <a:latin typeface="PingFang SC"/>
                  </a:rPr>
                  <a:t>值。</a:t>
                </a:r>
                <a:endParaRPr lang="it-IT" altLang="zh-CN" dirty="0">
                  <a:solidFill>
                    <a:srgbClr val="212121"/>
                  </a:solidFill>
                  <a:latin typeface="Menlo"/>
                </a:endParaRPr>
              </a:p>
              <a:p>
                <a:endParaRPr lang="zh-CN" altLang="en-US" dirty="0"/>
              </a:p>
            </p:txBody>
          </p:sp>
        </mc:Choice>
        <mc:Fallback xmlns="">
          <p:sp>
            <p:nvSpPr>
              <p:cNvPr id="3" name="内容占位符 2">
                <a:extLst>
                  <a:ext uri="{FF2B5EF4-FFF2-40B4-BE49-F238E27FC236}">
                    <a16:creationId xmlns:a16="http://schemas.microsoft.com/office/drawing/2014/main" id="{1AA94258-86B0-CEB2-1F8B-CF17FB4C6C00}"/>
                  </a:ext>
                </a:extLst>
              </p:cNvPr>
              <p:cNvSpPr>
                <a:spLocks noGrp="1" noRot="1" noChangeAspect="1" noMove="1" noResize="1" noEditPoints="1" noAdjustHandles="1" noChangeArrowheads="1" noChangeShapeType="1" noTextEdit="1"/>
              </p:cNvSpPr>
              <p:nvPr>
                <p:ph idx="1"/>
              </p:nvPr>
            </p:nvSpPr>
            <p:spPr>
              <a:blipFill>
                <a:blip r:embed="rId2"/>
                <a:stretch>
                  <a:fillRect l="-1043" t="-2521" r="-1565" b="-2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86673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6717A8-3A21-3172-F479-9F780560DB64}"/>
              </a:ext>
            </a:extLst>
          </p:cNvPr>
          <p:cNvSpPr>
            <a:spLocks noGrp="1"/>
          </p:cNvSpPr>
          <p:nvPr>
            <p:ph type="title"/>
          </p:nvPr>
        </p:nvSpPr>
        <p:spPr/>
        <p:txBody>
          <a:bodyPr/>
          <a:lstStyle/>
          <a:p>
            <a:r>
              <a:rPr lang="zh-CN" altLang="en-US" b="0" i="0" dirty="0">
                <a:solidFill>
                  <a:srgbClr val="060607"/>
                </a:solidFill>
                <a:effectLst/>
                <a:latin typeface="PingFang SC"/>
              </a:rPr>
              <a:t>卡方拟合优度检验</a:t>
            </a:r>
            <a:endParaRPr lang="zh-CN" altLang="en-US" dirty="0"/>
          </a:p>
        </p:txBody>
      </p:sp>
      <p:sp>
        <p:nvSpPr>
          <p:cNvPr id="3" name="内容占位符 2">
            <a:extLst>
              <a:ext uri="{FF2B5EF4-FFF2-40B4-BE49-F238E27FC236}">
                <a16:creationId xmlns:a16="http://schemas.microsoft.com/office/drawing/2014/main" id="{EE1CC774-C0B9-59AC-8F37-83E2D604D997}"/>
              </a:ext>
            </a:extLst>
          </p:cNvPr>
          <p:cNvSpPr>
            <a:spLocks noGrp="1"/>
          </p:cNvSpPr>
          <p:nvPr>
            <p:ph idx="1"/>
          </p:nvPr>
        </p:nvSpPr>
        <p:spPr/>
        <p:txBody>
          <a:bodyPr/>
          <a:lstStyle/>
          <a:p>
            <a:r>
              <a:rPr lang="zh-CN" altLang="en-US" b="1" i="0" dirty="0">
                <a:solidFill>
                  <a:srgbClr val="060607"/>
                </a:solidFill>
                <a:effectLst/>
                <a:latin typeface="PingFang SC"/>
              </a:rPr>
              <a:t>作出决策</a:t>
            </a:r>
            <a:r>
              <a:rPr lang="zh-CN" altLang="en-US" b="0" i="0" dirty="0">
                <a:solidFill>
                  <a:srgbClr val="060607"/>
                </a:solidFill>
                <a:effectLst/>
                <a:latin typeface="PingFang SC"/>
              </a:rPr>
              <a:t>： </a:t>
            </a:r>
            <a:endParaRPr lang="en-US" altLang="zh-CN" b="0" i="0" dirty="0">
              <a:solidFill>
                <a:srgbClr val="060607"/>
              </a:solidFill>
              <a:effectLst/>
              <a:latin typeface="PingFang SC"/>
            </a:endParaRPr>
          </a:p>
          <a:p>
            <a:pPr marL="457200" lvl="1" indent="0">
              <a:buNone/>
            </a:pPr>
            <a:r>
              <a:rPr lang="en-GB" altLang="zh-CN" dirty="0">
                <a:solidFill>
                  <a:srgbClr val="060607"/>
                </a:solidFill>
                <a:latin typeface="PingFang SC"/>
              </a:rPr>
              <a:t>1. </a:t>
            </a:r>
            <a:r>
              <a:rPr lang="zh-CN" altLang="en-US" b="0" i="0" dirty="0">
                <a:solidFill>
                  <a:srgbClr val="060607"/>
                </a:solidFill>
                <a:effectLst/>
                <a:latin typeface="PingFang SC"/>
              </a:rPr>
              <a:t>如果</a:t>
            </a:r>
            <a:r>
              <a:rPr lang="en-US" altLang="zh-CN" b="0" i="0" dirty="0">
                <a:solidFill>
                  <a:srgbClr val="060607"/>
                </a:solidFill>
                <a:effectLst/>
                <a:latin typeface="PingFang SC"/>
              </a:rPr>
              <a:t>p</a:t>
            </a:r>
            <a:r>
              <a:rPr lang="zh-CN" altLang="en-US" b="0" i="0" dirty="0">
                <a:solidFill>
                  <a:srgbClr val="060607"/>
                </a:solidFill>
                <a:effectLst/>
                <a:latin typeface="PingFang SC"/>
              </a:rPr>
              <a:t>值小于显著性水平（例如</a:t>
            </a:r>
            <a:r>
              <a:rPr lang="en-US" altLang="zh-CN" b="0" i="0" dirty="0">
                <a:solidFill>
                  <a:srgbClr val="060607"/>
                </a:solidFill>
                <a:effectLst/>
                <a:latin typeface="PingFang SC"/>
              </a:rPr>
              <a:t>0.05</a:t>
            </a:r>
            <a:r>
              <a:rPr lang="zh-CN" altLang="en-US" b="0" i="0" dirty="0">
                <a:solidFill>
                  <a:srgbClr val="060607"/>
                </a:solidFill>
                <a:effectLst/>
                <a:latin typeface="PingFang SC"/>
              </a:rPr>
              <a:t>），则拒绝原假设，认为观测频数与期望频数之间存在显著差异；如果</a:t>
            </a:r>
            <a:r>
              <a:rPr lang="en-US" altLang="zh-CN" b="0" i="0" dirty="0">
                <a:solidFill>
                  <a:srgbClr val="060607"/>
                </a:solidFill>
                <a:effectLst/>
                <a:latin typeface="PingFang SC"/>
              </a:rPr>
              <a:t>p</a:t>
            </a:r>
            <a:r>
              <a:rPr lang="zh-CN" altLang="en-US" b="0" i="0" dirty="0">
                <a:solidFill>
                  <a:srgbClr val="060607"/>
                </a:solidFill>
                <a:effectLst/>
                <a:latin typeface="PingFang SC"/>
              </a:rPr>
              <a:t>值大于显著性水平，则不能拒绝原假设。</a:t>
            </a:r>
          </a:p>
          <a:p>
            <a:r>
              <a:rPr lang="zh-CN" altLang="en-US" b="0" i="0" dirty="0">
                <a:solidFill>
                  <a:srgbClr val="060607"/>
                </a:solidFill>
                <a:effectLst/>
                <a:latin typeface="PingFang SC"/>
              </a:rPr>
              <a:t>卡方拟合优度检验要求每个单元格的期望频数至少为</a:t>
            </a:r>
            <a:r>
              <a:rPr lang="en-US" altLang="zh-CN" b="0" i="0" dirty="0">
                <a:solidFill>
                  <a:srgbClr val="060607"/>
                </a:solidFill>
                <a:effectLst/>
                <a:latin typeface="PingFang SC"/>
              </a:rPr>
              <a:t>5</a:t>
            </a:r>
            <a:r>
              <a:rPr lang="zh-CN" altLang="en-US" b="0" i="0" dirty="0">
                <a:solidFill>
                  <a:srgbClr val="060607"/>
                </a:solidFill>
                <a:effectLst/>
                <a:latin typeface="PingFang SC"/>
              </a:rPr>
              <a:t>，以保证卡方近似的有效性。</a:t>
            </a:r>
          </a:p>
          <a:p>
            <a:endParaRPr lang="en-US" altLang="zh-CN" dirty="0"/>
          </a:p>
          <a:p>
            <a:endParaRPr lang="en-US" altLang="zh-CN" dirty="0"/>
          </a:p>
          <a:p>
            <a:r>
              <a:rPr lang="it-IT" altLang="zh-CN" b="0" i="0" dirty="0">
                <a:solidFill>
                  <a:srgbClr val="212121"/>
                </a:solidFill>
                <a:effectLst/>
                <a:latin typeface="Menlo"/>
              </a:rPr>
              <a:t>[h,p,stats] = chi2gof(score)</a:t>
            </a:r>
          </a:p>
          <a:p>
            <a:endParaRPr lang="zh-CN" altLang="en-US" dirty="0"/>
          </a:p>
        </p:txBody>
      </p:sp>
    </p:spTree>
    <p:extLst>
      <p:ext uri="{BB962C8B-B14F-4D97-AF65-F5344CB8AC3E}">
        <p14:creationId xmlns:p14="http://schemas.microsoft.com/office/powerpoint/2010/main" val="10706062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0641C-4444-BD57-A60C-55DD58F4B06A}"/>
              </a:ext>
            </a:extLst>
          </p:cNvPr>
          <p:cNvSpPr>
            <a:spLocks noGrp="1"/>
          </p:cNvSpPr>
          <p:nvPr>
            <p:ph type="title"/>
          </p:nvPr>
        </p:nvSpPr>
        <p:spPr/>
        <p:txBody>
          <a:bodyPr/>
          <a:lstStyle/>
          <a:p>
            <a:r>
              <a:rPr lang="en-GB" altLang="zh-CN" b="1" i="0" dirty="0">
                <a:solidFill>
                  <a:srgbClr val="060607"/>
                </a:solidFill>
                <a:effectLst/>
                <a:latin typeface="PingFang SC"/>
              </a:rPr>
              <a:t>Jarque-Bera</a:t>
            </a:r>
            <a:r>
              <a:rPr lang="zh-CN" altLang="en-US" b="1" i="0" dirty="0">
                <a:solidFill>
                  <a:srgbClr val="060607"/>
                </a:solidFill>
                <a:effectLst/>
                <a:latin typeface="PingFang SC"/>
              </a:rPr>
              <a:t>检验</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4A82A95-4755-D930-1CC4-180932FEDCFF}"/>
                  </a:ext>
                </a:extLst>
              </p:cNvPr>
              <p:cNvSpPr>
                <a:spLocks noGrp="1"/>
              </p:cNvSpPr>
              <p:nvPr>
                <p:ph idx="1"/>
              </p:nvPr>
            </p:nvSpPr>
            <p:spPr/>
            <p:txBody>
              <a:bodyPr>
                <a:normAutofit fontScale="92500" lnSpcReduction="10000"/>
              </a:bodyPr>
              <a:lstStyle/>
              <a:p>
                <a:r>
                  <a:rPr lang="en-US" altLang="zh-CN" b="0" i="0" dirty="0">
                    <a:solidFill>
                      <a:srgbClr val="060607"/>
                    </a:solidFill>
                    <a:effectLst/>
                    <a:latin typeface="PingFang SC"/>
                  </a:rPr>
                  <a:t>Jarque-Bera</a:t>
                </a:r>
                <a:r>
                  <a:rPr lang="zh-CN" altLang="en-US" b="0" i="0" dirty="0">
                    <a:solidFill>
                      <a:srgbClr val="060607"/>
                    </a:solidFill>
                    <a:effectLst/>
                    <a:latin typeface="PingFang SC"/>
                  </a:rPr>
                  <a:t>检验是一种统计检验，用于检验一组观测数据是否服从正态分布。这种检验基于数据的偏度（</a:t>
                </a:r>
                <a:r>
                  <a:rPr lang="en-US" altLang="zh-CN" b="0" i="0" dirty="0">
                    <a:solidFill>
                      <a:srgbClr val="060607"/>
                    </a:solidFill>
                    <a:effectLst/>
                    <a:latin typeface="PingFang SC"/>
                  </a:rPr>
                  <a:t>Skewness</a:t>
                </a:r>
                <a:r>
                  <a:rPr lang="zh-CN" altLang="en-US" b="0" i="0" dirty="0">
                    <a:solidFill>
                      <a:srgbClr val="060607"/>
                    </a:solidFill>
                    <a:effectLst/>
                    <a:latin typeface="PingFang SC"/>
                  </a:rPr>
                  <a:t>）和峰度（</a:t>
                </a:r>
                <a:r>
                  <a:rPr lang="en-US" altLang="zh-CN" b="0" i="0" dirty="0">
                    <a:solidFill>
                      <a:srgbClr val="060607"/>
                    </a:solidFill>
                    <a:effectLst/>
                    <a:latin typeface="PingFang SC"/>
                  </a:rPr>
                  <a:t>Kurtosis</a:t>
                </a:r>
                <a:r>
                  <a:rPr lang="zh-CN" altLang="en-US" b="0" i="0" dirty="0">
                    <a:solidFill>
                      <a:srgbClr val="060607"/>
                    </a:solidFill>
                    <a:effectLst/>
                    <a:latin typeface="PingFang SC"/>
                  </a:rPr>
                  <a:t>）的联合统计量，因为正态分布的偏度和峰度是</a:t>
                </a:r>
                <a:r>
                  <a:rPr lang="en-US" altLang="zh-CN" b="0" i="0" dirty="0">
                    <a:solidFill>
                      <a:srgbClr val="060607"/>
                    </a:solidFill>
                    <a:effectLst/>
                    <a:latin typeface="PingFang SC"/>
                  </a:rPr>
                  <a:t>0</a:t>
                </a:r>
                <a:r>
                  <a:rPr lang="zh-CN" altLang="en-US" b="0" i="0" dirty="0">
                    <a:solidFill>
                      <a:srgbClr val="060607"/>
                    </a:solidFill>
                    <a:effectLst/>
                    <a:latin typeface="PingFang SC"/>
                  </a:rPr>
                  <a:t>和</a:t>
                </a:r>
                <a:r>
                  <a:rPr lang="en-US" altLang="zh-CN" b="0" i="0" dirty="0">
                    <a:solidFill>
                      <a:srgbClr val="060607"/>
                    </a:solidFill>
                    <a:effectLst/>
                    <a:latin typeface="PingFang SC"/>
                  </a:rPr>
                  <a:t>3</a:t>
                </a:r>
                <a:r>
                  <a:rPr lang="zh-CN" altLang="en-US" b="0" i="0" dirty="0">
                    <a:solidFill>
                      <a:srgbClr val="060607"/>
                    </a:solidFill>
                    <a:effectLst/>
                    <a:latin typeface="PingFang SC"/>
                  </a:rPr>
                  <a:t>。</a:t>
                </a:r>
                <a:endParaRPr lang="en-US" altLang="zh-CN" b="0" i="0" dirty="0">
                  <a:solidFill>
                    <a:srgbClr val="060607"/>
                  </a:solidFill>
                  <a:effectLst/>
                  <a:latin typeface="PingFang SC"/>
                </a:endParaRPr>
              </a:p>
              <a:p>
                <a:r>
                  <a:rPr lang="zh-CN" altLang="en-US" b="1" i="0" dirty="0">
                    <a:solidFill>
                      <a:srgbClr val="212121"/>
                    </a:solidFill>
                    <a:effectLst/>
                    <a:latin typeface="Menlo"/>
                  </a:rPr>
                  <a:t>计算方法：</a:t>
                </a:r>
                <a:endParaRPr lang="en-US" altLang="zh-CN" b="1" i="0" dirty="0">
                  <a:solidFill>
                    <a:srgbClr val="212121"/>
                  </a:solidFill>
                  <a:effectLst/>
                  <a:latin typeface="Menlo"/>
                </a:endParaRPr>
              </a:p>
              <a:p>
                <a:r>
                  <a:rPr lang="en-US" altLang="zh-CN" dirty="0"/>
                  <a:t>1.</a:t>
                </a:r>
                <a:r>
                  <a:rPr lang="zh-CN" altLang="en-US" dirty="0"/>
                  <a:t> 计算偏度和峰度：</a:t>
                </a:r>
                <a:endParaRPr lang="en-US" altLang="zh-CN" dirty="0"/>
              </a:p>
              <a:p>
                <a:r>
                  <a:rPr lang="en-US" altLang="zh-CN" dirty="0"/>
                  <a:t>2. </a:t>
                </a:r>
                <a:r>
                  <a:rPr lang="zh-CN" altLang="en-US" dirty="0"/>
                  <a:t>构建</a:t>
                </a:r>
                <a:r>
                  <a:rPr lang="en-US" altLang="zh-CN" dirty="0"/>
                  <a:t>Jarque-Bera</a:t>
                </a:r>
                <a:r>
                  <a:rPr lang="zh-CN" altLang="en-US" dirty="0"/>
                  <a:t>统计量：</a:t>
                </a:r>
                <a:endParaRPr lang="en-US" altLang="zh-CN" dirty="0"/>
              </a:p>
              <a:p>
                <a:pPr algn="ctr"/>
                <a14:m>
                  <m:oMath xmlns:m="http://schemas.openxmlformats.org/officeDocument/2006/math">
                    <m:r>
                      <m:rPr>
                        <m:sty m:val="p"/>
                      </m:rPr>
                      <a:rPr lang="en-US" altLang="zh-CN">
                        <a:latin typeface="Cambria Math" panose="02040503050406030204" pitchFamily="18" charset="0"/>
                      </a:rPr>
                      <m:t>JB</m:t>
                    </m:r>
                    <m:r>
                      <a:rPr lang="en-US" altLang="zh-CN">
                        <a:latin typeface="Cambria Math" panose="02040503050406030204" pitchFamily="18" charset="0"/>
                      </a:rPr>
                      <m:t>=</m:t>
                    </m:r>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1</m:t>
                            </m:r>
                          </m:e>
                        </m:d>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2</m:t>
                            </m:r>
                          </m:e>
                        </m:d>
                      </m:num>
                      <m:den>
                        <m:r>
                          <a:rPr lang="en-US" altLang="zh-CN">
                            <a:latin typeface="Cambria Math" panose="02040503050406030204" pitchFamily="18" charset="0"/>
                          </a:rPr>
                          <m:t>6</m:t>
                        </m:r>
                      </m:den>
                    </m:f>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2</m:t>
                                </m:r>
                              </m:e>
                            </m:d>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S</m:t>
                                </m:r>
                              </m:e>
                              <m:sup>
                                <m:r>
                                  <a:rPr lang="en-US" altLang="zh-CN">
                                    <a:latin typeface="Cambria Math" panose="02040503050406030204" pitchFamily="18" charset="0"/>
                                  </a:rPr>
                                  <m:t>2</m:t>
                                </m:r>
                              </m:sup>
                            </m:sSup>
                          </m:num>
                          <m:den>
                            <m:r>
                              <m:rPr>
                                <m:sty m:val="p"/>
                              </m:rPr>
                              <a:rPr lang="en-US" altLang="zh-CN">
                                <a:latin typeface="Cambria Math" panose="02040503050406030204" pitchFamily="18" charset="0"/>
                              </a:rPr>
                              <m:t>n</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1</m:t>
                                </m:r>
                              </m:e>
                            </m:d>
                          </m:num>
                          <m:den>
                            <m:r>
                              <a:rPr lang="en-US" altLang="zh-CN">
                                <a:latin typeface="Cambria Math" panose="02040503050406030204" pitchFamily="18" charset="0"/>
                              </a:rPr>
                              <m:t>6</m:t>
                            </m:r>
                          </m:den>
                        </m:f>
                      </m:e>
                    </m:d>
                    <m:r>
                      <a:rPr lang="en-US" altLang="zh-CN">
                        <a:latin typeface="Cambria Math" panose="02040503050406030204" pitchFamily="18" charset="0"/>
                      </a:rPr>
                      <m:t>+</m:t>
                    </m:r>
                    <m:f>
                      <m:fPr>
                        <m:ctrlPr>
                          <a:rPr lang="zh-CN" altLang="zh-CN" i="1">
                            <a:latin typeface="Cambria Math" panose="02040503050406030204" pitchFamily="18" charset="0"/>
                          </a:rPr>
                        </m:ctrlPr>
                      </m:fPr>
                      <m:num>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1</m:t>
                                </m:r>
                              </m:e>
                            </m:d>
                          </m:e>
                          <m:sup>
                            <m:r>
                              <a:rPr lang="en-US" altLang="zh-CN">
                                <a:latin typeface="Cambria Math" panose="02040503050406030204" pitchFamily="18" charset="0"/>
                              </a:rPr>
                              <m:t>2</m:t>
                            </m:r>
                          </m:sup>
                        </m:sSup>
                      </m:num>
                      <m:den>
                        <m:r>
                          <a:rPr lang="en-US" altLang="zh-CN">
                            <a:latin typeface="Cambria Math" panose="02040503050406030204" pitchFamily="18" charset="0"/>
                          </a:rPr>
                          <m:t>24</m:t>
                        </m:r>
                      </m:den>
                    </m:f>
                    <m:d>
                      <m:dPr>
                        <m:begChr m:val="["/>
                        <m:endChr m:val="]"/>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3</m:t>
                                </m:r>
                              </m:e>
                            </m:d>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K</m:t>
                                </m:r>
                              </m:e>
                              <m:sup>
                                <m:r>
                                  <a:rPr lang="en-US" altLang="zh-CN">
                                    <a:latin typeface="Cambria Math" panose="02040503050406030204" pitchFamily="18" charset="0"/>
                                  </a:rPr>
                                  <m:t>2</m:t>
                                </m:r>
                              </m:sup>
                            </m:sSup>
                          </m:num>
                          <m:den>
                            <m:r>
                              <m:rPr>
                                <m:sty m:val="p"/>
                              </m:rPr>
                              <a:rPr lang="en-US" altLang="zh-CN">
                                <a:latin typeface="Cambria Math" panose="02040503050406030204" pitchFamily="18" charset="0"/>
                              </a:rPr>
                              <m:t>n</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3</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1</m:t>
                                </m:r>
                              </m:e>
                            </m:d>
                          </m:num>
                          <m:den>
                            <m:r>
                              <a:rPr lang="en-US" altLang="zh-CN">
                                <a:latin typeface="Cambria Math" panose="02040503050406030204" pitchFamily="18" charset="0"/>
                              </a:rPr>
                              <m:t>24</m:t>
                            </m:r>
                          </m:den>
                        </m:f>
                      </m:e>
                    </m:d>
                  </m:oMath>
                </a14:m>
                <a:endParaRPr lang="en-GB" altLang="zh-CN" dirty="0"/>
              </a:p>
              <a:p>
                <a:r>
                  <a:rPr lang="zh-CN" altLang="en-US" b="0" i="0" dirty="0">
                    <a:solidFill>
                      <a:srgbClr val="060607"/>
                    </a:solidFill>
                    <a:effectLst/>
                    <a:latin typeface="PingFang SC"/>
                  </a:rPr>
                  <a:t>自由度（</a:t>
                </a:r>
                <a:r>
                  <a:rPr lang="en-US" altLang="zh-CN" b="0" i="0" dirty="0" err="1">
                    <a:solidFill>
                      <a:srgbClr val="060607"/>
                    </a:solidFill>
                    <a:effectLst/>
                    <a:latin typeface="PingFang SC"/>
                  </a:rPr>
                  <a:t>df</a:t>
                </a:r>
                <a:r>
                  <a:rPr lang="zh-CN" altLang="en-US" b="0" i="0" dirty="0">
                    <a:solidFill>
                      <a:srgbClr val="060607"/>
                    </a:solidFill>
                    <a:effectLst/>
                    <a:latin typeface="PingFang SC"/>
                  </a:rPr>
                  <a:t>）通常为 </a:t>
                </a:r>
                <a:r>
                  <a:rPr lang="en-US" altLang="zh-CN" b="0" i="1" dirty="0">
                    <a:solidFill>
                      <a:srgbClr val="060607"/>
                    </a:solidFill>
                    <a:effectLst/>
                    <a:latin typeface="KaTeX_Math"/>
                  </a:rPr>
                  <a:t>n</a:t>
                </a:r>
                <a:r>
                  <a:rPr lang="zh-CN" altLang="en-US" b="0" i="0" dirty="0">
                    <a:solidFill>
                      <a:srgbClr val="060607"/>
                    </a:solidFill>
                    <a:effectLst/>
                    <a:latin typeface="KaTeX_Main"/>
                  </a:rPr>
                  <a:t>−</a:t>
                </a:r>
                <a:r>
                  <a:rPr lang="en-US" altLang="zh-CN" b="0" i="0" dirty="0">
                    <a:solidFill>
                      <a:srgbClr val="060607"/>
                    </a:solidFill>
                    <a:effectLst/>
                    <a:latin typeface="KaTeX_Main"/>
                  </a:rPr>
                  <a:t>3</a:t>
                </a:r>
                <a:r>
                  <a:rPr lang="zh-CN" altLang="en-US" b="0" i="0" dirty="0">
                    <a:solidFill>
                      <a:srgbClr val="060607"/>
                    </a:solidFill>
                    <a:effectLst/>
                    <a:latin typeface="PingFang SC"/>
                  </a:rPr>
                  <a:t>，其中 </a:t>
                </a:r>
                <a:r>
                  <a:rPr lang="en-US" altLang="zh-CN" b="0" i="1" dirty="0">
                    <a:solidFill>
                      <a:srgbClr val="060607"/>
                    </a:solidFill>
                    <a:effectLst/>
                    <a:latin typeface="KaTeX_Math"/>
                  </a:rPr>
                  <a:t>n</a:t>
                </a:r>
                <a:r>
                  <a:rPr lang="zh-CN" altLang="en-US" b="0" i="0" dirty="0">
                    <a:solidFill>
                      <a:srgbClr val="060607"/>
                    </a:solidFill>
                    <a:effectLst/>
                    <a:latin typeface="PingFang SC"/>
                  </a:rPr>
                  <a:t> 是样本大小。</a:t>
                </a:r>
                <a:endParaRPr lang="en-GB" altLang="zh-CN" b="0" i="0" dirty="0">
                  <a:solidFill>
                    <a:srgbClr val="060607"/>
                  </a:solidFill>
                  <a:effectLst/>
                  <a:latin typeface="PingFang SC"/>
                </a:endParaRPr>
              </a:p>
              <a:p>
                <a:r>
                  <a:rPr lang="zh-CN" altLang="en-US" b="0" i="0" dirty="0">
                    <a:solidFill>
                      <a:srgbClr val="060607"/>
                    </a:solidFill>
                    <a:effectLst/>
                    <a:latin typeface="PingFang SC"/>
                  </a:rPr>
                  <a:t>根据计算出的</a:t>
                </a:r>
                <a:r>
                  <a:rPr lang="en-GB" altLang="zh-CN" b="0" i="0" dirty="0">
                    <a:solidFill>
                      <a:srgbClr val="060607"/>
                    </a:solidFill>
                    <a:effectLst/>
                    <a:latin typeface="PingFang SC"/>
                  </a:rPr>
                  <a:t>Jarque-Bera</a:t>
                </a:r>
                <a:r>
                  <a:rPr lang="zh-CN" altLang="en-US" b="0" i="0" dirty="0">
                    <a:solidFill>
                      <a:srgbClr val="060607"/>
                    </a:solidFill>
                    <a:effectLst/>
                    <a:latin typeface="PingFang SC"/>
                  </a:rPr>
                  <a:t>统计量和自由度，查找卡方分布表得到相应的</a:t>
                </a:r>
                <a:r>
                  <a:rPr lang="en-GB" altLang="zh-CN" b="0" i="0" dirty="0">
                    <a:solidFill>
                      <a:srgbClr val="060607"/>
                    </a:solidFill>
                    <a:effectLst/>
                    <a:latin typeface="PingFang SC"/>
                  </a:rPr>
                  <a:t>p</a:t>
                </a:r>
                <a:r>
                  <a:rPr lang="zh-CN" altLang="en-US" b="0" i="0" dirty="0">
                    <a:solidFill>
                      <a:srgbClr val="060607"/>
                    </a:solidFill>
                    <a:effectLst/>
                    <a:latin typeface="PingFang SC"/>
                  </a:rPr>
                  <a:t>值。</a:t>
                </a:r>
                <a:endParaRPr lang="zh-CN" altLang="en-US" dirty="0"/>
              </a:p>
            </p:txBody>
          </p:sp>
        </mc:Choice>
        <mc:Fallback xmlns="">
          <p:sp>
            <p:nvSpPr>
              <p:cNvPr id="3" name="内容占位符 2">
                <a:extLst>
                  <a:ext uri="{FF2B5EF4-FFF2-40B4-BE49-F238E27FC236}">
                    <a16:creationId xmlns:a16="http://schemas.microsoft.com/office/drawing/2014/main" id="{B4A82A95-4755-D930-1CC4-180932FEDCFF}"/>
                  </a:ext>
                </a:extLst>
              </p:cNvPr>
              <p:cNvSpPr>
                <a:spLocks noGrp="1" noRot="1" noChangeAspect="1" noMove="1" noResize="1" noEditPoints="1" noAdjustHandles="1" noChangeArrowheads="1" noChangeShapeType="1" noTextEdit="1"/>
              </p:cNvSpPr>
              <p:nvPr>
                <p:ph idx="1"/>
              </p:nvPr>
            </p:nvSpPr>
            <p:spPr>
              <a:blipFill>
                <a:blip r:embed="rId2"/>
                <a:stretch>
                  <a:fillRect l="-928" t="-2801" b="-36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1858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7311FB-16EC-F759-FC29-69BCFE36B705}"/>
              </a:ext>
            </a:extLst>
          </p:cNvPr>
          <p:cNvSpPr>
            <a:spLocks noGrp="1"/>
          </p:cNvSpPr>
          <p:nvPr>
            <p:ph type="title"/>
          </p:nvPr>
        </p:nvSpPr>
        <p:spPr/>
        <p:txBody>
          <a:bodyPr/>
          <a:lstStyle/>
          <a:p>
            <a:r>
              <a:rPr lang="en-GB" altLang="zh-CN" b="1" i="0" dirty="0">
                <a:solidFill>
                  <a:srgbClr val="060607"/>
                </a:solidFill>
                <a:effectLst/>
                <a:latin typeface="PingFang SC"/>
              </a:rPr>
              <a:t>Jarque-Bera</a:t>
            </a:r>
            <a:r>
              <a:rPr lang="zh-CN" altLang="en-US" b="1"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560F3A85-2585-07A4-539D-63361A71186B}"/>
              </a:ext>
            </a:extLst>
          </p:cNvPr>
          <p:cNvSpPr>
            <a:spLocks noGrp="1"/>
          </p:cNvSpPr>
          <p:nvPr>
            <p:ph idx="1"/>
          </p:nvPr>
        </p:nvSpPr>
        <p:spPr/>
        <p:txBody>
          <a:bodyPr/>
          <a:lstStyle/>
          <a:p>
            <a:r>
              <a:rPr lang="zh-CN" altLang="en-US" b="1" dirty="0">
                <a:solidFill>
                  <a:srgbClr val="060607"/>
                </a:solidFill>
                <a:latin typeface="PingFang SC"/>
              </a:rPr>
              <a:t>作出决策：</a:t>
            </a:r>
          </a:p>
          <a:p>
            <a:pPr marL="742950" lvl="1" indent="-285750" algn="l">
              <a:buFont typeface="+mj-lt"/>
              <a:buAutoNum type="arabicPeriod"/>
            </a:pPr>
            <a:r>
              <a:rPr lang="zh-CN" altLang="en-US" b="0" i="0" dirty="0">
                <a:solidFill>
                  <a:srgbClr val="060607"/>
                </a:solidFill>
                <a:effectLst/>
                <a:latin typeface="PingFang SC"/>
              </a:rPr>
              <a:t>如果</a:t>
            </a:r>
            <a:r>
              <a:rPr lang="en-US" altLang="zh-CN" b="0" i="0" dirty="0">
                <a:solidFill>
                  <a:srgbClr val="060607"/>
                </a:solidFill>
                <a:effectLst/>
                <a:latin typeface="PingFang SC"/>
              </a:rPr>
              <a:t>p</a:t>
            </a:r>
            <a:r>
              <a:rPr lang="zh-CN" altLang="en-US" b="0" i="0" dirty="0">
                <a:solidFill>
                  <a:srgbClr val="060607"/>
                </a:solidFill>
                <a:effectLst/>
                <a:latin typeface="PingFang SC"/>
              </a:rPr>
              <a:t>值小于显著性水平（例如</a:t>
            </a:r>
            <a:r>
              <a:rPr lang="en-US" altLang="zh-CN" b="0" i="0" dirty="0">
                <a:solidFill>
                  <a:srgbClr val="060607"/>
                </a:solidFill>
                <a:effectLst/>
                <a:latin typeface="PingFang SC"/>
              </a:rPr>
              <a:t>0.05</a:t>
            </a:r>
            <a:r>
              <a:rPr lang="zh-CN" altLang="en-US" b="0" i="0" dirty="0">
                <a:solidFill>
                  <a:srgbClr val="060607"/>
                </a:solidFill>
                <a:effectLst/>
                <a:latin typeface="PingFang SC"/>
              </a:rPr>
              <a:t>），则拒绝原假设，认为数据不服从正态分布。</a:t>
            </a:r>
          </a:p>
          <a:p>
            <a:pPr marL="742950" lvl="1" indent="-285750" algn="l">
              <a:buFont typeface="+mj-lt"/>
              <a:buAutoNum type="arabicPeriod"/>
            </a:pPr>
            <a:r>
              <a:rPr lang="zh-CN" altLang="en-US" b="0" i="0" dirty="0">
                <a:solidFill>
                  <a:srgbClr val="060607"/>
                </a:solidFill>
                <a:effectLst/>
                <a:latin typeface="PingFang SC"/>
              </a:rPr>
              <a:t>如果</a:t>
            </a:r>
            <a:r>
              <a:rPr lang="en-US" altLang="zh-CN" b="0" i="0" dirty="0">
                <a:solidFill>
                  <a:srgbClr val="060607"/>
                </a:solidFill>
                <a:effectLst/>
                <a:latin typeface="PingFang SC"/>
              </a:rPr>
              <a:t>p</a:t>
            </a:r>
            <a:r>
              <a:rPr lang="zh-CN" altLang="en-US" b="0" i="0" dirty="0">
                <a:solidFill>
                  <a:srgbClr val="060607"/>
                </a:solidFill>
                <a:effectLst/>
                <a:latin typeface="PingFang SC"/>
              </a:rPr>
              <a:t>值大于显著性水平，则不能拒绝原假设，认为没有足够的证据表明数据不服从正态分布。</a:t>
            </a:r>
          </a:p>
          <a:p>
            <a:r>
              <a:rPr lang="en-US" altLang="zh-CN" b="0" i="0" dirty="0">
                <a:solidFill>
                  <a:srgbClr val="060607"/>
                </a:solidFill>
                <a:effectLst/>
                <a:latin typeface="PingFang SC"/>
              </a:rPr>
              <a:t>Jarque-Bera</a:t>
            </a:r>
            <a:r>
              <a:rPr lang="zh-CN" altLang="en-US" b="0" i="0" dirty="0">
                <a:solidFill>
                  <a:srgbClr val="060607"/>
                </a:solidFill>
                <a:effectLst/>
                <a:latin typeface="PingFang SC"/>
              </a:rPr>
              <a:t>检验对</a:t>
            </a:r>
            <a:r>
              <a:rPr lang="zh-CN" altLang="en-US" b="1" i="0" dirty="0">
                <a:solidFill>
                  <a:srgbClr val="060607"/>
                </a:solidFill>
                <a:effectLst/>
                <a:latin typeface="PingFang SC"/>
              </a:rPr>
              <a:t>样本大小非常敏感</a:t>
            </a:r>
            <a:r>
              <a:rPr lang="zh-CN" altLang="en-US" b="0" i="0" dirty="0">
                <a:solidFill>
                  <a:srgbClr val="060607"/>
                </a:solidFill>
                <a:effectLst/>
                <a:latin typeface="PingFang SC"/>
              </a:rPr>
              <a:t>。对于较大的样本，即使偏度和峰度的偏差很小，也可能导致统计量显著，从而拒绝正态分布的假设。</a:t>
            </a:r>
            <a:endParaRPr lang="en-GB" altLang="zh-CN" b="0" i="0">
              <a:solidFill>
                <a:srgbClr val="060607"/>
              </a:solidFill>
              <a:effectLst/>
              <a:latin typeface="PingFang SC"/>
            </a:endParaRPr>
          </a:p>
          <a:p>
            <a:endParaRPr lang="en-US" altLang="zh-CN" b="0" i="0" dirty="0">
              <a:solidFill>
                <a:srgbClr val="060607"/>
              </a:solidFill>
              <a:effectLst/>
              <a:latin typeface="PingFang SC"/>
            </a:endParaRPr>
          </a:p>
          <a:p>
            <a:r>
              <a:rPr lang="fr-FR" altLang="zh-CN" b="0" i="0" dirty="0">
                <a:solidFill>
                  <a:srgbClr val="212121"/>
                </a:solidFill>
                <a:effectLst/>
                <a:latin typeface="Menlo"/>
              </a:rPr>
              <a:t>[h,p,jbstat,critval] = jbtest(score)</a:t>
            </a:r>
          </a:p>
          <a:p>
            <a:endParaRPr lang="en-US" altLang="zh-CN" dirty="0">
              <a:solidFill>
                <a:srgbClr val="060607"/>
              </a:solidFill>
              <a:latin typeface="PingFang SC"/>
            </a:endParaRPr>
          </a:p>
          <a:p>
            <a:endParaRPr lang="zh-CN" altLang="en-US" dirty="0"/>
          </a:p>
        </p:txBody>
      </p:sp>
    </p:spTree>
    <p:extLst>
      <p:ext uri="{BB962C8B-B14F-4D97-AF65-F5344CB8AC3E}">
        <p14:creationId xmlns:p14="http://schemas.microsoft.com/office/powerpoint/2010/main" val="37473119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C1588D-AEFE-D409-594D-5E06DD722F7B}"/>
              </a:ext>
            </a:extLst>
          </p:cNvPr>
          <p:cNvSpPr>
            <a:spLocks noGrp="1"/>
          </p:cNvSpPr>
          <p:nvPr>
            <p:ph type="title"/>
          </p:nvPr>
        </p:nvSpPr>
        <p:spPr/>
        <p:txBody>
          <a:bodyPr/>
          <a:lstStyle/>
          <a:p>
            <a:r>
              <a:rPr lang="en-GB" altLang="zh-CN" b="0" i="0" dirty="0">
                <a:solidFill>
                  <a:srgbClr val="060607"/>
                </a:solidFill>
                <a:effectLst/>
                <a:latin typeface="PingFang SC"/>
              </a:rPr>
              <a:t>Kolmogorov-Smirnov</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AD0D67A1-3892-5449-1032-84201AE2E418}"/>
              </a:ext>
            </a:extLst>
          </p:cNvPr>
          <p:cNvSpPr>
            <a:spLocks noGrp="1"/>
          </p:cNvSpPr>
          <p:nvPr>
            <p:ph idx="1"/>
          </p:nvPr>
        </p:nvSpPr>
        <p:spPr/>
        <p:txBody>
          <a:bodyPr/>
          <a:lstStyle/>
          <a:p>
            <a:r>
              <a:rPr lang="zh-CN" altLang="en-US" b="0" i="0" dirty="0">
                <a:solidFill>
                  <a:srgbClr val="060607"/>
                </a:solidFill>
                <a:effectLst/>
                <a:latin typeface="PingFang SC"/>
              </a:rPr>
              <a:t>用于比较一个样本的累积分布函数（</a:t>
            </a:r>
            <a:r>
              <a:rPr lang="en-US" altLang="zh-CN" b="0" i="0" dirty="0">
                <a:solidFill>
                  <a:srgbClr val="060607"/>
                </a:solidFill>
                <a:effectLst/>
                <a:latin typeface="PingFang SC"/>
              </a:rPr>
              <a:t>CDF</a:t>
            </a:r>
            <a:r>
              <a:rPr lang="zh-CN" altLang="en-US" b="0" i="0" dirty="0">
                <a:solidFill>
                  <a:srgbClr val="060607"/>
                </a:solidFill>
                <a:effectLst/>
                <a:latin typeface="PingFang SC"/>
              </a:rPr>
              <a:t>）与一个参考概率分布（如正态分布、均匀分布等），以判断样本数据是否来自该参考分布。</a:t>
            </a:r>
            <a:endParaRPr lang="en-GB" altLang="zh-CN" b="0" i="0" dirty="0">
              <a:solidFill>
                <a:srgbClr val="060607"/>
              </a:solidFill>
              <a:effectLst/>
              <a:latin typeface="PingFang SC"/>
            </a:endParaRPr>
          </a:p>
          <a:p>
            <a:r>
              <a:rPr lang="en-US" altLang="zh-CN" b="0" i="0" dirty="0">
                <a:solidFill>
                  <a:srgbClr val="060607"/>
                </a:solidFill>
                <a:effectLst/>
                <a:latin typeface="PingFang SC"/>
              </a:rPr>
              <a:t>K-S</a:t>
            </a:r>
            <a:r>
              <a:rPr lang="zh-CN" altLang="en-US" b="0" i="0" dirty="0">
                <a:solidFill>
                  <a:srgbClr val="060607"/>
                </a:solidFill>
                <a:effectLst/>
                <a:latin typeface="PingFang SC"/>
              </a:rPr>
              <a:t>检验有两种形式：单样本</a:t>
            </a:r>
            <a:r>
              <a:rPr lang="en-US" altLang="zh-CN" b="0" i="0" dirty="0">
                <a:solidFill>
                  <a:srgbClr val="060607"/>
                </a:solidFill>
                <a:effectLst/>
                <a:latin typeface="PingFang SC"/>
              </a:rPr>
              <a:t>K-S</a:t>
            </a:r>
            <a:r>
              <a:rPr lang="zh-CN" altLang="en-US" b="0" i="0" dirty="0">
                <a:solidFill>
                  <a:srgbClr val="060607"/>
                </a:solidFill>
                <a:effectLst/>
                <a:latin typeface="PingFang SC"/>
              </a:rPr>
              <a:t>检验和双样本</a:t>
            </a:r>
            <a:r>
              <a:rPr lang="en-US" altLang="zh-CN" b="0" i="0" dirty="0">
                <a:solidFill>
                  <a:srgbClr val="060607"/>
                </a:solidFill>
                <a:effectLst/>
                <a:latin typeface="PingFang SC"/>
              </a:rPr>
              <a:t>K-S</a:t>
            </a:r>
            <a:r>
              <a:rPr lang="zh-CN" altLang="en-US" b="0" i="0" dirty="0">
                <a:solidFill>
                  <a:srgbClr val="060607"/>
                </a:solidFill>
                <a:effectLst/>
                <a:latin typeface="PingFang SC"/>
              </a:rPr>
              <a:t>检验。</a:t>
            </a:r>
            <a:endParaRPr lang="en-GB" altLang="zh-CN" b="0" i="0" dirty="0">
              <a:solidFill>
                <a:srgbClr val="060607"/>
              </a:solidFill>
              <a:effectLst/>
              <a:latin typeface="PingFang SC"/>
            </a:endParaRPr>
          </a:p>
          <a:p>
            <a:r>
              <a:rPr lang="zh-CN" altLang="en-US" b="1" dirty="0"/>
              <a:t>单样本</a:t>
            </a:r>
            <a:r>
              <a:rPr lang="en-US" altLang="zh-CN" b="1" dirty="0"/>
              <a:t>K-S</a:t>
            </a:r>
            <a:r>
              <a:rPr lang="zh-CN" altLang="en-US" b="1" dirty="0"/>
              <a:t>检验：</a:t>
            </a:r>
            <a:r>
              <a:rPr lang="zh-CN" altLang="en-US" dirty="0"/>
              <a:t>用于检验单个样本的分布是否与某个特定的理论分布相匹配。</a:t>
            </a:r>
            <a:endParaRPr lang="en-GB" altLang="zh-CN" dirty="0"/>
          </a:p>
          <a:p>
            <a:r>
              <a:rPr lang="zh-CN" altLang="en-US" b="1" dirty="0"/>
              <a:t>双样本</a:t>
            </a:r>
            <a:r>
              <a:rPr lang="en-US" altLang="zh-CN" b="1" dirty="0"/>
              <a:t>K-S</a:t>
            </a:r>
            <a:r>
              <a:rPr lang="zh-CN" altLang="en-US" b="1" dirty="0"/>
              <a:t>检验：</a:t>
            </a:r>
            <a:r>
              <a:rPr lang="zh-CN" altLang="en-US" dirty="0"/>
              <a:t>用于检验两个样本的分布是否存在显著差异。</a:t>
            </a:r>
          </a:p>
        </p:txBody>
      </p:sp>
    </p:spTree>
    <p:extLst>
      <p:ext uri="{BB962C8B-B14F-4D97-AF65-F5344CB8AC3E}">
        <p14:creationId xmlns:p14="http://schemas.microsoft.com/office/powerpoint/2010/main" val="4089283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BA00D-FBA2-4C4C-F8EE-CAC4E52716CA}"/>
              </a:ext>
            </a:extLst>
          </p:cNvPr>
          <p:cNvSpPr>
            <a:spLocks noGrp="1"/>
          </p:cNvSpPr>
          <p:nvPr>
            <p:ph type="title"/>
          </p:nvPr>
        </p:nvSpPr>
        <p:spPr/>
        <p:txBody>
          <a:bodyPr/>
          <a:lstStyle/>
          <a:p>
            <a:r>
              <a:rPr lang="en-GB" altLang="zh-CN" b="0" i="0" dirty="0">
                <a:solidFill>
                  <a:srgbClr val="060607"/>
                </a:solidFill>
                <a:effectLst/>
                <a:latin typeface="PingFang SC"/>
              </a:rPr>
              <a:t>Kolmogorov-Smirnov</a:t>
            </a:r>
            <a:r>
              <a:rPr lang="zh-CN" altLang="en-US" b="0" i="0" dirty="0">
                <a:solidFill>
                  <a:srgbClr val="060607"/>
                </a:solidFill>
                <a:effectLst/>
                <a:latin typeface="PingFang SC"/>
              </a:rPr>
              <a:t>检验</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DC7133D-793C-6BD7-67D1-9C6CD69308E1}"/>
                  </a:ext>
                </a:extLst>
              </p:cNvPr>
              <p:cNvSpPr>
                <a:spLocks noGrp="1"/>
              </p:cNvSpPr>
              <p:nvPr>
                <p:ph idx="1"/>
              </p:nvPr>
            </p:nvSpPr>
            <p:spPr/>
            <p:txBody>
              <a:bodyPr>
                <a:normAutofit/>
              </a:bodyPr>
              <a:lstStyle/>
              <a:p>
                <a:r>
                  <a:rPr lang="zh-CN" altLang="en-US" b="1" dirty="0"/>
                  <a:t>计算方法：</a:t>
                </a:r>
                <a:endParaRPr lang="en-US" altLang="zh-CN" b="1" dirty="0"/>
              </a:p>
              <a:p>
                <a:r>
                  <a:rPr lang="zh-CN" altLang="en-US" b="0" i="0" dirty="0">
                    <a:solidFill>
                      <a:srgbClr val="060607"/>
                    </a:solidFill>
                    <a:effectLst/>
                    <a:latin typeface="PingFang SC"/>
                  </a:rPr>
                  <a:t>计算样本的经验分布函数（</a:t>
                </a:r>
                <a:r>
                  <a:rPr lang="en-US" altLang="zh-CN" b="0" i="0" dirty="0">
                    <a:solidFill>
                      <a:srgbClr val="060607"/>
                    </a:solidFill>
                    <a:effectLst/>
                    <a:latin typeface="PingFang SC"/>
                  </a:rPr>
                  <a:t>ECDF</a:t>
                </a:r>
                <a:r>
                  <a:rPr lang="zh-CN" altLang="en-US" b="0" i="0" dirty="0">
                    <a:solidFill>
                      <a:srgbClr val="060607"/>
                    </a:solidFill>
                    <a:effectLst/>
                    <a:latin typeface="PingFang SC"/>
                  </a:rPr>
                  <a:t>）与理论分布</a:t>
                </a:r>
                <a:r>
                  <a:rPr lang="en-US" altLang="zh-CN" b="0" i="0" dirty="0">
                    <a:solidFill>
                      <a:srgbClr val="060607"/>
                    </a:solidFill>
                    <a:effectLst/>
                    <a:latin typeface="PingFang SC"/>
                  </a:rPr>
                  <a:t>CDF</a:t>
                </a:r>
                <a:r>
                  <a:rPr lang="zh-CN" altLang="en-US" b="0" i="0" dirty="0">
                    <a:solidFill>
                      <a:srgbClr val="060607"/>
                    </a:solidFill>
                    <a:effectLst/>
                    <a:latin typeface="PingFang SC"/>
                  </a:rPr>
                  <a:t>之间的最大绝对差异，即</a:t>
                </a:r>
                <a:r>
                  <a:rPr lang="en-US" altLang="zh-CN" b="0" i="0" dirty="0">
                    <a:solidFill>
                      <a:srgbClr val="060607"/>
                    </a:solidFill>
                    <a:effectLst/>
                    <a:latin typeface="PingFang SC"/>
                  </a:rPr>
                  <a:t>K-S</a:t>
                </a:r>
                <a:r>
                  <a:rPr lang="zh-CN" altLang="en-US" b="0" i="0" dirty="0">
                    <a:solidFill>
                      <a:srgbClr val="060607"/>
                    </a:solidFill>
                    <a:effectLst/>
                    <a:latin typeface="PingFang SC"/>
                  </a:rPr>
                  <a:t>统计量</a:t>
                </a:r>
                <a:r>
                  <a:rPr lang="en-US" altLang="zh-CN" b="0" i="0" dirty="0">
                    <a:solidFill>
                      <a:srgbClr val="060607"/>
                    </a:solidFill>
                    <a:effectLst/>
                    <a:latin typeface="PingFang SC"/>
                  </a:rPr>
                  <a:t>D</a:t>
                </a:r>
                <a:r>
                  <a:rPr lang="zh-CN" altLang="en-US" b="0" i="0" dirty="0">
                    <a:solidFill>
                      <a:srgbClr val="060607"/>
                    </a:solidFill>
                    <a:effectLst/>
                    <a:latin typeface="PingFang SC"/>
                  </a:rPr>
                  <a:t>：</a:t>
                </a:r>
                <a:endParaRPr lang="en-US" altLang="zh-CN" b="1" i="0" dirty="0">
                  <a:solidFill>
                    <a:srgbClr val="060607"/>
                  </a:solidFill>
                  <a:effectLst/>
                  <a:latin typeface="PingFang SC"/>
                </a:endParaRPr>
              </a:p>
              <a:p>
                <a:pPr algn="ctr"/>
                <a14:m>
                  <m:oMath xmlns:m="http://schemas.openxmlformats.org/officeDocument/2006/math">
                    <m:r>
                      <m:rPr>
                        <m:sty m:val="p"/>
                      </m:rPr>
                      <a:rPr lang="en-US" altLang="zh-CN" sz="1800" spc="40" smtClean="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D</m:t>
                    </m:r>
                    <m:r>
                      <a:rPr lang="en-US" altLang="zh-CN" sz="1800" spc="40" smtClean="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800" spc="40" smtClean="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sup</m:t>
                    </m:r>
                    <m:d>
                      <m:dPr>
                        <m:begChr m:val="|"/>
                        <m:endChr m:val="|"/>
                        <m:ctrlPr>
                          <a:rPr lang="zh-CN" altLang="zh-CN" i="1" spc="40">
                            <a:solidFill>
                              <a:srgbClr val="383A42"/>
                            </a:solidFill>
                            <a:effectLst/>
                            <a:latin typeface="Cambria Math" panose="02040503050406030204" pitchFamily="18" charset="0"/>
                            <a:ea typeface="Cambria Math" panose="02040503050406030204" pitchFamily="18" charset="0"/>
                          </a:rPr>
                        </m:ctrlPr>
                      </m:dPr>
                      <m:e>
                        <m:sSub>
                          <m:sSubPr>
                            <m:ctrlPr>
                              <a:rPr lang="zh-CN" altLang="zh-CN" i="1" spc="40">
                                <a:solidFill>
                                  <a:srgbClr val="383A42"/>
                                </a:solidFill>
                                <a:effectLst/>
                                <a:latin typeface="Cambria Math" panose="02040503050406030204" pitchFamily="18" charset="0"/>
                                <a:ea typeface="Cambria Math" panose="02040503050406030204" pitchFamily="18" charset="0"/>
                              </a:rPr>
                            </m:ctrlPr>
                          </m:sSubPr>
                          <m:e>
                            <m:r>
                              <m:rPr>
                                <m:sty m:val="p"/>
                              </m:rPr>
                              <a:rPr lang="en-US" altLang="zh-CN" sz="1800"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x</m:t>
                            </m:r>
                          </m:e>
                          <m:sub>
                            <m:r>
                              <m:rPr>
                                <m:sty m:val="p"/>
                              </m:rPr>
                              <a:rPr lang="en-US" altLang="zh-CN" sz="1800"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n</m:t>
                            </m:r>
                          </m:sub>
                        </m:sSub>
                        <m:d>
                          <m:dPr>
                            <m:ctrlPr>
                              <a:rPr lang="zh-CN" altLang="zh-CN" i="1" spc="40">
                                <a:solidFill>
                                  <a:srgbClr val="383A42"/>
                                </a:solidFill>
                                <a:effectLst/>
                                <a:latin typeface="Cambria Math" panose="02040503050406030204" pitchFamily="18" charset="0"/>
                                <a:ea typeface="Cambria Math" panose="02040503050406030204" pitchFamily="18" charset="0"/>
                              </a:rPr>
                            </m:ctrlPr>
                          </m:dPr>
                          <m:e>
                            <m:r>
                              <m:rPr>
                                <m:sty m:val="p"/>
                              </m:rPr>
                              <a:rPr lang="en-US" altLang="zh-CN" sz="1800"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t</m:t>
                            </m:r>
                          </m:e>
                        </m:d>
                        <m:r>
                          <a:rPr lang="en-US" altLang="zh-CN" sz="1800" i="1"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800"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F</m:t>
                        </m:r>
                        <m:d>
                          <m:dPr>
                            <m:ctrlPr>
                              <a:rPr lang="zh-CN" altLang="zh-CN" i="1" spc="40">
                                <a:solidFill>
                                  <a:srgbClr val="383A42"/>
                                </a:solidFill>
                                <a:effectLst/>
                                <a:latin typeface="Cambria Math" panose="02040503050406030204" pitchFamily="18" charset="0"/>
                                <a:ea typeface="Cambria Math" panose="02040503050406030204" pitchFamily="18" charset="0"/>
                              </a:rPr>
                            </m:ctrlPr>
                          </m:dPr>
                          <m:e>
                            <m:r>
                              <m:rPr>
                                <m:sty m:val="p"/>
                              </m:rPr>
                              <a:rPr lang="en-US" altLang="zh-CN" sz="1800" spc="40">
                                <a:solidFill>
                                  <a:srgbClr val="383A42"/>
                                </a:solidFill>
                                <a:effectLst/>
                                <a:latin typeface="Cambria Math" panose="02040503050406030204" pitchFamily="18" charset="0"/>
                                <a:ea typeface="等线" panose="02010600030101010101" pitchFamily="2" charset="-122"/>
                                <a:cs typeface="Times New Roman" panose="02020603050405020304" pitchFamily="18" charset="0"/>
                              </a:rPr>
                              <m:t>t</m:t>
                            </m:r>
                          </m:e>
                        </m:d>
                      </m:e>
                    </m:d>
                  </m:oMath>
                </a14:m>
                <a:endParaRPr lang="en-US" altLang="zh-CN" b="1" dirty="0"/>
              </a:p>
              <a:p>
                <a:r>
                  <a:rPr lang="zh-CN" altLang="en-US" dirty="0"/>
                  <a:t>其中，</a:t>
                </a:r>
                <a:r>
                  <a:rPr lang="en-US" altLang="zh-CN" dirty="0"/>
                  <a:t>​</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𝑥</m:t>
                        </m:r>
                      </m:e>
                      <m:sub>
                        <m:r>
                          <a:rPr lang="en-GB" altLang="zh-CN" b="0" i="1" smtClean="0">
                            <a:latin typeface="Cambria Math" panose="02040503050406030204" pitchFamily="18" charset="0"/>
                          </a:rPr>
                          <m:t>𝑛</m:t>
                        </m:r>
                      </m:sub>
                    </m:sSub>
                    <m:d>
                      <m:dPr>
                        <m:ctrlPr>
                          <a:rPr lang="en-GB" altLang="zh-CN" b="0" i="1" smtClean="0">
                            <a:latin typeface="Cambria Math" panose="02040503050406030204" pitchFamily="18" charset="0"/>
                          </a:rPr>
                        </m:ctrlPr>
                      </m:dPr>
                      <m:e>
                        <m:r>
                          <a:rPr lang="en-GB" altLang="zh-CN" b="0" i="1" smtClean="0">
                            <a:latin typeface="Cambria Math" panose="02040503050406030204" pitchFamily="18" charset="0"/>
                          </a:rPr>
                          <m:t>𝑡</m:t>
                        </m:r>
                      </m:e>
                    </m:d>
                  </m:oMath>
                </a14:m>
                <a:r>
                  <a:rPr lang="en-US" altLang="zh-CN" dirty="0"/>
                  <a:t> </a:t>
                </a:r>
                <a:r>
                  <a:rPr lang="zh-CN" altLang="en-US" dirty="0"/>
                  <a:t>是样本的经验分布函数，</a:t>
                </a:r>
                <a14:m>
                  <m:oMath xmlns:m="http://schemas.openxmlformats.org/officeDocument/2006/math">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en-US" altLang="zh-CN" dirty="0"/>
                  <a:t> </a:t>
                </a:r>
                <a:r>
                  <a:rPr lang="zh-CN" altLang="en-US" dirty="0"/>
                  <a:t>是理论分布的累积分布函数，</a:t>
                </a:r>
                <a14:m>
                  <m:oMath xmlns:m="http://schemas.openxmlformats.org/officeDocument/2006/math">
                    <m:r>
                      <m:rPr>
                        <m:sty m:val="p"/>
                      </m:rPr>
                      <a:rPr lang="en-US" altLang="zh-CN" i="1" dirty="0" smtClean="0">
                        <a:latin typeface="Cambria Math" panose="02040503050406030204" pitchFamily="18" charset="0"/>
                      </a:rPr>
                      <m:t>sup</m:t>
                    </m:r>
                    <m:r>
                      <a:rPr lang="zh-CN" altLang="en-US" i="1" dirty="0" smtClean="0">
                        <a:latin typeface="Cambria Math" panose="02040503050406030204" pitchFamily="18" charset="0"/>
                      </a:rPr>
                      <m:t>⁡</m:t>
                    </m:r>
                  </m:oMath>
                </a14:m>
                <a:r>
                  <a:rPr lang="zh-CN" altLang="en-US" dirty="0"/>
                  <a:t>表示最大值</a:t>
                </a:r>
                <a:r>
                  <a:rPr lang="zh-CN" altLang="en-US" b="1" dirty="0"/>
                  <a:t>。</a:t>
                </a:r>
                <a:endParaRPr lang="en-GB" altLang="zh-CN" b="1" dirty="0"/>
              </a:p>
              <a:p>
                <a:r>
                  <a:rPr lang="zh-CN" altLang="en-US" b="0" i="0" dirty="0">
                    <a:solidFill>
                      <a:srgbClr val="060607"/>
                    </a:solidFill>
                    <a:effectLst/>
                    <a:latin typeface="PingFang SC"/>
                  </a:rPr>
                  <a:t>根据样本大小和理论分布，查找</a:t>
                </a:r>
                <a:r>
                  <a:rPr lang="en-US" altLang="zh-CN" b="0" i="0" dirty="0">
                    <a:solidFill>
                      <a:srgbClr val="060607"/>
                    </a:solidFill>
                    <a:effectLst/>
                    <a:latin typeface="PingFang SC"/>
                  </a:rPr>
                  <a:t>K-S</a:t>
                </a:r>
                <a:r>
                  <a:rPr lang="zh-CN" altLang="en-US" b="0" i="0" dirty="0">
                    <a:solidFill>
                      <a:srgbClr val="060607"/>
                    </a:solidFill>
                    <a:effectLst/>
                    <a:latin typeface="PingFang SC"/>
                  </a:rPr>
                  <a:t>分布表来确定统计量的显著性水平</a:t>
                </a:r>
                <a:endParaRPr lang="zh-CN" altLang="en-US" b="1" dirty="0"/>
              </a:p>
            </p:txBody>
          </p:sp>
        </mc:Choice>
        <mc:Fallback xmlns="">
          <p:sp>
            <p:nvSpPr>
              <p:cNvPr id="3" name="内容占位符 2">
                <a:extLst>
                  <a:ext uri="{FF2B5EF4-FFF2-40B4-BE49-F238E27FC236}">
                    <a16:creationId xmlns:a16="http://schemas.microsoft.com/office/drawing/2014/main" id="{4DC7133D-793C-6BD7-67D1-9C6CD69308E1}"/>
                  </a:ext>
                </a:extLst>
              </p:cNvPr>
              <p:cNvSpPr>
                <a:spLocks noGrp="1" noRot="1" noChangeAspect="1" noMove="1" noResize="1" noEditPoints="1" noAdjustHandles="1" noChangeArrowheads="1" noChangeShapeType="1" noTextEdit="1"/>
              </p:cNvSpPr>
              <p:nvPr>
                <p:ph idx="1"/>
              </p:nvPr>
            </p:nvSpPr>
            <p:spPr>
              <a:blipFill>
                <a:blip r:embed="rId2"/>
                <a:stretch>
                  <a:fillRect l="-1043" t="-2521" r="-4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9739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7B3EFD-52FC-2CC3-C043-4C198CA0DEFF}"/>
              </a:ext>
            </a:extLst>
          </p:cNvPr>
          <p:cNvSpPr>
            <a:spLocks noGrp="1"/>
          </p:cNvSpPr>
          <p:nvPr>
            <p:ph type="title"/>
          </p:nvPr>
        </p:nvSpPr>
        <p:spPr/>
        <p:txBody>
          <a:bodyPr/>
          <a:lstStyle/>
          <a:p>
            <a:r>
              <a:rPr lang="en-GB" altLang="zh-CN" b="0" i="0" dirty="0">
                <a:solidFill>
                  <a:srgbClr val="060607"/>
                </a:solidFill>
                <a:effectLst/>
                <a:latin typeface="PingFang SC"/>
              </a:rPr>
              <a:t>Kolmogorov-Smirnov</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60C13B91-55EA-1EDA-8FC0-7D7696559046}"/>
              </a:ext>
            </a:extLst>
          </p:cNvPr>
          <p:cNvSpPr>
            <a:spLocks noGrp="1"/>
          </p:cNvSpPr>
          <p:nvPr>
            <p:ph idx="1"/>
          </p:nvPr>
        </p:nvSpPr>
        <p:spPr/>
        <p:txBody>
          <a:bodyPr>
            <a:normAutofit lnSpcReduction="10000"/>
          </a:bodyPr>
          <a:lstStyle/>
          <a:p>
            <a:pPr algn="l">
              <a:buFont typeface="Arial" panose="020B0604020202020204" pitchFamily="34" charset="0"/>
              <a:buChar char="•"/>
            </a:pPr>
            <a:r>
              <a:rPr lang="zh-CN" altLang="en-US" b="1" i="0" dirty="0">
                <a:solidFill>
                  <a:srgbClr val="060607"/>
                </a:solidFill>
                <a:effectLst/>
                <a:latin typeface="PingFang SC"/>
              </a:rPr>
              <a:t>作出决策：</a:t>
            </a:r>
          </a:p>
          <a:p>
            <a:pPr lvl="1"/>
            <a:r>
              <a:rPr lang="zh-CN" altLang="en-US" b="0" i="0" dirty="0">
                <a:solidFill>
                  <a:srgbClr val="060607"/>
                </a:solidFill>
                <a:effectLst/>
                <a:latin typeface="PingFang SC"/>
              </a:rPr>
              <a:t>如果</a:t>
            </a:r>
            <a:r>
              <a:rPr lang="en-US" altLang="zh-CN" b="0" i="0" dirty="0">
                <a:solidFill>
                  <a:srgbClr val="060607"/>
                </a:solidFill>
                <a:effectLst/>
                <a:latin typeface="PingFang SC"/>
              </a:rPr>
              <a:t>D</a:t>
            </a:r>
            <a:r>
              <a:rPr lang="zh-CN" altLang="en-US" b="0" i="0" dirty="0">
                <a:solidFill>
                  <a:srgbClr val="060607"/>
                </a:solidFill>
                <a:effectLst/>
                <a:latin typeface="PingFang SC"/>
              </a:rPr>
              <a:t>值大于临界值，或者</a:t>
            </a:r>
            <a:r>
              <a:rPr lang="en-US" altLang="zh-CN" b="0" i="0" dirty="0">
                <a:solidFill>
                  <a:srgbClr val="060607"/>
                </a:solidFill>
                <a:effectLst/>
                <a:latin typeface="PingFang SC"/>
              </a:rPr>
              <a:t>p</a:t>
            </a:r>
            <a:r>
              <a:rPr lang="zh-CN" altLang="en-US" b="0" i="0" dirty="0">
                <a:solidFill>
                  <a:srgbClr val="060607"/>
                </a:solidFill>
                <a:effectLst/>
                <a:latin typeface="PingFang SC"/>
              </a:rPr>
              <a:t>值小于显著性水平，则拒绝原假设，认为两个样本的分布存在显著差异。</a:t>
            </a:r>
          </a:p>
          <a:p>
            <a:pPr lvl="1"/>
            <a:r>
              <a:rPr lang="zh-CN" altLang="en-US" b="0" i="0" dirty="0">
                <a:solidFill>
                  <a:srgbClr val="060607"/>
                </a:solidFill>
                <a:effectLst/>
                <a:latin typeface="PingFang SC"/>
              </a:rPr>
              <a:t>如果</a:t>
            </a:r>
            <a:r>
              <a:rPr lang="en-US" altLang="zh-CN" b="0" i="0" dirty="0">
                <a:solidFill>
                  <a:srgbClr val="060607"/>
                </a:solidFill>
                <a:effectLst/>
                <a:latin typeface="PingFang SC"/>
              </a:rPr>
              <a:t>D</a:t>
            </a:r>
            <a:r>
              <a:rPr lang="zh-CN" altLang="en-US" b="0" i="0" dirty="0">
                <a:solidFill>
                  <a:srgbClr val="060607"/>
                </a:solidFill>
                <a:effectLst/>
                <a:latin typeface="PingFang SC"/>
              </a:rPr>
              <a:t>值小于临界值，或者</a:t>
            </a:r>
            <a:r>
              <a:rPr lang="en-US" altLang="zh-CN" b="0" i="0" dirty="0">
                <a:solidFill>
                  <a:srgbClr val="060607"/>
                </a:solidFill>
                <a:effectLst/>
                <a:latin typeface="PingFang SC"/>
              </a:rPr>
              <a:t>p</a:t>
            </a:r>
            <a:r>
              <a:rPr lang="zh-CN" altLang="en-US" b="0" i="0" dirty="0">
                <a:solidFill>
                  <a:srgbClr val="060607"/>
                </a:solidFill>
                <a:effectLst/>
                <a:latin typeface="PingFang SC"/>
              </a:rPr>
              <a:t>值大于显著性水平，则不能拒绝原假设，认为没有足够的证据表明两个样本的分布存在显著差异。</a:t>
            </a:r>
            <a:endParaRPr lang="en-US" altLang="zh-CN" dirty="0">
              <a:solidFill>
                <a:srgbClr val="060607"/>
              </a:solidFill>
              <a:latin typeface="PingFang SC"/>
            </a:endParaRPr>
          </a:p>
          <a:p>
            <a:pPr algn="l">
              <a:buFont typeface="Arial" panose="020B0604020202020204" pitchFamily="34" charset="0"/>
              <a:buChar char="•"/>
            </a:pPr>
            <a:r>
              <a:rPr lang="en-US" altLang="zh-CN" b="0" i="0" dirty="0">
                <a:solidFill>
                  <a:srgbClr val="060607"/>
                </a:solidFill>
                <a:effectLst/>
                <a:latin typeface="PingFang SC"/>
              </a:rPr>
              <a:t>K-S</a:t>
            </a:r>
            <a:r>
              <a:rPr lang="zh-CN" altLang="en-US" b="0" i="0" dirty="0">
                <a:solidFill>
                  <a:srgbClr val="060607"/>
                </a:solidFill>
                <a:effectLst/>
                <a:latin typeface="PingFang SC"/>
              </a:rPr>
              <a:t>检验对样本大小非常敏感，较大的样本可能会检测到微小的差异。</a:t>
            </a:r>
          </a:p>
          <a:p>
            <a:pPr algn="l">
              <a:buFont typeface="Arial" panose="020B0604020202020204" pitchFamily="34" charset="0"/>
              <a:buChar char="•"/>
            </a:pPr>
            <a:r>
              <a:rPr lang="en-US" altLang="zh-CN" b="0" i="0" dirty="0">
                <a:solidFill>
                  <a:srgbClr val="060607"/>
                </a:solidFill>
                <a:effectLst/>
                <a:latin typeface="PingFang SC"/>
              </a:rPr>
              <a:t>K-S</a:t>
            </a:r>
            <a:r>
              <a:rPr lang="zh-CN" altLang="en-US" b="0" i="0" dirty="0">
                <a:solidFill>
                  <a:srgbClr val="060607"/>
                </a:solidFill>
                <a:effectLst/>
                <a:latin typeface="PingFang SC"/>
              </a:rPr>
              <a:t>检验只能告诉我们两个分布是否存在差异，但不能告诉我们差异的性质。</a:t>
            </a:r>
          </a:p>
          <a:p>
            <a:pPr algn="l">
              <a:buFont typeface="Arial" panose="020B0604020202020204" pitchFamily="34" charset="0"/>
              <a:buChar char="•"/>
            </a:pPr>
            <a:r>
              <a:rPr lang="zh-CN" altLang="en-US" b="0" i="0" dirty="0">
                <a:solidFill>
                  <a:srgbClr val="060607"/>
                </a:solidFill>
                <a:effectLst/>
                <a:latin typeface="PingFang SC"/>
              </a:rPr>
              <a:t>在进行双样本</a:t>
            </a:r>
            <a:r>
              <a:rPr lang="en-US" altLang="zh-CN" b="0" i="0" dirty="0">
                <a:solidFill>
                  <a:srgbClr val="060607"/>
                </a:solidFill>
                <a:effectLst/>
                <a:latin typeface="PingFang SC"/>
              </a:rPr>
              <a:t>K-S</a:t>
            </a:r>
            <a:r>
              <a:rPr lang="zh-CN" altLang="en-US" b="0" i="0" dirty="0">
                <a:solidFill>
                  <a:srgbClr val="060607"/>
                </a:solidFill>
                <a:effectLst/>
                <a:latin typeface="PingFang SC"/>
              </a:rPr>
              <a:t>检验时，合并样本需要先进行排序。</a:t>
            </a:r>
            <a:endParaRPr lang="en-US" altLang="zh-CN" b="0" i="0" dirty="0">
              <a:solidFill>
                <a:srgbClr val="060607"/>
              </a:solidFill>
              <a:effectLst/>
              <a:latin typeface="PingFang SC"/>
            </a:endParaRPr>
          </a:p>
          <a:p>
            <a:r>
              <a:rPr lang="en-GB" altLang="zh-CN" b="0" i="0" dirty="0">
                <a:solidFill>
                  <a:srgbClr val="212121"/>
                </a:solidFill>
                <a:effectLst/>
                <a:latin typeface="Menlo"/>
              </a:rPr>
              <a:t>[</a:t>
            </a:r>
            <a:r>
              <a:rPr lang="en-GB" altLang="zh-CN" b="0" i="0" dirty="0" err="1">
                <a:solidFill>
                  <a:srgbClr val="212121"/>
                </a:solidFill>
                <a:effectLst/>
                <a:latin typeface="Menlo"/>
              </a:rPr>
              <a:t>h,p,ksstat,cv</a:t>
            </a:r>
            <a:r>
              <a:rPr lang="en-GB" altLang="zh-CN" b="0" i="0" dirty="0">
                <a:solidFill>
                  <a:srgbClr val="212121"/>
                </a:solidFill>
                <a:effectLst/>
                <a:latin typeface="Menlo"/>
              </a:rPr>
              <a:t>] = </a:t>
            </a:r>
            <a:r>
              <a:rPr lang="en-GB" altLang="zh-CN" b="0" i="0" dirty="0" err="1">
                <a:solidFill>
                  <a:srgbClr val="212121"/>
                </a:solidFill>
                <a:effectLst/>
                <a:latin typeface="Menlo"/>
              </a:rPr>
              <a:t>kstest</a:t>
            </a:r>
            <a:r>
              <a:rPr lang="en-GB" altLang="zh-CN" b="0" i="0" dirty="0">
                <a:solidFill>
                  <a:srgbClr val="212121"/>
                </a:solidFill>
                <a:effectLst/>
                <a:latin typeface="Menlo"/>
              </a:rPr>
              <a:t>(score)</a:t>
            </a:r>
          </a:p>
          <a:p>
            <a:pPr algn="l">
              <a:buFont typeface="Arial" panose="020B0604020202020204" pitchFamily="34" charset="0"/>
              <a:buChar char="•"/>
            </a:pPr>
            <a:endParaRPr lang="zh-CN" altLang="en-US"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1669013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FE9FB-DF77-A220-84C6-FA6637CAC25A}"/>
              </a:ext>
            </a:extLst>
          </p:cNvPr>
          <p:cNvSpPr>
            <a:spLocks noGrp="1"/>
          </p:cNvSpPr>
          <p:nvPr>
            <p:ph type="title"/>
          </p:nvPr>
        </p:nvSpPr>
        <p:spPr/>
        <p:txBody>
          <a:bodyPr/>
          <a:lstStyle/>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B9EFE534-6CFE-5D3D-4E18-0BFA30B56003}"/>
              </a:ext>
            </a:extLst>
          </p:cNvPr>
          <p:cNvSpPr>
            <a:spLocks noGrp="1"/>
          </p:cNvSpPr>
          <p:nvPr>
            <p:ph idx="1"/>
          </p:nvPr>
        </p:nvSpPr>
        <p:spPr/>
        <p:txBody>
          <a:bodyPr>
            <a:normAutofit/>
          </a:bodyPr>
          <a:lstStyle/>
          <a:p>
            <a:r>
              <a:rPr lang="zh-CN" altLang="en-US" b="0" i="0" dirty="0">
                <a:solidFill>
                  <a:srgbClr val="060607"/>
                </a:solidFill>
                <a:effectLst/>
                <a:latin typeface="PingFang SC"/>
              </a:rPr>
              <a:t>也称为</a:t>
            </a:r>
            <a:r>
              <a:rPr lang="en-US" altLang="zh-CN" b="0" i="0" dirty="0">
                <a:solidFill>
                  <a:srgbClr val="060607"/>
                </a:solidFill>
                <a:effectLst/>
                <a:latin typeface="PingFang SC"/>
              </a:rPr>
              <a:t>Lilliefors</a:t>
            </a:r>
            <a:r>
              <a:rPr lang="zh-CN" altLang="en-US" b="0" i="0" dirty="0">
                <a:solidFill>
                  <a:srgbClr val="060607"/>
                </a:solidFill>
                <a:effectLst/>
                <a:latin typeface="PingFang SC"/>
              </a:rPr>
              <a:t>修正的</a:t>
            </a:r>
            <a:r>
              <a:rPr lang="en-US" altLang="zh-CN" b="0" i="0" dirty="0">
                <a:solidFill>
                  <a:srgbClr val="060607"/>
                </a:solidFill>
                <a:effectLst/>
                <a:latin typeface="PingFang SC"/>
              </a:rPr>
              <a:t>Kolmogorov-Smirnov</a:t>
            </a:r>
            <a:r>
              <a:rPr lang="zh-CN" altLang="en-US" b="0" i="0" dirty="0">
                <a:solidFill>
                  <a:srgbClr val="060607"/>
                </a:solidFill>
                <a:effectLst/>
                <a:latin typeface="PingFang SC"/>
              </a:rPr>
              <a:t>检验，是</a:t>
            </a:r>
            <a:r>
              <a:rPr lang="en-US" altLang="zh-CN" b="0" i="0" dirty="0">
                <a:solidFill>
                  <a:srgbClr val="060607"/>
                </a:solidFill>
                <a:effectLst/>
                <a:latin typeface="PingFang SC"/>
              </a:rPr>
              <a:t>Kolmogorov-Smirnov</a:t>
            </a:r>
            <a:r>
              <a:rPr lang="zh-CN" altLang="en-US" b="0" i="0" dirty="0">
                <a:solidFill>
                  <a:srgbClr val="060607"/>
                </a:solidFill>
                <a:effectLst/>
                <a:latin typeface="PingFang SC"/>
              </a:rPr>
              <a:t>检验的一个变体，专门用于检验样本数据是否服从正态分布。</a:t>
            </a:r>
            <a:endParaRPr lang="en-GB" altLang="zh-CN" b="0" i="0" dirty="0">
              <a:solidFill>
                <a:srgbClr val="060607"/>
              </a:solidFill>
              <a:effectLst/>
              <a:latin typeface="PingFang SC"/>
            </a:endParaRPr>
          </a:p>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检验的核心思想与</a:t>
            </a:r>
            <a:r>
              <a:rPr lang="en-US" altLang="zh-CN" b="0" i="0" dirty="0">
                <a:solidFill>
                  <a:srgbClr val="060607"/>
                </a:solidFill>
                <a:effectLst/>
                <a:latin typeface="PingFang SC"/>
              </a:rPr>
              <a:t>Kolmogorov-Smirnov</a:t>
            </a:r>
            <a:r>
              <a:rPr lang="zh-CN" altLang="en-US" b="0" i="0" dirty="0">
                <a:solidFill>
                  <a:srgbClr val="060607"/>
                </a:solidFill>
                <a:effectLst/>
                <a:latin typeface="PingFang SC"/>
              </a:rPr>
              <a:t>检验相似，即比较样本的经验分布函数（</a:t>
            </a:r>
            <a:r>
              <a:rPr lang="en-US" altLang="zh-CN" b="0" i="0" dirty="0">
                <a:solidFill>
                  <a:srgbClr val="060607"/>
                </a:solidFill>
                <a:effectLst/>
                <a:latin typeface="PingFang SC"/>
              </a:rPr>
              <a:t>ECDF</a:t>
            </a:r>
            <a:r>
              <a:rPr lang="zh-CN" altLang="en-US" b="0" i="0" dirty="0">
                <a:solidFill>
                  <a:srgbClr val="060607"/>
                </a:solidFill>
                <a:effectLst/>
                <a:latin typeface="PingFang SC"/>
              </a:rPr>
              <a:t>）与正态分布的理论累积分布函数（</a:t>
            </a:r>
            <a:r>
              <a:rPr lang="en-US" altLang="zh-CN" b="0" i="0" dirty="0">
                <a:solidFill>
                  <a:srgbClr val="060607"/>
                </a:solidFill>
                <a:effectLst/>
                <a:latin typeface="PingFang SC"/>
              </a:rPr>
              <a:t>CDF</a:t>
            </a:r>
            <a:r>
              <a:rPr lang="zh-CN" altLang="en-US" b="0" i="0" dirty="0">
                <a:solidFill>
                  <a:srgbClr val="060607"/>
                </a:solidFill>
                <a:effectLst/>
                <a:latin typeface="PingFang SC"/>
              </a:rPr>
              <a:t>）之间的差异。</a:t>
            </a:r>
            <a:endParaRPr lang="en-GB" altLang="zh-CN" b="0" i="0" dirty="0">
              <a:solidFill>
                <a:srgbClr val="060607"/>
              </a:solidFill>
              <a:effectLst/>
              <a:latin typeface="PingFang SC"/>
            </a:endParaRPr>
          </a:p>
          <a:p>
            <a:r>
              <a:rPr lang="zh-CN" altLang="en-US" b="0" i="0" dirty="0">
                <a:solidFill>
                  <a:srgbClr val="060607"/>
                </a:solidFill>
                <a:effectLst/>
                <a:latin typeface="PingFang SC"/>
              </a:rPr>
              <a:t>不过，</a:t>
            </a:r>
            <a:r>
              <a:rPr lang="en-US" altLang="zh-CN" b="0" i="0" dirty="0">
                <a:solidFill>
                  <a:srgbClr val="060607"/>
                </a:solidFill>
                <a:effectLst/>
                <a:latin typeface="PingFang SC"/>
              </a:rPr>
              <a:t>Lilliefors</a:t>
            </a:r>
            <a:r>
              <a:rPr lang="zh-CN" altLang="en-US" b="0" i="0" dirty="0">
                <a:solidFill>
                  <a:srgbClr val="060607"/>
                </a:solidFill>
                <a:effectLst/>
                <a:latin typeface="PingFang SC"/>
              </a:rPr>
              <a:t>检验对小样本数据进行了修正，以获得更准确的结果。</a:t>
            </a:r>
            <a:endParaRPr lang="en-GB" altLang="zh-CN" b="0" i="0" dirty="0">
              <a:solidFill>
                <a:srgbClr val="060607"/>
              </a:solidFill>
              <a:effectLst/>
              <a:latin typeface="PingFang SC"/>
            </a:endParaRPr>
          </a:p>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检验对小样本数据特别有用</a:t>
            </a:r>
            <a:endParaRPr lang="zh-CN" altLang="en-US" dirty="0"/>
          </a:p>
        </p:txBody>
      </p:sp>
    </p:spTree>
    <p:extLst>
      <p:ext uri="{BB962C8B-B14F-4D97-AF65-F5344CB8AC3E}">
        <p14:creationId xmlns:p14="http://schemas.microsoft.com/office/powerpoint/2010/main" val="1667324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453C78-AE3C-AECD-B34C-D6580F6096F7}"/>
              </a:ext>
            </a:extLst>
          </p:cNvPr>
          <p:cNvSpPr>
            <a:spLocks noGrp="1"/>
          </p:cNvSpPr>
          <p:nvPr>
            <p:ph type="title"/>
          </p:nvPr>
        </p:nvSpPr>
        <p:spPr/>
        <p:txBody>
          <a:bodyPr/>
          <a:lstStyle/>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CB51ADCF-8E96-9339-9FB0-8D57635418F0}"/>
              </a:ext>
            </a:extLst>
          </p:cNvPr>
          <p:cNvSpPr>
            <a:spLocks noGrp="1"/>
          </p:cNvSpPr>
          <p:nvPr>
            <p:ph idx="1"/>
          </p:nvPr>
        </p:nvSpPr>
        <p:spPr/>
        <p:txBody>
          <a:bodyPr/>
          <a:lstStyle/>
          <a:p>
            <a:r>
              <a:rPr lang="zh-CN" altLang="en-US" b="1" dirty="0"/>
              <a:t>计算方法：</a:t>
            </a:r>
            <a:endParaRPr lang="en-US" altLang="zh-CN" b="1" dirty="0"/>
          </a:p>
          <a:p>
            <a:r>
              <a:rPr lang="zh-CN" altLang="en-US" dirty="0"/>
              <a:t>将样本数据从小到大排序，并计算样本的经验分布函数（</a:t>
            </a:r>
            <a:r>
              <a:rPr lang="en-US" altLang="zh-CN" dirty="0"/>
              <a:t>ECDF</a:t>
            </a:r>
            <a:r>
              <a:rPr lang="zh-CN" altLang="en-US" dirty="0"/>
              <a:t>）</a:t>
            </a:r>
            <a:endParaRPr lang="en-US" altLang="zh-CN" dirty="0"/>
          </a:p>
          <a:p>
            <a:r>
              <a:rPr lang="zh-CN" altLang="en-US" dirty="0"/>
              <a:t>计算</a:t>
            </a:r>
            <a:r>
              <a:rPr lang="en-US" altLang="zh-CN" dirty="0"/>
              <a:t>ECDF</a:t>
            </a:r>
            <a:r>
              <a:rPr lang="zh-CN" altLang="en-US" dirty="0"/>
              <a:t>与正态分布</a:t>
            </a:r>
            <a:r>
              <a:rPr lang="en-US" altLang="zh-CN" dirty="0"/>
              <a:t>CDF</a:t>
            </a:r>
            <a:r>
              <a:rPr lang="zh-CN" altLang="en-US" dirty="0"/>
              <a:t>之间的最大绝对差异（</a:t>
            </a:r>
            <a:r>
              <a:rPr lang="en-US" altLang="zh-CN" dirty="0"/>
              <a:t>D</a:t>
            </a:r>
            <a:r>
              <a:rPr lang="zh-CN" altLang="en-US" dirty="0"/>
              <a:t>值）。对于小样本，</a:t>
            </a:r>
            <a:r>
              <a:rPr lang="en-US" altLang="zh-CN" dirty="0"/>
              <a:t>Lilliefors</a:t>
            </a:r>
            <a:r>
              <a:rPr lang="zh-CN" altLang="en-US" dirty="0"/>
              <a:t>检验</a:t>
            </a:r>
            <a:r>
              <a:rPr lang="zh-CN" altLang="en-US" b="1" dirty="0"/>
              <a:t>使用一个修正因子来调整这个最大差异</a:t>
            </a:r>
            <a:r>
              <a:rPr lang="zh-CN" altLang="en-US" dirty="0"/>
              <a:t>，以考虑小样本量可能带来的偏差。</a:t>
            </a:r>
            <a:endParaRPr lang="en-US" altLang="zh-CN" dirty="0"/>
          </a:p>
          <a:p>
            <a:r>
              <a:rPr lang="zh-CN" altLang="en-US" dirty="0"/>
              <a:t>根据样本大小和正态分布的参数，使用</a:t>
            </a:r>
            <a:r>
              <a:rPr lang="en-US" altLang="zh-CN" dirty="0"/>
              <a:t>Lilliefors</a:t>
            </a:r>
            <a:r>
              <a:rPr lang="zh-CN" altLang="en-US" dirty="0"/>
              <a:t>检验的临界值表来确定显著性水平。</a:t>
            </a:r>
          </a:p>
        </p:txBody>
      </p:sp>
    </p:spTree>
    <p:extLst>
      <p:ext uri="{BB962C8B-B14F-4D97-AF65-F5344CB8AC3E}">
        <p14:creationId xmlns:p14="http://schemas.microsoft.com/office/powerpoint/2010/main" val="731392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9225B8-FFE0-8729-8E6B-E9F13C10E930}"/>
              </a:ext>
            </a:extLst>
          </p:cNvPr>
          <p:cNvSpPr>
            <a:spLocks noGrp="1"/>
          </p:cNvSpPr>
          <p:nvPr>
            <p:ph type="title"/>
          </p:nvPr>
        </p:nvSpPr>
        <p:spPr/>
        <p:txBody>
          <a:bodyPr/>
          <a:lstStyle/>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a:t>
            </a:r>
            <a:endParaRPr lang="zh-CN" altLang="en-US" dirty="0"/>
          </a:p>
        </p:txBody>
      </p:sp>
      <p:sp>
        <p:nvSpPr>
          <p:cNvPr id="3" name="内容占位符 2">
            <a:extLst>
              <a:ext uri="{FF2B5EF4-FFF2-40B4-BE49-F238E27FC236}">
                <a16:creationId xmlns:a16="http://schemas.microsoft.com/office/drawing/2014/main" id="{948D34A8-B04B-070D-6B24-2235138D1545}"/>
              </a:ext>
            </a:extLst>
          </p:cNvPr>
          <p:cNvSpPr>
            <a:spLocks noGrp="1"/>
          </p:cNvSpPr>
          <p:nvPr>
            <p:ph idx="1"/>
          </p:nvPr>
        </p:nvSpPr>
        <p:spPr/>
        <p:txBody>
          <a:bodyPr>
            <a:normAutofit fontScale="92500" lnSpcReduction="10000"/>
          </a:bodyPr>
          <a:lstStyle/>
          <a:p>
            <a:r>
              <a:rPr lang="zh-CN" altLang="en-US" b="1" dirty="0"/>
              <a:t>作出决策</a:t>
            </a:r>
            <a:r>
              <a:rPr lang="zh-CN" altLang="en-US" dirty="0"/>
              <a:t>：</a:t>
            </a:r>
          </a:p>
          <a:p>
            <a:pPr lvl="1"/>
            <a:r>
              <a:rPr lang="zh-CN" altLang="en-US" dirty="0"/>
              <a:t>如果计算出的</a:t>
            </a:r>
            <a:r>
              <a:rPr lang="en-US" altLang="zh-CN" dirty="0"/>
              <a:t>D</a:t>
            </a:r>
            <a:r>
              <a:rPr lang="zh-CN" altLang="en-US" dirty="0"/>
              <a:t>值大于临界值，或者对应的</a:t>
            </a:r>
            <a:r>
              <a:rPr lang="en-US" altLang="zh-CN" dirty="0"/>
              <a:t>p</a:t>
            </a:r>
            <a:r>
              <a:rPr lang="zh-CN" altLang="en-US" dirty="0"/>
              <a:t>值小于显著性水平（如</a:t>
            </a:r>
            <a:r>
              <a:rPr lang="en-US" altLang="zh-CN" dirty="0"/>
              <a:t>0.05</a:t>
            </a:r>
            <a:r>
              <a:rPr lang="zh-CN" altLang="en-US" dirty="0"/>
              <a:t>），则拒绝原假设，认为样本数据不服从正态分布。</a:t>
            </a:r>
          </a:p>
          <a:p>
            <a:pPr lvl="1"/>
            <a:r>
              <a:rPr lang="zh-CN" altLang="en-US" dirty="0"/>
              <a:t>如果</a:t>
            </a:r>
            <a:r>
              <a:rPr lang="en-US" altLang="zh-CN" dirty="0"/>
              <a:t>D</a:t>
            </a:r>
            <a:r>
              <a:rPr lang="zh-CN" altLang="en-US" dirty="0"/>
              <a:t>值小于临界值，或者</a:t>
            </a:r>
            <a:r>
              <a:rPr lang="en-US" altLang="zh-CN" dirty="0"/>
              <a:t>p</a:t>
            </a:r>
            <a:r>
              <a:rPr lang="zh-CN" altLang="en-US" dirty="0"/>
              <a:t>值大于显著性水平，则不能拒绝原假设，认为没有足够的证据表明样本数据不服从正态分布。</a:t>
            </a:r>
            <a:endParaRPr lang="en-US" altLang="zh-CN" dirty="0"/>
          </a:p>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检验的修正因子考虑了小样本量可能带来的偏差，使得检验结果更加准确。</a:t>
            </a:r>
            <a:endParaRPr lang="en-US" altLang="zh-CN" b="0" i="0" dirty="0">
              <a:solidFill>
                <a:srgbClr val="060607"/>
              </a:solidFill>
              <a:effectLst/>
              <a:latin typeface="PingFang SC"/>
            </a:endParaRPr>
          </a:p>
          <a:p>
            <a:r>
              <a:rPr lang="en-US" altLang="zh-CN" b="0" i="0" dirty="0">
                <a:solidFill>
                  <a:srgbClr val="060607"/>
                </a:solidFill>
                <a:effectLst/>
                <a:latin typeface="PingFang SC"/>
              </a:rPr>
              <a:t>Lilliefors</a:t>
            </a:r>
            <a:r>
              <a:rPr lang="zh-CN" altLang="en-US" b="0" i="0" dirty="0">
                <a:solidFill>
                  <a:srgbClr val="060607"/>
                </a:solidFill>
                <a:effectLst/>
                <a:latin typeface="PingFang SC"/>
              </a:rPr>
              <a:t>检验特别适用于小样本数据（通常小于</a:t>
            </a:r>
            <a:r>
              <a:rPr lang="en-US" altLang="zh-CN" b="0" i="0" dirty="0">
                <a:solidFill>
                  <a:srgbClr val="060607"/>
                </a:solidFill>
                <a:effectLst/>
                <a:latin typeface="PingFang SC"/>
              </a:rPr>
              <a:t>50</a:t>
            </a:r>
            <a:r>
              <a:rPr lang="zh-CN" altLang="en-US" b="0" i="0" dirty="0">
                <a:solidFill>
                  <a:srgbClr val="060607"/>
                </a:solidFill>
                <a:effectLst/>
                <a:latin typeface="PingFang SC"/>
              </a:rPr>
              <a:t>个观测值）。对于较大的样本，标准的</a:t>
            </a:r>
            <a:r>
              <a:rPr lang="en-US" altLang="zh-CN" b="0" i="0" dirty="0">
                <a:solidFill>
                  <a:srgbClr val="060607"/>
                </a:solidFill>
                <a:effectLst/>
                <a:latin typeface="PingFang SC"/>
              </a:rPr>
              <a:t>Kolmogorov-Smirnov</a:t>
            </a:r>
            <a:r>
              <a:rPr lang="zh-CN" altLang="en-US" b="0" i="0" dirty="0">
                <a:solidFill>
                  <a:srgbClr val="060607"/>
                </a:solidFill>
                <a:effectLst/>
                <a:latin typeface="PingFang SC"/>
              </a:rPr>
              <a:t>检验可能更为合适。</a:t>
            </a:r>
            <a:endParaRPr lang="en-US" altLang="zh-CN" b="0" i="0" dirty="0">
              <a:solidFill>
                <a:srgbClr val="060607"/>
              </a:solidFill>
              <a:effectLst/>
              <a:latin typeface="PingFang SC"/>
            </a:endParaRPr>
          </a:p>
          <a:p>
            <a:r>
              <a:rPr lang="zh-CN" altLang="en-US" b="0" i="0" dirty="0">
                <a:solidFill>
                  <a:srgbClr val="060607"/>
                </a:solidFill>
                <a:effectLst/>
                <a:latin typeface="PingFang SC"/>
              </a:rPr>
              <a:t>在进行</a:t>
            </a:r>
            <a:r>
              <a:rPr lang="en-US" altLang="zh-CN" b="0" i="0" dirty="0">
                <a:solidFill>
                  <a:srgbClr val="060607"/>
                </a:solidFill>
                <a:effectLst/>
                <a:latin typeface="PingFang SC"/>
              </a:rPr>
              <a:t>Lilliefors</a:t>
            </a:r>
            <a:r>
              <a:rPr lang="zh-CN" altLang="en-US" b="0" i="0" dirty="0">
                <a:solidFill>
                  <a:srgbClr val="060607"/>
                </a:solidFill>
                <a:effectLst/>
                <a:latin typeface="PingFang SC"/>
              </a:rPr>
              <a:t>检验之前，必须确保样本数据已经按照数值大小进行了排序。</a:t>
            </a:r>
            <a:endParaRPr lang="en-GB" altLang="zh-CN" b="0" i="0" dirty="0">
              <a:solidFill>
                <a:srgbClr val="060607"/>
              </a:solidFill>
              <a:effectLst/>
              <a:latin typeface="PingFang SC"/>
            </a:endParaRPr>
          </a:p>
          <a:p>
            <a:r>
              <a:rPr lang="en-GB" altLang="zh-CN" b="0" i="0" dirty="0">
                <a:solidFill>
                  <a:srgbClr val="212121"/>
                </a:solidFill>
                <a:effectLst/>
                <a:latin typeface="Menlo"/>
              </a:rPr>
              <a:t>[</a:t>
            </a:r>
            <a:r>
              <a:rPr lang="en-GB" altLang="zh-CN" b="0" i="0" dirty="0" err="1">
                <a:solidFill>
                  <a:srgbClr val="212121"/>
                </a:solidFill>
                <a:effectLst/>
                <a:latin typeface="Menlo"/>
              </a:rPr>
              <a:t>h,p,kstat,critval</a:t>
            </a:r>
            <a:r>
              <a:rPr lang="en-GB" altLang="zh-CN" b="0" i="0" dirty="0">
                <a:solidFill>
                  <a:srgbClr val="212121"/>
                </a:solidFill>
                <a:effectLst/>
                <a:latin typeface="Menlo"/>
              </a:rPr>
              <a:t>] = </a:t>
            </a:r>
            <a:r>
              <a:rPr lang="en-GB" altLang="zh-CN" b="0" i="0" dirty="0" err="1">
                <a:solidFill>
                  <a:srgbClr val="212121"/>
                </a:solidFill>
                <a:effectLst/>
                <a:latin typeface="Menlo"/>
              </a:rPr>
              <a:t>lillietest</a:t>
            </a:r>
            <a:r>
              <a:rPr lang="en-GB" altLang="zh-CN" b="0" i="0" dirty="0">
                <a:solidFill>
                  <a:srgbClr val="212121"/>
                </a:solidFill>
                <a:effectLst/>
                <a:latin typeface="Menlo"/>
              </a:rPr>
              <a:t>(score)</a:t>
            </a:r>
          </a:p>
          <a:p>
            <a:endParaRPr lang="zh-CN" altLang="en-US" dirty="0"/>
          </a:p>
        </p:txBody>
      </p:sp>
    </p:spTree>
    <p:extLst>
      <p:ext uri="{BB962C8B-B14F-4D97-AF65-F5344CB8AC3E}">
        <p14:creationId xmlns:p14="http://schemas.microsoft.com/office/powerpoint/2010/main" val="20335784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1689</TotalTime>
  <Words>4417</Words>
  <Application>Microsoft Office PowerPoint</Application>
  <PresentationFormat>宽屏</PresentationFormat>
  <Paragraphs>306</Paragraphs>
  <Slides>49</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49</vt:i4>
      </vt:variant>
    </vt:vector>
  </HeadingPairs>
  <TitlesOfParts>
    <vt:vector size="59" baseType="lpstr">
      <vt:lpstr>-apple-system</vt:lpstr>
      <vt:lpstr>KaTeX_Main</vt:lpstr>
      <vt:lpstr>KaTeX_Math</vt:lpstr>
      <vt:lpstr>Menlo</vt:lpstr>
      <vt:lpstr>PingFang SC</vt:lpstr>
      <vt:lpstr>等线</vt:lpstr>
      <vt:lpstr>等线 Light</vt:lpstr>
      <vt:lpstr>Arial</vt:lpstr>
      <vt:lpstr>Cambria Math</vt:lpstr>
      <vt:lpstr>Office 主题​​</vt:lpstr>
      <vt:lpstr>第6章 参数估计与假设检验 </vt:lpstr>
      <vt:lpstr> 常见分布的参数估计</vt:lpstr>
      <vt:lpstr>极大似然估计与置信区间</vt:lpstr>
      <vt:lpstr>假设检验</vt:lpstr>
      <vt:lpstr>假设检验</vt:lpstr>
      <vt:lpstr>双侧检验、单侧检验</vt:lpstr>
      <vt:lpstr>主要区别：</vt:lpstr>
      <vt:lpstr>正态分布的参数估计</vt:lpstr>
      <vt:lpstr>U检验</vt:lpstr>
      <vt:lpstr>U检验</vt:lpstr>
      <vt:lpstr>总体标准差已知时的单个正态总体均值的 U 检验</vt:lpstr>
      <vt:lpstr>总体标准差已知时的单个正态总体均值的 U 检验</vt:lpstr>
      <vt:lpstr>t检验</vt:lpstr>
      <vt:lpstr>t检验</vt:lpstr>
      <vt:lpstr>t检验</vt:lpstr>
      <vt:lpstr>t检验</vt:lpstr>
      <vt:lpstr>U检验和t检验的区别</vt:lpstr>
      <vt:lpstr>χ^2检验</vt:lpstr>
      <vt:lpstr>χ^2检验</vt:lpstr>
      <vt:lpstr>F检验</vt:lpstr>
      <vt:lpstr>F检验</vt:lpstr>
      <vt:lpstr>χ^2检验和F检验的区别</vt:lpstr>
      <vt:lpstr>符号检验</vt:lpstr>
      <vt:lpstr>符号检验</vt:lpstr>
      <vt:lpstr>符号检验</vt:lpstr>
      <vt:lpstr>Wilcoxon符号检验</vt:lpstr>
      <vt:lpstr>Wilcoxon符号检验</vt:lpstr>
      <vt:lpstr>Wilcoxon符号检验</vt:lpstr>
      <vt:lpstr>Wilcoxon符号检验与符号检验的区别</vt:lpstr>
      <vt:lpstr>假设检验的两类错误</vt:lpstr>
      <vt:lpstr>假设检验的两类错误</vt:lpstr>
      <vt:lpstr>检验功效与样本容量</vt:lpstr>
      <vt:lpstr>假设检验的两类错误</vt:lpstr>
      <vt:lpstr>假设检验的两类错误</vt:lpstr>
      <vt:lpstr>避免错误的策略：</vt:lpstr>
      <vt:lpstr>Mann-Whitney检验</vt:lpstr>
      <vt:lpstr>Mann-Whitney检验</vt:lpstr>
      <vt:lpstr>Mann-Whitney检验</vt:lpstr>
      <vt:lpstr>分布拟合的检验</vt:lpstr>
      <vt:lpstr>卡方拟合优度检验</vt:lpstr>
      <vt:lpstr>卡方拟合优度检验</vt:lpstr>
      <vt:lpstr>Jarque-Bera检验</vt:lpstr>
      <vt:lpstr>Jarque-Bera检验</vt:lpstr>
      <vt:lpstr>Kolmogorov-Smirnov检验</vt:lpstr>
      <vt:lpstr>Kolmogorov-Smirnov检验</vt:lpstr>
      <vt:lpstr>Kolmogorov-Smirnov检验</vt:lpstr>
      <vt:lpstr>Lilliefors检验</vt:lpstr>
      <vt:lpstr>Lilliefors检验</vt:lpstr>
      <vt:lpstr>Lilliefors检验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参数估计与假设检验 </dc:title>
  <dc:creator>L Siu</dc:creator>
  <cp:lastModifiedBy>L Siu</cp:lastModifiedBy>
  <cp:revision>112</cp:revision>
  <dcterms:created xsi:type="dcterms:W3CDTF">2024-03-25T09:16:25Z</dcterms:created>
  <dcterms:modified xsi:type="dcterms:W3CDTF">2024-03-31T23:57:02Z</dcterms:modified>
</cp:coreProperties>
</file>